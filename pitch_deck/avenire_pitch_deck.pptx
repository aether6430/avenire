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62" r:id="rId4"/>
    <p:sldId id="276" r:id="rId5"/>
    <p:sldId id="258" r:id="rId6"/>
    <p:sldId id="259" r:id="rId7"/>
    <p:sldId id="260" r:id="rId8"/>
    <p:sldId id="261" r:id="rId9"/>
    <p:sldId id="263" r:id="rId10"/>
    <p:sldId id="277" r:id="rId11"/>
    <p:sldId id="264" r:id="rId12"/>
    <p:sldId id="265" r:id="rId13"/>
    <p:sldId id="266" r:id="rId14"/>
    <p:sldId id="267" r:id="rId15"/>
    <p:sldId id="268" r:id="rId16"/>
    <p:sldId id="274" r:id="rId17"/>
    <p:sldId id="270" r:id="rId18"/>
    <p:sldId id="271" r:id="rId19"/>
    <p:sldId id="272" r:id="rId20"/>
    <p:sldId id="273" r:id="rId21"/>
    <p:sldId id="275"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41414"/>
    <a:srgbClr val="ABC4FF"/>
    <a:srgbClr val="FF0000"/>
    <a:srgbClr val="78C4D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2" d="100"/>
          <a:sy n="92" d="100"/>
        </p:scale>
        <p:origin x="826" y="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447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 I'm Abhiram, and I'm building Avenire.</a:t>
            </a:r>
          </a:p>
          <a:p>
            <a:endParaRPr/>
          </a:p>
          <a:p>
            <a:r>
              <a:t>Avenire is an AI-native learning platform built around one simple idea: learning should remember.</a:t>
            </a:r>
          </a:p>
          <a:p>
            <a:endParaRPr/>
          </a:p>
          <a:p>
            <a:r>
              <a:t>Today, students have access to more information and AI tools than ever before, but the actual learning experience is still fragmented.</a:t>
            </a:r>
          </a:p>
          <a:p>
            <a:endParaRPr/>
          </a:p>
          <a:p>
            <a:r>
              <a:t>Now: a working product and 50+ on the waitlist. That is the hook this pitch is built to validate.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student might learn a topic from a lecture, look something up in a PDF, ask ChatGPT a question, make notes somewhere else, and later use a completely different app for flashcards.</a:t>
            </a:r>
          </a:p>
          <a:p>
            <a:endParaRPr/>
          </a:p>
          <a:p>
            <a:r>
              <a:t>Each of these tools solves one part of learning.</a:t>
            </a:r>
          </a:p>
          <a:p>
            <a:endParaRPr/>
          </a:p>
          <a:p>
            <a:r>
              <a:t>But none of them really knows what the student has learned, what they're struggling with, or what they should do next.</a:t>
            </a:r>
          </a:p>
          <a:p>
            <a:endParaRPr/>
          </a:p>
          <a:p>
            <a:r>
              <a:t>So every session starts with fragmented context.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timing matters.</a:t>
            </a:r>
          </a:p>
          <a:p>
            <a:endParaRPr/>
          </a:p>
          <a:p>
            <a:r>
              <a:t>AI has made getting an explanation dramatically easier. A student can ask almost anything and get an answer in seconds.</a:t>
            </a:r>
          </a:p>
          <a:p>
            <a:endParaRPr/>
          </a:p>
          <a:p>
            <a:r>
              <a:t>But getting an answer isn't the same thing as learning.</a:t>
            </a:r>
          </a:p>
          <a:p>
            <a:endParaRPr/>
          </a:p>
          <a:p>
            <a:r>
              <a:t>The opportunity now is to build the layer that comes after the answer — understanding, practice, retention and personalization.</a:t>
            </a:r>
          </a:p>
          <a:p>
            <a:endParaRPr/>
          </a:p>
          <a:p>
            <a:r>
              <a:t>That's the space we want Avenire to own.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otes Placeholder"/>
          <p:cNvSpPr>
            <a:spLocks noGrp="1"/>
          </p:cNvSpPr>
          <p:nvPr>
            <p:ph type="body" idx="3"/>
          </p:nvPr>
        </p:nvSpPr>
        <p:spPr/>
        <p:txBody>
          <a:bodyPr/>
          <a:lstStyle/>
          <a:p>
            <a:r>
              <a:t>Why Avenire wins the wedge:</a:t>
            </a:r>
          </a:p>
          <a:p>
            <a:endParaRPr/>
          </a:p>
          <a:p>
            <a:r>
              <a:t>ChatGPT answers but never models who you are as a learner. Notion AI stores your material but schedules no retrieval. Anki drills memory but cannot diagnose why an answer is wrong.</a:t>
            </a:r>
          </a:p>
          <a:p>
            <a:endParaRPr/>
          </a:p>
          <a:p>
            <a:r>
              <a:t>Avenire is the only one that gets smarter about you, not just the material — persistent learner model, spaced repetition and misconception diagnosis all in one loop.</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of the most common learning failures: I read this somewhere, but I forgot.</a:t>
            </a:r>
          </a:p>
          <a:p>
            <a:endParaRPr/>
          </a:p>
          <a:p>
            <a:r>
              <a:t>The student does not only lose the answer. They lose the source, the surrounding context and the path back to the idea.</a:t>
            </a:r>
          </a:p>
          <a:p>
            <a:endParaRPr/>
          </a:p>
          <a:p>
            <a:r>
              <a:t>A concrete example carries more than a generic flow: you highlighted a paragraph on backprop 3 weeks ago, and Avenire resurfaces it when you ask about vanishing gradients.</a:t>
            </a:r>
          </a:p>
          <a:p>
            <a:endParaRPr/>
          </a:p>
          <a:p>
            <a:r>
              <a:t>That reconnecting of context — across PDFs, videos, notes and chats — is what retrieval means here, backed by an evidence threshold so the system abstains when it cannot support an answer.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Avenire.</a:t>
            </a:r>
          </a:p>
          <a:p>
            <a:endParaRPr/>
          </a:p>
          <a:p>
            <a:r>
              <a:t>We call the experience Conversational Learning.</a:t>
            </a:r>
          </a:p>
          <a:p>
            <a:endParaRPr/>
          </a:p>
          <a:p>
            <a:r>
              <a:t>A student can ask a question, explore an explanation, interact with a visualization, create notes, generate practice material and eventually review that concept again.</a:t>
            </a:r>
          </a:p>
          <a:p>
            <a:endParaRPr/>
          </a:p>
          <a:p>
            <a:r>
              <a:t>We have also been working out three learning actions that make the experience compound: visualizations for abstract concepts, spaced repetition for bringing concepts back at the right time, and a misconception engine that is currently being built to diagnose why an answer is wrong rather than only marking it wrong.</a:t>
            </a:r>
          </a:p>
          <a:p>
            <a:endParaRPr/>
          </a:p>
          <a:p>
            <a:r>
              <a:t>These aren't separate workflows. They're connected parts of the same learning process.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fundamental difference between Avenire and a generic AI assistant.</a:t>
            </a:r>
          </a:p>
          <a:p>
            <a:endParaRPr/>
          </a:p>
          <a:p>
            <a:r>
              <a:t>With a normal chatbot, I ask a question, get an answer, and move on.</a:t>
            </a:r>
          </a:p>
          <a:p>
            <a:endParaRPr/>
          </a:p>
          <a:p>
            <a:r>
              <a:t>With Avenire, that interaction can become part of my learning system. A conversation can become knowledge. Knowledge can become practice. Practice can become memory.</a:t>
            </a:r>
          </a:p>
          <a:p>
            <a:endParaRPr/>
          </a:p>
          <a:p>
            <a:r>
              <a:t>The next layer is what makes the loop useful over time: spaced repetition brings the right concept back when it is likely to be forgotten, while the misconception engine we are building will diagnose patterns in wrong answers.</a:t>
            </a:r>
          </a:p>
          <a:p>
            <a:endParaRPr/>
          </a:p>
          <a:p>
            <a:r>
              <a:t>And visualizations make abstract ideas something the student can manipulate, not only read about.</a:t>
            </a:r>
          </a:p>
          <a:p>
            <a:endParaRPr/>
          </a:p>
          <a:p>
            <a:r>
              <a:t>That is one continuous learning loop — with review that compounds.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product experience is powered by a learning intelligence layer built underneath it.</a:t>
            </a:r>
          </a:p>
          <a:p>
            <a:endParaRPr/>
          </a:p>
          <a:p>
            <a:r>
              <a:t>Avenire takes PDFs, videos, images, web content and notes and turns them into searchable knowledge.</a:t>
            </a:r>
          </a:p>
          <a:p>
            <a:endParaRPr/>
          </a:p>
          <a:p>
            <a:r>
              <a:t>The retrieval work is multi-signal: semantic search for meaning, lexical and exact-match paths for names and formulas, fusion and reranking for evidence quality, and an abstention threshold when evidence is not sufficient.</a:t>
            </a:r>
          </a:p>
          <a:p>
            <a:endParaRPr/>
          </a:p>
          <a:p>
            <a:r>
              <a:t>Measured on our own eval slices: 82.5% MRR on paraphrase queries, 60%+ on cross-file retrieval. Full breakdown in Appendix B. These are useful engineering signals, not a claim that retrieval is solved.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initial customer is the student — particularly university students who already learn across many different digital resources.</a:t>
            </a:r>
          </a:p>
          <a:p>
            <a:endParaRPr/>
          </a:p>
          <a:p>
            <a:r>
              <a:t>We start with a direct-to-student product because it gives us a short feedback loop and lets us understand learning behavior directly.</a:t>
            </a:r>
          </a:p>
          <a:p>
            <a:endParaRPr/>
          </a:p>
          <a:p>
            <a:r>
              <a:t>Once the product is proven, we see an institutional opportunity as well: universities and colleges can use Avenire as a layer across their existing learning material.</a:t>
            </a:r>
          </a:p>
          <a:p>
            <a:endParaRPr/>
          </a:p>
          <a:p>
            <a:r>
              <a:t>We're intentionally starting narrow rather than trying to sell to every learner on day one.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otes Placeholder"/>
          <p:cNvSpPr>
            <a:spLocks noGrp="1"/>
          </p:cNvSpPr>
          <p:nvPr>
            <p:ph type="body" idx="3"/>
          </p:nvPr>
        </p:nvSpPr>
        <p:spPr/>
        <p:txBody>
          <a:bodyPr/>
          <a:lstStyle/>
          <a:p>
            <a:r>
              <a:t>Even rough numbers beat none.</a:t>
            </a:r>
          </a:p>
          <a:p>
            <a:endParaRPr/>
          </a:p>
          <a:p>
            <a:r>
              <a:t>India has ~40M college students. Assuming ~15% already use AI tools to study gives an SAM of roughly 6M reachable students; global self-directed learners form the TAM; the SOM is the students reachable today from BITS, Symbiosis and the waitlist in year one.</a:t>
            </a:r>
          </a:p>
          <a:p>
            <a:endParaRPr/>
          </a:p>
          <a:p>
            <a:r>
              <a:t>Every figure on this slide is deliberately illustrative. Tighten each one with primary research before a formal round.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current business model is straightforward: a free tier to reduce adoption friction, a ₹450 core plan, a ₹1,350 scholar plan, and an institutional tier coming next.</a:t>
            </a:r>
          </a:p>
          <a:p>
            <a:endParaRPr/>
          </a:p>
          <a:p>
            <a:r>
              <a:t>Unit economics are hypothetical at this stage: roughly ₹200 cost of goods, ~₹600 paid ARPU and ~₹400 blended revenue per active student per month. These are hypotheses to validate with the first paying cohort.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We're deliberately early.</a:t>
            </a:r>
          </a:p>
          <a:p>
            <a:endParaRPr/>
          </a:p>
          <a:p>
            <a:r>
              <a:t>We currently have a working product and a waitlist of around 50 people, but we don't have meaningful active usage or revenue yet.</a:t>
            </a:r>
          </a:p>
          <a:p>
            <a:endParaRPr/>
          </a:p>
          <a:p>
            <a:r>
              <a:t>So we don't want to present the waitlist as product-market fit.</a:t>
            </a:r>
          </a:p>
          <a:p>
            <a:endParaRPr/>
          </a:p>
          <a:p>
            <a:r>
              <a:t>This slide is intentionally a status path, not a performance chart: product working, waitlist 50+, active users pre-launch, and revenue pre-revenue.</a:t>
            </a:r>
          </a:p>
          <a:p>
            <a:endParaRPr/>
          </a:p>
          <a:p>
            <a:r>
              <a:t>Our next milestone is to get these first users into the product, measure retention, understand which workflows they actually use, and validate whether they'll pay for it.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roadmap follows the same progression.</a:t>
            </a:r>
          </a:p>
          <a:p>
            <a:endParaRPr/>
          </a:p>
          <a:p>
            <a:r>
              <a:t>First, we need to prove the core learning loop with individual students, including the misconception engine that is currently being built.</a:t>
            </a:r>
          </a:p>
          <a:p>
            <a:endParaRPr/>
          </a:p>
          <a:p>
            <a:r>
              <a:t>Then we deepen personalization: spaced repetition, mastery tracking, and understanding what a student knows, what they've forgotten and what they should work on next.</a:t>
            </a:r>
          </a:p>
          <a:p>
            <a:endParaRPr/>
          </a:p>
          <a:p>
            <a:r>
              <a:t>Finally, we take that system into institutions, where Avenire can sit across the learning material and workflows of an entire university.</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founder is inside the problem: a working product, built from the ground up, with a student perspective.</a:t>
            </a:r>
          </a:p>
          <a:p>
            <a:endParaRPr/>
          </a:p>
          <a:p>
            <a:r>
              <a:t>There is a co-founder studying at Symbiosis, Pune. Confirm her name and consent before presenting — add it here if she agrees, or dial the line back to keep this accurate.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we are approaching the incubator: the product foundation is built, and the next step is validating the business.</a:t>
            </a:r>
          </a:p>
          <a:p>
            <a:endParaRPr/>
          </a:p>
          <a:p>
            <a:r>
              <a:t>The bar reads 'What this unlocks' — it is the direct output of the four asks, not a parallel roadmap: 50 waitlist → 100 active learners → first paying users → institutional pilots. We want to use the BITS ecosystem itself as one of the earliest testing and distribution environments.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otes Placeholder"/>
          <p:cNvSpPr>
            <a:spLocks noGrp="1"/>
          </p:cNvSpPr>
          <p:nvPr>
            <p:ph type="body" idx="3"/>
          </p:nvPr>
        </p:nvSpPr>
        <p:spPr/>
        <p:txBody>
          <a:bodyPr/>
          <a:lstStyle/>
          <a:p>
            <a:r>
              <a:t>This is a screen-share moment, not a screenshot.</a:t>
            </a:r>
          </a:p>
          <a:p>
            <a:endParaRPr/>
          </a:p>
          <a:p>
            <a:r>
              <a:t>Open the real product — double pendulum, DNA double helix, interactive concept models — and let the student manipulate the model, not just look at a static image.</a:t>
            </a:r>
          </a:p>
          <a:p>
            <a:endParaRPr/>
          </a:p>
          <a:p>
            <a:r>
              <a:t>The slide is intentionally a note, so the deck never reads as a broken export.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Appendix: the technical architecture behind the learning intelligence layer.</a:t>
            </a:r>
          </a:p>
          <a:p>
            <a:endParaRPr/>
          </a:p>
          <a:p>
            <a:r>
              <a:t>The key idea is not a list of vendor technologies. It is the path from raw content to a learning action a student can use.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Appendix: retrieval evaluation across cross-file, multi-hop, formula/chart, timestamp, paraphrase and unanswerable slices.</a:t>
            </a:r>
          </a:p>
          <a:p>
            <a:endParaRPr/>
          </a:p>
          <a:p>
            <a:r>
              <a:t>These are engineering signals from small evaluation slices, not a claim that retrieval is solved or that the results generalize to every corpus.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Appendix: learning memory and the next layer of the product.</a:t>
            </a:r>
          </a:p>
          <a:p>
            <a:endParaRPr/>
          </a:p>
          <a:p>
            <a:r>
              <a:t>Avenire is not only storing what a student learned. We are building toward modeling what they are likely to remember, what they are likely to forget, and when a concept should return for review.</a:t>
            </a:r>
          </a:p>
          <a:p>
            <a:endParaRPr/>
          </a:p>
          <a:p>
            <a:r>
              <a:t>Spaced repetition is the mechanism for timing that review. The misconception engine is being built to identify patterns in wrong answers. And interactive visualizations help students form a mental model before the review loop begins.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Appendix: the full current pricing structure.</a:t>
            </a:r>
          </a:p>
          <a:p>
            <a:endParaRPr/>
          </a:p>
          <a:p>
            <a:r>
              <a:t>The important caveat is that these are pricing hypotheses, not proven unit economics. The next step is to put the plans in front of real users and learn which workflows create enough repeated value to pay for.</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otes Placeholder"/>
          <p:cNvSpPr>
            <a:spLocks noGrp="1"/>
          </p:cNvSpPr>
          <p:nvPr>
            <p:ph type="body" idx="3"/>
          </p:nvPr>
        </p:nvSpPr>
        <p:spPr/>
        <p:txBody>
          <a:bodyPr/>
          <a:lstStyle/>
          <a:p>
            <a:r>
              <a:t>This is a research direction we are actively thinking through for the misconception engine.</a:t>
            </a:r>
          </a:p>
          <a:p>
            <a:endParaRPr/>
          </a:p>
          <a:p>
            <a:r>
              <a:t>The current approach embeds a full misconception record, uses cosine similarity to find candidates, and then calls an LLM classifier to decide whether the learner is actually expressing that misconception. The risk is topic bleed: a normal question about Newton's third law can look similar to a record about a specific wrong belief.</a:t>
            </a:r>
          </a:p>
          <a:p>
            <a:endParaRPr/>
          </a:p>
          <a:p>
            <a:r>
              <a:t>The proposed direction stores two anchors: a topic embedding and a full misconception embedding. Their difference gives a misconception delta direction. We can project away the topic component, score alignment with the delta, and use the residual magnitude as a novelty signal.</a:t>
            </a:r>
          </a:p>
          <a:p>
            <a:endParaRPr/>
          </a:p>
          <a:p>
            <a:r>
              <a:t>Known matches can be handled online. Novel or ambiguous cases can be flagged for post-hoc review, where the system can create a new record without hallucinating an intervention in the middle of the tutoring turn.</a:t>
            </a:r>
          </a:p>
          <a:p>
            <a:endParaRPr/>
          </a:p>
          <a:p>
            <a:r>
              <a:t>This is proposal-stage research, with thresholds and stability requirements still to be validated.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3.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descr="avenire-logo-full.png"/>
          <p:cNvPicPr>
            <a:picLocks noChangeAspect="1"/>
          </p:cNvPicPr>
          <p:nvPr/>
        </p:nvPicPr>
        <p:blipFill>
          <a:blip r:embed="rId3"/>
          <a:stretch>
            <a:fillRect/>
          </a:stretch>
        </p:blipFill>
        <p:spPr>
          <a:xfrm>
            <a:off x="594360" y="3180721"/>
            <a:ext cx="530352" cy="530352"/>
          </a:xfrm>
          <a:prstGeom prst="rect">
            <a:avLst/>
          </a:prstGeom>
        </p:spPr>
      </p:pic>
      <p:sp>
        <p:nvSpPr>
          <p:cNvPr id="21" name="TextBox 20"/>
          <p:cNvSpPr txBox="1"/>
          <p:nvPr/>
        </p:nvSpPr>
        <p:spPr>
          <a:xfrm>
            <a:off x="1307592" y="3180721"/>
            <a:ext cx="2011680" cy="566928"/>
          </a:xfrm>
          <a:prstGeom prst="rect">
            <a:avLst/>
          </a:prstGeom>
          <a:noFill/>
        </p:spPr>
        <p:txBody>
          <a:bodyPr wrap="square" lIns="0" tIns="0" rIns="0" bIns="0" anchor="ctr">
            <a:spAutoFit/>
          </a:bodyPr>
          <a:lstStyle/>
          <a:p>
            <a:pPr algn="l">
              <a:spcBef>
                <a:spcPts val="0"/>
              </a:spcBef>
              <a:spcAft>
                <a:spcPts val="0"/>
              </a:spcAft>
            </a:pPr>
            <a:r>
              <a:rPr sz="3100" b="1" i="0" dirty="0" err="1">
                <a:solidFill>
                  <a:srgbClr val="F4F4F4"/>
                </a:solidFill>
                <a:latin typeface="Inter"/>
              </a:rPr>
              <a:t>Avenire</a:t>
            </a:r>
            <a:endParaRPr sz="3100" b="1" i="0" dirty="0">
              <a:solidFill>
                <a:srgbClr val="F4F4F4"/>
              </a:solidFill>
              <a:latin typeface="Inter"/>
            </a:endParaRPr>
          </a:p>
        </p:txBody>
      </p:sp>
      <p:sp>
        <p:nvSpPr>
          <p:cNvPr id="22" name="TextBox 21"/>
          <p:cNvSpPr txBox="1"/>
          <p:nvPr/>
        </p:nvSpPr>
        <p:spPr>
          <a:xfrm>
            <a:off x="594360" y="4129266"/>
            <a:ext cx="8046720" cy="603504"/>
          </a:xfrm>
          <a:prstGeom prst="rect">
            <a:avLst/>
          </a:prstGeom>
          <a:noFill/>
        </p:spPr>
        <p:txBody>
          <a:bodyPr wrap="square" lIns="0" tIns="0" rIns="0" bIns="0" anchor="t">
            <a:spAutoFit/>
          </a:bodyPr>
          <a:lstStyle/>
          <a:p>
            <a:pPr algn="l">
              <a:spcBef>
                <a:spcPts val="0"/>
              </a:spcBef>
              <a:spcAft>
                <a:spcPts val="0"/>
              </a:spcAft>
            </a:pPr>
            <a:r>
              <a:rPr sz="3200" b="1" i="0">
                <a:solidFill>
                  <a:srgbClr val="E4E4E4"/>
                </a:solidFill>
                <a:latin typeface="Inter"/>
              </a:rPr>
              <a:t>Learning that remembers.</a:t>
            </a:r>
          </a:p>
        </p:txBody>
      </p:sp>
      <p:sp>
        <p:nvSpPr>
          <p:cNvPr id="23" name="TextBox 22"/>
          <p:cNvSpPr txBox="1"/>
          <p:nvPr/>
        </p:nvSpPr>
        <p:spPr>
          <a:xfrm>
            <a:off x="594360" y="4872361"/>
            <a:ext cx="5852160" cy="365760"/>
          </a:xfrm>
          <a:prstGeom prst="rect">
            <a:avLst/>
          </a:prstGeom>
          <a:noFill/>
        </p:spPr>
        <p:txBody>
          <a:bodyPr wrap="square" lIns="0" tIns="0" rIns="0" bIns="0" anchor="t">
            <a:spAutoFit/>
          </a:bodyPr>
          <a:lstStyle/>
          <a:p>
            <a:pPr algn="l">
              <a:spcBef>
                <a:spcPts val="0"/>
              </a:spcBef>
              <a:spcAft>
                <a:spcPts val="0"/>
              </a:spcAft>
            </a:pPr>
            <a:r>
              <a:rPr sz="1600" b="0" i="0">
                <a:solidFill>
                  <a:srgbClr val="9C9C9C"/>
                </a:solidFill>
                <a:latin typeface="Inter"/>
              </a:rPr>
              <a:t>AI-native learning for students.</a:t>
            </a:r>
          </a:p>
        </p:txBody>
      </p:sp>
      <p:sp>
        <p:nvSpPr>
          <p:cNvPr id="24" name="TextBox 23"/>
          <p:cNvSpPr txBox="1"/>
          <p:nvPr/>
        </p:nvSpPr>
        <p:spPr>
          <a:xfrm>
            <a:off x="594360" y="6144768"/>
            <a:ext cx="5943600" cy="182880"/>
          </a:xfrm>
          <a:prstGeom prst="rect">
            <a:avLst/>
          </a:prstGeom>
          <a:noFill/>
        </p:spPr>
        <p:txBody>
          <a:bodyPr wrap="square" lIns="0" tIns="0" rIns="0" bIns="0" anchor="t">
            <a:spAutoFit/>
          </a:bodyPr>
          <a:lstStyle/>
          <a:p>
            <a:pPr algn="l">
              <a:spcBef>
                <a:spcPts val="0"/>
              </a:spcBef>
              <a:spcAft>
                <a:spcPts val="0"/>
              </a:spcAft>
            </a:pPr>
            <a:r>
              <a:rPr sz="1000" b="0" i="0">
                <a:solidFill>
                  <a:srgbClr val="6E6E6E"/>
                </a:solidFill>
                <a:latin typeface="Cascadia Mono"/>
              </a:rPr>
              <a:t>Abhiram — Founder | BITS Pilani, Hyderabad</a:t>
            </a:r>
          </a:p>
        </p:txBody>
      </p:sp>
      <p:sp>
        <p:nvSpPr>
          <p:cNvPr id="25" name="TextBox 24"/>
          <p:cNvSpPr txBox="1"/>
          <p:nvPr/>
        </p:nvSpPr>
        <p:spPr>
          <a:xfrm>
            <a:off x="594360" y="5440680"/>
            <a:ext cx="5852160" cy="320040"/>
          </a:xfrm>
          <a:prstGeom prst="rect">
            <a:avLst/>
          </a:prstGeom>
          <a:noFill/>
        </p:spPr>
        <p:txBody>
          <a:bodyPr wrap="square" lIns="0" tIns="0" rIns="0" bIns="0" anchor="t">
            <a:spAutoFit/>
          </a:bodyPr>
          <a:lstStyle/>
          <a:p>
            <a:pPr algn="l">
              <a:spcBef>
                <a:spcPts val="0"/>
              </a:spcBef>
              <a:spcAft>
                <a:spcPts val="0"/>
              </a:spcAft>
            </a:pPr>
            <a:r>
              <a:rPr sz="1600" b="1" i="0">
                <a:solidFill>
                  <a:srgbClr val="ABC4FF"/>
                </a:solidFill>
                <a:latin typeface="Inter"/>
              </a:rPr>
              <a:t>Working product  ·  50+ waitlist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venire-logo-full.png"/>
          <p:cNvPicPr>
            <a:picLocks noChangeAspect="1"/>
          </p:cNvPicPr>
          <p:nvPr/>
        </p:nvPicPr>
        <p:blipFill>
          <a:blip r:embed="rId3"/>
          <a:stretch>
            <a:fillRect/>
          </a:stretch>
        </p:blipFill>
        <p:spPr>
          <a:xfrm>
            <a:off x="594360" y="256032"/>
            <a:ext cx="210312" cy="210312"/>
          </a:xfrm>
          <a:prstGeom prst="rect">
            <a:avLst/>
          </a:prstGeom>
        </p:spPr>
      </p:pic>
      <p:sp>
        <p:nvSpPr>
          <p:cNvPr id="4" name="TextBox 3"/>
          <p:cNvSpPr txBox="1"/>
          <p:nvPr/>
        </p:nvSpPr>
        <p:spPr>
          <a:xfrm>
            <a:off x="877824" y="237744"/>
            <a:ext cx="822960" cy="237744"/>
          </a:xfrm>
          <a:prstGeom prst="rect">
            <a:avLst/>
          </a:prstGeom>
          <a:noFill/>
        </p:spPr>
        <p:txBody>
          <a:bodyPr wrap="square" lIns="0" tIns="0" rIns="0" bIns="0" anchor="ctr">
            <a:spAutoFit/>
          </a:bodyPr>
          <a:lstStyle/>
          <a:p>
            <a:pPr algn="l">
              <a:spcBef>
                <a:spcPts val="0"/>
              </a:spcBef>
              <a:spcAft>
                <a:spcPts val="0"/>
              </a:spcAft>
            </a:pPr>
            <a:r>
              <a:rPr sz="1100" b="1" i="0">
                <a:solidFill>
                  <a:srgbClr val="E4E4E4"/>
                </a:solidFill>
                <a:latin typeface="Inter"/>
              </a:rPr>
              <a:t>Avenire</a:t>
            </a:r>
          </a:p>
        </p:txBody>
      </p:sp>
      <p:sp>
        <p:nvSpPr>
          <p:cNvPr id="5" name="TextBox 4"/>
          <p:cNvSpPr txBox="1"/>
          <p:nvPr/>
        </p:nvSpPr>
        <p:spPr>
          <a:xfrm>
            <a:off x="11277295" y="265176"/>
            <a:ext cx="320040" cy="182880"/>
          </a:xfrm>
          <a:prstGeom prst="rect">
            <a:avLst/>
          </a:prstGeom>
          <a:noFill/>
        </p:spPr>
        <p:txBody>
          <a:bodyPr wrap="square" lIns="0" tIns="0" rIns="0" bIns="0" anchor="t">
            <a:spAutoFit/>
          </a:bodyPr>
          <a:lstStyle/>
          <a:p>
            <a:pPr algn="r">
              <a:spcBef>
                <a:spcPts val="0"/>
              </a:spcBef>
              <a:spcAft>
                <a:spcPts val="0"/>
              </a:spcAft>
            </a:pPr>
            <a:r>
              <a:rPr sz="900" b="0" i="0">
                <a:solidFill>
                  <a:srgbClr val="6E6E6E"/>
                </a:solidFill>
                <a:latin typeface="Cascadia Mono"/>
              </a:rPr>
              <a:t>02</a:t>
            </a:r>
          </a:p>
        </p:txBody>
      </p:sp>
      <p:sp>
        <p:nvSpPr>
          <p:cNvPr id="6" name="TextBox 5"/>
          <p:cNvSpPr txBox="1"/>
          <p:nvPr/>
        </p:nvSpPr>
        <p:spPr>
          <a:xfrm>
            <a:off x="594360" y="749808"/>
            <a:ext cx="5303520" cy="201168"/>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THE PROBLEM</a:t>
            </a:r>
          </a:p>
        </p:txBody>
      </p:sp>
      <p:sp>
        <p:nvSpPr>
          <p:cNvPr id="7" name="TextBox 6"/>
          <p:cNvSpPr txBox="1"/>
          <p:nvPr/>
        </p:nvSpPr>
        <p:spPr>
          <a:xfrm>
            <a:off x="594360" y="1005840"/>
            <a:ext cx="10789920" cy="640080"/>
          </a:xfrm>
          <a:prstGeom prst="rect">
            <a:avLst/>
          </a:prstGeom>
          <a:noFill/>
        </p:spPr>
        <p:txBody>
          <a:bodyPr wrap="square" lIns="0" tIns="0" rIns="0" bIns="0" anchor="t">
            <a:spAutoFit/>
          </a:bodyPr>
          <a:lstStyle/>
          <a:p>
            <a:pPr algn="l">
              <a:spcBef>
                <a:spcPts val="0"/>
              </a:spcBef>
              <a:spcAft>
                <a:spcPts val="0"/>
              </a:spcAft>
            </a:pPr>
            <a:r>
              <a:rPr sz="3000" b="1" i="0">
                <a:solidFill>
                  <a:srgbClr val="E4E4E4"/>
                </a:solidFill>
                <a:latin typeface="Inter"/>
              </a:rPr>
              <a:t>Learning is fragmented.</a:t>
            </a:r>
          </a:p>
        </p:txBody>
      </p:sp>
      <p:sp>
        <p:nvSpPr>
          <p:cNvPr id="8" name="TextBox 7"/>
          <p:cNvSpPr txBox="1"/>
          <p:nvPr/>
        </p:nvSpPr>
        <p:spPr>
          <a:xfrm>
            <a:off x="594360" y="1691640"/>
            <a:ext cx="9692640" cy="384048"/>
          </a:xfrm>
          <a:prstGeom prst="rect">
            <a:avLst/>
          </a:prstGeom>
          <a:noFill/>
        </p:spPr>
        <p:txBody>
          <a:bodyPr wrap="square" lIns="0" tIns="0" rIns="0" bIns="0" anchor="t">
            <a:spAutoFit/>
          </a:bodyPr>
          <a:lstStyle/>
          <a:p>
            <a:pPr algn="l">
              <a:spcBef>
                <a:spcPts val="0"/>
              </a:spcBef>
              <a:spcAft>
                <a:spcPts val="0"/>
              </a:spcAft>
            </a:pPr>
            <a:r>
              <a:rPr sz="1400" b="0" i="0">
                <a:solidFill>
                  <a:srgbClr val="9C9C9C"/>
                </a:solidFill>
                <a:latin typeface="Inter"/>
              </a:rPr>
              <a:t>Context is scattered across the tools students already use.</a:t>
            </a:r>
          </a:p>
        </p:txBody>
      </p:sp>
      <p:cxnSp>
        <p:nvCxnSpPr>
          <p:cNvPr id="9" name="Connector 8"/>
          <p:cNvCxnSpPr/>
          <p:nvPr/>
        </p:nvCxnSpPr>
        <p:spPr>
          <a:xfrm flipH="1" flipV="1">
            <a:off x="2514600" y="2586244"/>
            <a:ext cx="3474720" cy="731520"/>
          </a:xfrm>
          <a:prstGeom prst="line">
            <a:avLst/>
          </a:prstGeom>
          <a:ln w="17780">
            <a:solidFill>
              <a:srgbClr val="F0A873"/>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1965960" y="2357644"/>
            <a:ext cx="1463040" cy="502920"/>
          </a:xfrm>
          <a:prstGeom prst="rect">
            <a:avLst/>
          </a:prstGeom>
          <a:solidFill>
            <a:srgbClr val="1D1D1D"/>
          </a:solidFill>
          <a:ln w="12700">
            <a:solidFill>
              <a:srgbClr val="F0A8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112264" y="2478024"/>
            <a:ext cx="1243584" cy="219456"/>
          </a:xfrm>
          <a:prstGeom prst="rect">
            <a:avLst/>
          </a:prstGeom>
          <a:noFill/>
        </p:spPr>
        <p:txBody>
          <a:bodyPr wrap="square" lIns="0" tIns="0" rIns="0" bIns="0" anchor="ctr">
            <a:spAutoFit/>
          </a:bodyPr>
          <a:lstStyle/>
          <a:p>
            <a:pPr algn="ctr">
              <a:spcBef>
                <a:spcPts val="0"/>
              </a:spcBef>
              <a:spcAft>
                <a:spcPts val="0"/>
              </a:spcAft>
            </a:pPr>
            <a:r>
              <a:rPr sz="1200" b="1" i="0">
                <a:solidFill>
                  <a:srgbClr val="E4E4E4"/>
                </a:solidFill>
                <a:latin typeface="Inter"/>
              </a:rPr>
              <a:t>PDF</a:t>
            </a:r>
          </a:p>
        </p:txBody>
      </p:sp>
      <p:grpSp>
        <p:nvGrpSpPr>
          <p:cNvPr id="39" name="Group 38">
            <a:extLst>
              <a:ext uri="{FF2B5EF4-FFF2-40B4-BE49-F238E27FC236}">
                <a16:creationId xmlns:a16="http://schemas.microsoft.com/office/drawing/2014/main" id="{0AAE5348-BD50-E670-6B7A-3E26CF276676}"/>
              </a:ext>
            </a:extLst>
          </p:cNvPr>
          <p:cNvGrpSpPr/>
          <p:nvPr/>
        </p:nvGrpSpPr>
        <p:grpSpPr>
          <a:xfrm>
            <a:off x="2112264" y="2432304"/>
            <a:ext cx="256032" cy="310896"/>
            <a:chOff x="2075688" y="2467372"/>
            <a:chExt cx="256032" cy="310896"/>
          </a:xfrm>
        </p:grpSpPr>
        <p:sp>
          <p:nvSpPr>
            <p:cNvPr id="12" name="Rounded Rectangle 11"/>
            <p:cNvSpPr/>
            <p:nvPr/>
          </p:nvSpPr>
          <p:spPr>
            <a:xfrm>
              <a:off x="2075688" y="2467372"/>
              <a:ext cx="256032" cy="310896"/>
            </a:xfrm>
            <a:prstGeom prst="roundRect">
              <a:avLst/>
            </a:prstGeom>
            <a:solidFill>
              <a:srgbClr val="222222"/>
            </a:solidFill>
            <a:ln w="12700">
              <a:solidFill>
                <a:srgbClr val="F0A8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 name="Connector 12"/>
            <p:cNvCxnSpPr/>
            <p:nvPr/>
          </p:nvCxnSpPr>
          <p:spPr>
            <a:xfrm>
              <a:off x="2130552" y="2567956"/>
              <a:ext cx="146304" cy="0"/>
            </a:xfrm>
            <a:prstGeom prst="line">
              <a:avLst/>
            </a:prstGeom>
            <a:ln w="12700">
              <a:solidFill>
                <a:srgbClr val="F0A873"/>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130552" y="2631964"/>
              <a:ext cx="118872" cy="0"/>
            </a:xfrm>
            <a:prstGeom prst="line">
              <a:avLst/>
            </a:prstGeom>
            <a:ln w="12700">
              <a:solidFill>
                <a:srgbClr val="F0A873"/>
              </a:solidFill>
            </a:ln>
          </p:spPr>
          <p:style>
            <a:lnRef idx="2">
              <a:schemeClr val="accent1"/>
            </a:lnRef>
            <a:fillRef idx="0">
              <a:schemeClr val="accent1"/>
            </a:fillRef>
            <a:effectRef idx="1">
              <a:schemeClr val="accent1"/>
            </a:effectRef>
            <a:fontRef idx="minor">
              <a:schemeClr val="tx1"/>
            </a:fontRef>
          </p:style>
        </p:cxnSp>
      </p:grpSp>
      <p:cxnSp>
        <p:nvCxnSpPr>
          <p:cNvPr id="15" name="Connector 14"/>
          <p:cNvCxnSpPr/>
          <p:nvPr/>
        </p:nvCxnSpPr>
        <p:spPr>
          <a:xfrm flipV="1">
            <a:off x="5989320" y="1763284"/>
            <a:ext cx="45720" cy="1554480"/>
          </a:xfrm>
          <a:prstGeom prst="line">
            <a:avLst/>
          </a:prstGeom>
          <a:ln w="17780">
            <a:solidFill>
              <a:srgbClr val="FF0000"/>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5486400" y="1534684"/>
            <a:ext cx="1463040" cy="502920"/>
          </a:xfrm>
          <a:prstGeom prst="rect">
            <a:avLst/>
          </a:prstGeom>
          <a:solidFill>
            <a:srgbClr val="1D1D1D"/>
          </a:solid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Connector 19"/>
          <p:cNvCxnSpPr/>
          <p:nvPr/>
        </p:nvCxnSpPr>
        <p:spPr>
          <a:xfrm flipV="1">
            <a:off x="5989320" y="2586244"/>
            <a:ext cx="3886199" cy="731520"/>
          </a:xfrm>
          <a:prstGeom prst="line">
            <a:avLst/>
          </a:prstGeom>
          <a:ln w="17780">
            <a:solidFill>
              <a:srgbClr val="78C4D5"/>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9326880" y="2357644"/>
            <a:ext cx="1463040" cy="502920"/>
          </a:xfrm>
          <a:prstGeom prst="rect">
            <a:avLst/>
          </a:prstGeom>
          <a:solidFill>
            <a:srgbClr val="1D1D1D"/>
          </a:solidFill>
          <a:ln w="12700">
            <a:solidFill>
              <a:srgbClr val="78C4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cxnSp>
        <p:nvCxnSpPr>
          <p:cNvPr id="25" name="Connector 24"/>
          <p:cNvCxnSpPr/>
          <p:nvPr/>
        </p:nvCxnSpPr>
        <p:spPr>
          <a:xfrm flipH="1">
            <a:off x="2880360" y="3317764"/>
            <a:ext cx="3108960" cy="1325880"/>
          </a:xfrm>
          <a:prstGeom prst="line">
            <a:avLst/>
          </a:prstGeom>
          <a:ln w="17780">
            <a:solidFill>
              <a:srgbClr val="A99AD1"/>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2331720" y="4415044"/>
            <a:ext cx="1463040" cy="502920"/>
          </a:xfrm>
          <a:prstGeom prst="rect">
            <a:avLst/>
          </a:prstGeom>
          <a:solidFill>
            <a:srgbClr val="1D1D1D"/>
          </a:solidFill>
          <a:ln w="12700">
            <a:solidFill>
              <a:srgbClr val="A99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4" name="Group 23">
            <a:extLst>
              <a:ext uri="{FF2B5EF4-FFF2-40B4-BE49-F238E27FC236}">
                <a16:creationId xmlns:a16="http://schemas.microsoft.com/office/drawing/2014/main" id="{DCC61D1F-2B43-B525-9699-A1AACBF4A8B4}"/>
              </a:ext>
            </a:extLst>
          </p:cNvPr>
          <p:cNvGrpSpPr/>
          <p:nvPr/>
        </p:nvGrpSpPr>
        <p:grpSpPr>
          <a:xfrm>
            <a:off x="2514600" y="4532983"/>
            <a:ext cx="1243584" cy="256032"/>
            <a:chOff x="2441448" y="4488196"/>
            <a:chExt cx="1243584" cy="256032"/>
          </a:xfrm>
        </p:grpSpPr>
        <p:sp>
          <p:nvSpPr>
            <p:cNvPr id="27" name="TextBox 26"/>
            <p:cNvSpPr txBox="1"/>
            <p:nvPr/>
          </p:nvSpPr>
          <p:spPr>
            <a:xfrm>
              <a:off x="2441448" y="4506484"/>
              <a:ext cx="1243584" cy="219456"/>
            </a:xfrm>
            <a:prstGeom prst="rect">
              <a:avLst/>
            </a:prstGeom>
            <a:noFill/>
          </p:spPr>
          <p:txBody>
            <a:bodyPr wrap="square" lIns="0" tIns="0" rIns="0" bIns="0" anchor="ctr">
              <a:spAutoFit/>
            </a:bodyPr>
            <a:lstStyle/>
            <a:p>
              <a:pPr algn="ctr">
                <a:spcBef>
                  <a:spcPts val="0"/>
                </a:spcBef>
                <a:spcAft>
                  <a:spcPts val="0"/>
                </a:spcAft>
              </a:pPr>
              <a:r>
                <a:rPr sz="1200" b="1" i="0" dirty="0">
                  <a:solidFill>
                    <a:srgbClr val="E4E4E4"/>
                  </a:solidFill>
                  <a:latin typeface="Inter"/>
                </a:rPr>
                <a:t>Notes</a:t>
              </a:r>
            </a:p>
          </p:txBody>
        </p:sp>
        <p:sp>
          <p:nvSpPr>
            <p:cNvPr id="28" name="Oval 27"/>
            <p:cNvSpPr/>
            <p:nvPr/>
          </p:nvSpPr>
          <p:spPr>
            <a:xfrm>
              <a:off x="2532888" y="4488196"/>
              <a:ext cx="256032" cy="256032"/>
            </a:xfrm>
            <a:prstGeom prst="ellipse">
              <a:avLst/>
            </a:prstGeom>
            <a:solidFill>
              <a:srgbClr val="222222"/>
            </a:solidFill>
            <a:ln w="12700">
              <a:solidFill>
                <a:srgbClr val="A99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cxnSp>
        <p:nvCxnSpPr>
          <p:cNvPr id="29" name="Connector 28"/>
          <p:cNvCxnSpPr/>
          <p:nvPr/>
        </p:nvCxnSpPr>
        <p:spPr>
          <a:xfrm>
            <a:off x="5989320" y="3317764"/>
            <a:ext cx="3566160" cy="1325880"/>
          </a:xfrm>
          <a:prstGeom prst="line">
            <a:avLst/>
          </a:prstGeom>
          <a:ln w="17780">
            <a:solidFill>
              <a:srgbClr val="FFDC49"/>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9006840" y="4415044"/>
            <a:ext cx="1463040" cy="502920"/>
          </a:xfrm>
          <a:prstGeom prst="rect">
            <a:avLst/>
          </a:prstGeom>
          <a:solidFill>
            <a:srgbClr val="1D1D1D"/>
          </a:solidFill>
          <a:ln w="12700">
            <a:solidFill>
              <a:srgbClr val="FFDC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3" name="Group 22">
            <a:extLst>
              <a:ext uri="{FF2B5EF4-FFF2-40B4-BE49-F238E27FC236}">
                <a16:creationId xmlns:a16="http://schemas.microsoft.com/office/drawing/2014/main" id="{01A1DB2A-E92F-0C95-5B61-696BA2A2EE09}"/>
              </a:ext>
            </a:extLst>
          </p:cNvPr>
          <p:cNvGrpSpPr/>
          <p:nvPr/>
        </p:nvGrpSpPr>
        <p:grpSpPr>
          <a:xfrm>
            <a:off x="9166918" y="4532983"/>
            <a:ext cx="1293935" cy="256032"/>
            <a:chOff x="9116567" y="4524772"/>
            <a:chExt cx="1293935" cy="256032"/>
          </a:xfrm>
        </p:grpSpPr>
        <p:sp>
          <p:nvSpPr>
            <p:cNvPr id="31" name="TextBox 30"/>
            <p:cNvSpPr txBox="1"/>
            <p:nvPr/>
          </p:nvSpPr>
          <p:spPr>
            <a:xfrm>
              <a:off x="9166918" y="4543060"/>
              <a:ext cx="1243584" cy="219456"/>
            </a:xfrm>
            <a:prstGeom prst="rect">
              <a:avLst/>
            </a:prstGeom>
            <a:noFill/>
          </p:spPr>
          <p:txBody>
            <a:bodyPr wrap="square" lIns="0" tIns="0" rIns="0" bIns="0" anchor="ctr">
              <a:spAutoFit/>
            </a:bodyPr>
            <a:lstStyle/>
            <a:p>
              <a:pPr algn="ctr">
                <a:spcBef>
                  <a:spcPts val="0"/>
                </a:spcBef>
                <a:spcAft>
                  <a:spcPts val="0"/>
                </a:spcAft>
              </a:pPr>
              <a:r>
                <a:rPr sz="1200" b="1" i="0" dirty="0">
                  <a:solidFill>
                    <a:srgbClr val="E4E4E4"/>
                  </a:solidFill>
                  <a:latin typeface="Inter"/>
                </a:rPr>
                <a:t>Flashcards</a:t>
              </a:r>
            </a:p>
          </p:txBody>
        </p:sp>
        <p:sp>
          <p:nvSpPr>
            <p:cNvPr id="32" name="Oval 31"/>
            <p:cNvSpPr/>
            <p:nvPr/>
          </p:nvSpPr>
          <p:spPr>
            <a:xfrm>
              <a:off x="9116567" y="4524772"/>
              <a:ext cx="256032" cy="256032"/>
            </a:xfrm>
            <a:prstGeom prst="ellipse">
              <a:avLst/>
            </a:prstGeom>
            <a:solidFill>
              <a:srgbClr val="222222"/>
            </a:solidFill>
            <a:ln w="12700">
              <a:solidFill>
                <a:srgbClr val="FFDC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33" name="Oval 32"/>
          <p:cNvSpPr/>
          <p:nvPr/>
        </p:nvSpPr>
        <p:spPr>
          <a:xfrm>
            <a:off x="5572088" y="2837273"/>
            <a:ext cx="903473" cy="903473"/>
          </a:xfrm>
          <a:prstGeom prst="ellipse">
            <a:avLst/>
          </a:prstGeom>
          <a:solidFill>
            <a:srgbClr val="ABC4FF"/>
          </a:solidFill>
          <a:ln w="12700">
            <a:solidFill>
              <a:srgbClr val="ABC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a:solidFill>
                  <a:srgbClr val="141414"/>
                </a:solidFill>
              </a:rPr>
              <a:t>Student</a:t>
            </a:r>
            <a:endParaRPr sz="1000" dirty="0">
              <a:solidFill>
                <a:srgbClr val="141414"/>
              </a:solidFill>
            </a:endParaRPr>
          </a:p>
        </p:txBody>
      </p:sp>
      <p:sp>
        <p:nvSpPr>
          <p:cNvPr id="35" name="TextBox 34"/>
          <p:cNvSpPr txBox="1"/>
          <p:nvPr/>
        </p:nvSpPr>
        <p:spPr>
          <a:xfrm>
            <a:off x="594360" y="5786644"/>
            <a:ext cx="4754880" cy="310896"/>
          </a:xfrm>
          <a:prstGeom prst="rect">
            <a:avLst/>
          </a:prstGeom>
          <a:noFill/>
        </p:spPr>
        <p:txBody>
          <a:bodyPr wrap="square" lIns="0" tIns="0" rIns="0" bIns="0" anchor="t">
            <a:spAutoFit/>
          </a:bodyPr>
          <a:lstStyle/>
          <a:p>
            <a:pPr algn="l">
              <a:spcBef>
                <a:spcPts val="0"/>
              </a:spcBef>
              <a:spcAft>
                <a:spcPts val="0"/>
              </a:spcAft>
            </a:pPr>
            <a:r>
              <a:rPr sz="1900" b="1" i="0">
                <a:solidFill>
                  <a:srgbClr val="E4E4E4"/>
                </a:solidFill>
                <a:latin typeface="Inter"/>
              </a:rPr>
              <a:t>Every tool knows a piece.</a:t>
            </a:r>
          </a:p>
        </p:txBody>
      </p:sp>
      <p:sp>
        <p:nvSpPr>
          <p:cNvPr id="36" name="TextBox 35"/>
          <p:cNvSpPr txBox="1"/>
          <p:nvPr/>
        </p:nvSpPr>
        <p:spPr>
          <a:xfrm>
            <a:off x="6400800" y="5786644"/>
            <a:ext cx="5029200" cy="310896"/>
          </a:xfrm>
          <a:prstGeom prst="rect">
            <a:avLst/>
          </a:prstGeom>
          <a:noFill/>
        </p:spPr>
        <p:txBody>
          <a:bodyPr wrap="square" lIns="0" tIns="0" rIns="0" bIns="0" anchor="t">
            <a:spAutoFit/>
          </a:bodyPr>
          <a:lstStyle/>
          <a:p>
            <a:pPr algn="r">
              <a:spcBef>
                <a:spcPts val="0"/>
              </a:spcBef>
              <a:spcAft>
                <a:spcPts val="0"/>
              </a:spcAft>
            </a:pPr>
            <a:r>
              <a:rPr sz="1900" b="1" i="0">
                <a:solidFill>
                  <a:srgbClr val="ABC4FF"/>
                </a:solidFill>
                <a:latin typeface="Inter"/>
              </a:rPr>
              <a:t>None knows the learner.</a:t>
            </a:r>
          </a:p>
        </p:txBody>
      </p:sp>
      <p:cxnSp>
        <p:nvCxnSpPr>
          <p:cNvPr id="37" name="Connector 36"/>
          <p:cNvCxnSpPr/>
          <p:nvPr/>
        </p:nvCxnSpPr>
        <p:spPr>
          <a:xfrm>
            <a:off x="594360" y="6464808"/>
            <a:ext cx="11002975"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94360" y="6574536"/>
            <a:ext cx="3474720" cy="146304"/>
          </a:xfrm>
          <a:prstGeom prst="rect">
            <a:avLst/>
          </a:prstGeom>
          <a:noFill/>
        </p:spPr>
        <p:txBody>
          <a:bodyPr wrap="square" lIns="0" tIns="0" rIns="0" bIns="0" anchor="t">
            <a:spAutoFit/>
          </a:bodyPr>
          <a:lstStyle/>
          <a:p>
            <a:pPr algn="l">
              <a:spcBef>
                <a:spcPts val="0"/>
              </a:spcBef>
              <a:spcAft>
                <a:spcPts val="0"/>
              </a:spcAft>
            </a:pPr>
            <a:r>
              <a:rPr sz="850" b="0" i="0">
                <a:solidFill>
                  <a:srgbClr val="6E6E6E"/>
                </a:solidFill>
                <a:latin typeface="Cascadia Mono"/>
              </a:rPr>
              <a:t>Avenire / learning that remembers</a:t>
            </a:r>
          </a:p>
        </p:txBody>
      </p:sp>
      <p:grpSp>
        <p:nvGrpSpPr>
          <p:cNvPr id="19" name="Group 18">
            <a:extLst>
              <a:ext uri="{FF2B5EF4-FFF2-40B4-BE49-F238E27FC236}">
                <a16:creationId xmlns:a16="http://schemas.microsoft.com/office/drawing/2014/main" id="{5F8BE6A6-13E4-6C46-FCD8-77DC3A0F37B1}"/>
              </a:ext>
            </a:extLst>
          </p:cNvPr>
          <p:cNvGrpSpPr/>
          <p:nvPr/>
        </p:nvGrpSpPr>
        <p:grpSpPr>
          <a:xfrm>
            <a:off x="9567815" y="2493272"/>
            <a:ext cx="981169" cy="219456"/>
            <a:chOff x="9589295" y="2493272"/>
            <a:chExt cx="981169" cy="219456"/>
          </a:xfrm>
        </p:grpSpPr>
        <p:sp>
          <p:nvSpPr>
            <p:cNvPr id="22" name="TextBox 21"/>
            <p:cNvSpPr txBox="1"/>
            <p:nvPr/>
          </p:nvSpPr>
          <p:spPr>
            <a:xfrm>
              <a:off x="9674352" y="2493272"/>
              <a:ext cx="896112" cy="219456"/>
            </a:xfrm>
            <a:prstGeom prst="rect">
              <a:avLst/>
            </a:prstGeom>
            <a:noFill/>
          </p:spPr>
          <p:txBody>
            <a:bodyPr wrap="square" lIns="0" tIns="0" rIns="0" bIns="0" anchor="ctr">
              <a:spAutoFit/>
            </a:bodyPr>
            <a:lstStyle/>
            <a:p>
              <a:pPr algn="ctr">
                <a:spcBef>
                  <a:spcPts val="0"/>
                </a:spcBef>
                <a:spcAft>
                  <a:spcPts val="0"/>
                </a:spcAft>
              </a:pPr>
              <a:r>
                <a:rPr sz="1200" b="1" i="0" dirty="0">
                  <a:solidFill>
                    <a:srgbClr val="E4E4E4"/>
                  </a:solidFill>
                  <a:latin typeface="Inter"/>
                </a:rPr>
                <a:t>ChatGPT</a:t>
              </a:r>
            </a:p>
          </p:txBody>
        </p:sp>
        <p:pic>
          <p:nvPicPr>
            <p:cNvPr id="44" name="Graphic 43">
              <a:extLst>
                <a:ext uri="{FF2B5EF4-FFF2-40B4-BE49-F238E27FC236}">
                  <a16:creationId xmlns:a16="http://schemas.microsoft.com/office/drawing/2014/main" id="{76C46BA6-80D6-7BD3-459F-9DB9AA0E73B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89295" y="2493272"/>
              <a:ext cx="219456" cy="219456"/>
            </a:xfrm>
            <a:prstGeom prst="rect">
              <a:avLst/>
            </a:prstGeom>
          </p:spPr>
        </p:pic>
      </p:grpSp>
      <p:grpSp>
        <p:nvGrpSpPr>
          <p:cNvPr id="18" name="Group 17">
            <a:extLst>
              <a:ext uri="{FF2B5EF4-FFF2-40B4-BE49-F238E27FC236}">
                <a16:creationId xmlns:a16="http://schemas.microsoft.com/office/drawing/2014/main" id="{00CF359D-00EE-D6F1-7374-4C54FD71D7A5}"/>
              </a:ext>
            </a:extLst>
          </p:cNvPr>
          <p:cNvGrpSpPr/>
          <p:nvPr/>
        </p:nvGrpSpPr>
        <p:grpSpPr>
          <a:xfrm>
            <a:off x="5640611" y="1671844"/>
            <a:ext cx="1154617" cy="219456"/>
            <a:chOff x="5675951" y="1696186"/>
            <a:chExt cx="1154617" cy="219456"/>
          </a:xfrm>
        </p:grpSpPr>
        <p:sp>
          <p:nvSpPr>
            <p:cNvPr id="17" name="TextBox 16"/>
            <p:cNvSpPr txBox="1"/>
            <p:nvPr/>
          </p:nvSpPr>
          <p:spPr>
            <a:xfrm>
              <a:off x="5989320" y="1696186"/>
              <a:ext cx="841248" cy="219456"/>
            </a:xfrm>
            <a:prstGeom prst="rect">
              <a:avLst/>
            </a:prstGeom>
            <a:noFill/>
          </p:spPr>
          <p:txBody>
            <a:bodyPr wrap="square" lIns="0" tIns="0" rIns="0" bIns="0" anchor="ctr">
              <a:spAutoFit/>
            </a:bodyPr>
            <a:lstStyle/>
            <a:p>
              <a:pPr algn="ctr">
                <a:spcBef>
                  <a:spcPts val="0"/>
                </a:spcBef>
                <a:spcAft>
                  <a:spcPts val="0"/>
                </a:spcAft>
              </a:pPr>
              <a:r>
                <a:rPr sz="1200" b="1" i="0" dirty="0">
                  <a:solidFill>
                    <a:srgbClr val="E4E4E4"/>
                  </a:solidFill>
                  <a:latin typeface="Inter"/>
                </a:rPr>
                <a:t>YouTube</a:t>
              </a:r>
            </a:p>
          </p:txBody>
        </p:sp>
        <p:pic>
          <p:nvPicPr>
            <p:cNvPr id="47" name="Graphic 46">
              <a:extLst>
                <a:ext uri="{FF2B5EF4-FFF2-40B4-BE49-F238E27FC236}">
                  <a16:creationId xmlns:a16="http://schemas.microsoft.com/office/drawing/2014/main" id="{90F85760-EF1F-B061-1952-E627B89B492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75951" y="1705330"/>
              <a:ext cx="228600" cy="201168"/>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venire-logo-full.png"/>
          <p:cNvPicPr>
            <a:picLocks noChangeAspect="1"/>
          </p:cNvPicPr>
          <p:nvPr/>
        </p:nvPicPr>
        <p:blipFill>
          <a:blip r:embed="rId3"/>
          <a:stretch>
            <a:fillRect/>
          </a:stretch>
        </p:blipFill>
        <p:spPr>
          <a:xfrm>
            <a:off x="594360" y="256032"/>
            <a:ext cx="210312" cy="210312"/>
          </a:xfrm>
          <a:prstGeom prst="rect">
            <a:avLst/>
          </a:prstGeom>
        </p:spPr>
      </p:pic>
      <p:sp>
        <p:nvSpPr>
          <p:cNvPr id="4" name="TextBox 3"/>
          <p:cNvSpPr txBox="1"/>
          <p:nvPr/>
        </p:nvSpPr>
        <p:spPr>
          <a:xfrm>
            <a:off x="877824" y="237744"/>
            <a:ext cx="822960" cy="237744"/>
          </a:xfrm>
          <a:prstGeom prst="rect">
            <a:avLst/>
          </a:prstGeom>
          <a:noFill/>
        </p:spPr>
        <p:txBody>
          <a:bodyPr wrap="square" lIns="0" tIns="0" rIns="0" bIns="0" anchor="ctr">
            <a:spAutoFit/>
          </a:bodyPr>
          <a:lstStyle/>
          <a:p>
            <a:pPr algn="l">
              <a:spcBef>
                <a:spcPts val="0"/>
              </a:spcBef>
              <a:spcAft>
                <a:spcPts val="0"/>
              </a:spcAft>
            </a:pPr>
            <a:r>
              <a:rPr sz="1100" b="1" i="0">
                <a:solidFill>
                  <a:srgbClr val="E4E4E4"/>
                </a:solidFill>
                <a:latin typeface="Inter"/>
              </a:rPr>
              <a:t>Avenire</a:t>
            </a:r>
          </a:p>
        </p:txBody>
      </p:sp>
      <p:sp>
        <p:nvSpPr>
          <p:cNvPr id="5" name="TextBox 4"/>
          <p:cNvSpPr txBox="1"/>
          <p:nvPr/>
        </p:nvSpPr>
        <p:spPr>
          <a:xfrm>
            <a:off x="11277295" y="265176"/>
            <a:ext cx="320040" cy="182880"/>
          </a:xfrm>
          <a:prstGeom prst="rect">
            <a:avLst/>
          </a:prstGeom>
          <a:noFill/>
        </p:spPr>
        <p:txBody>
          <a:bodyPr wrap="square" lIns="0" tIns="0" rIns="0" bIns="0" anchor="t">
            <a:spAutoFit/>
          </a:bodyPr>
          <a:lstStyle/>
          <a:p>
            <a:pPr algn="r">
              <a:spcBef>
                <a:spcPts val="0"/>
              </a:spcBef>
              <a:spcAft>
                <a:spcPts val="0"/>
              </a:spcAft>
            </a:pPr>
            <a:r>
              <a:rPr sz="900" b="0" i="0">
                <a:solidFill>
                  <a:srgbClr val="6E6E6E"/>
                </a:solidFill>
                <a:latin typeface="Cascadia Mono"/>
              </a:rPr>
              <a:t>03</a:t>
            </a:r>
          </a:p>
        </p:txBody>
      </p:sp>
      <p:sp>
        <p:nvSpPr>
          <p:cNvPr id="6" name="TextBox 5"/>
          <p:cNvSpPr txBox="1"/>
          <p:nvPr/>
        </p:nvSpPr>
        <p:spPr>
          <a:xfrm>
            <a:off x="594360" y="749808"/>
            <a:ext cx="5303520" cy="201168"/>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WHY NOW</a:t>
            </a:r>
          </a:p>
        </p:txBody>
      </p:sp>
      <p:sp>
        <p:nvSpPr>
          <p:cNvPr id="7" name="TextBox 6"/>
          <p:cNvSpPr txBox="1"/>
          <p:nvPr/>
        </p:nvSpPr>
        <p:spPr>
          <a:xfrm>
            <a:off x="594360" y="1005840"/>
            <a:ext cx="10789920" cy="640080"/>
          </a:xfrm>
          <a:prstGeom prst="rect">
            <a:avLst/>
          </a:prstGeom>
          <a:noFill/>
        </p:spPr>
        <p:txBody>
          <a:bodyPr wrap="square" lIns="0" tIns="0" rIns="0" bIns="0" anchor="t">
            <a:spAutoFit/>
          </a:bodyPr>
          <a:lstStyle/>
          <a:p>
            <a:pPr algn="l">
              <a:spcBef>
                <a:spcPts val="0"/>
              </a:spcBef>
              <a:spcAft>
                <a:spcPts val="0"/>
              </a:spcAft>
            </a:pPr>
            <a:r>
              <a:rPr sz="3000" b="1" i="0">
                <a:solidFill>
                  <a:srgbClr val="E4E4E4"/>
                </a:solidFill>
                <a:latin typeface="Inter"/>
              </a:rPr>
              <a:t>AI has commoditized answers.</a:t>
            </a:r>
          </a:p>
        </p:txBody>
      </p:sp>
      <p:sp>
        <p:nvSpPr>
          <p:cNvPr id="8" name="TextBox 7"/>
          <p:cNvSpPr txBox="1"/>
          <p:nvPr/>
        </p:nvSpPr>
        <p:spPr>
          <a:xfrm>
            <a:off x="594360" y="1691640"/>
            <a:ext cx="9692640" cy="384048"/>
          </a:xfrm>
          <a:prstGeom prst="rect">
            <a:avLst/>
          </a:prstGeom>
          <a:noFill/>
        </p:spPr>
        <p:txBody>
          <a:bodyPr wrap="square" lIns="0" tIns="0" rIns="0" bIns="0" anchor="t">
            <a:spAutoFit/>
          </a:bodyPr>
          <a:lstStyle/>
          <a:p>
            <a:pPr algn="l">
              <a:spcBef>
                <a:spcPts val="0"/>
              </a:spcBef>
              <a:spcAft>
                <a:spcPts val="0"/>
              </a:spcAft>
            </a:pPr>
            <a:r>
              <a:rPr sz="1400" b="0" i="0">
                <a:solidFill>
                  <a:srgbClr val="9C9C9C"/>
                </a:solidFill>
                <a:latin typeface="Inter"/>
              </a:rPr>
              <a:t>The next problem is learning.</a:t>
            </a:r>
          </a:p>
        </p:txBody>
      </p:sp>
      <p:cxnSp>
        <p:nvCxnSpPr>
          <p:cNvPr id="9" name="Connector 8"/>
          <p:cNvCxnSpPr/>
          <p:nvPr/>
        </p:nvCxnSpPr>
        <p:spPr>
          <a:xfrm>
            <a:off x="6089904" y="1920240"/>
            <a:ext cx="0" cy="3063240"/>
          </a:xfrm>
          <a:prstGeom prst="line">
            <a:avLst/>
          </a:prstGeom>
          <a:ln w="12700">
            <a:solidFill>
              <a:srgbClr val="34343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97280" y="2176272"/>
            <a:ext cx="2377440" cy="201168"/>
          </a:xfrm>
          <a:prstGeom prst="rect">
            <a:avLst/>
          </a:prstGeom>
          <a:noFill/>
        </p:spPr>
        <p:txBody>
          <a:bodyPr wrap="square" lIns="0" tIns="0" rIns="0" bIns="0" anchor="t">
            <a:spAutoFit/>
          </a:bodyPr>
          <a:lstStyle/>
          <a:p>
            <a:pPr algn="l">
              <a:spcBef>
                <a:spcPts val="0"/>
              </a:spcBef>
              <a:spcAft>
                <a:spcPts val="0"/>
              </a:spcAft>
            </a:pPr>
            <a:r>
              <a:rPr sz="1000" b="1" i="0">
                <a:solidFill>
                  <a:srgbClr val="9C9C9C"/>
                </a:solidFill>
                <a:latin typeface="Cascadia Mono"/>
              </a:rPr>
              <a:t>BEFORE AI</a:t>
            </a:r>
          </a:p>
        </p:txBody>
      </p:sp>
      <p:sp>
        <p:nvSpPr>
          <p:cNvPr id="11" name="TextBox 10"/>
          <p:cNvSpPr txBox="1"/>
          <p:nvPr/>
        </p:nvSpPr>
        <p:spPr>
          <a:xfrm>
            <a:off x="6647688" y="2176272"/>
            <a:ext cx="2377440" cy="201168"/>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WITH AI</a:t>
            </a:r>
          </a:p>
        </p:txBody>
      </p:sp>
      <p:grpSp>
        <p:nvGrpSpPr>
          <p:cNvPr id="14" name="Group 13">
            <a:extLst>
              <a:ext uri="{FF2B5EF4-FFF2-40B4-BE49-F238E27FC236}">
                <a16:creationId xmlns:a16="http://schemas.microsoft.com/office/drawing/2014/main" id="{E28F461C-E298-1AEC-AAE7-ECE1C9076DC9}"/>
              </a:ext>
            </a:extLst>
          </p:cNvPr>
          <p:cNvGrpSpPr/>
          <p:nvPr/>
        </p:nvGrpSpPr>
        <p:grpSpPr>
          <a:xfrm>
            <a:off x="1097280" y="2743200"/>
            <a:ext cx="3931920" cy="274320"/>
            <a:chOff x="1097280" y="2743200"/>
            <a:chExt cx="3931920" cy="274320"/>
          </a:xfrm>
        </p:grpSpPr>
        <p:sp>
          <p:nvSpPr>
            <p:cNvPr id="12" name="Oval 11"/>
            <p:cNvSpPr/>
            <p:nvPr/>
          </p:nvSpPr>
          <p:spPr>
            <a:xfrm>
              <a:off x="1097280" y="2779776"/>
              <a:ext cx="201168" cy="201168"/>
            </a:xfrm>
            <a:prstGeom prst="ellipse">
              <a:avLst/>
            </a:prstGeom>
            <a:solidFill>
              <a:srgbClr val="F0A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463040" y="2743200"/>
              <a:ext cx="3566160" cy="274320"/>
            </a:xfrm>
            <a:prstGeom prst="rect">
              <a:avLst/>
            </a:prstGeom>
            <a:noFill/>
          </p:spPr>
          <p:txBody>
            <a:bodyPr wrap="square" lIns="0" tIns="0" rIns="0" bIns="0" anchor="t">
              <a:spAutoFit/>
            </a:bodyPr>
            <a:lstStyle/>
            <a:p>
              <a:pPr algn="l">
                <a:spcBef>
                  <a:spcPts val="0"/>
                </a:spcBef>
                <a:spcAft>
                  <a:spcPts val="0"/>
                </a:spcAft>
              </a:pPr>
              <a:r>
                <a:rPr sz="1700" b="1" i="0">
                  <a:solidFill>
                    <a:srgbClr val="E4E4E4"/>
                  </a:solidFill>
                  <a:latin typeface="Inter"/>
                </a:rPr>
                <a:t>Find information</a:t>
              </a:r>
            </a:p>
          </p:txBody>
        </p:sp>
      </p:grpSp>
      <p:sp>
        <p:nvSpPr>
          <p:cNvPr id="15" name="Down Arrow 14"/>
          <p:cNvSpPr/>
          <p:nvPr/>
        </p:nvSpPr>
        <p:spPr>
          <a:xfrm>
            <a:off x="1134988" y="3131820"/>
            <a:ext cx="128016" cy="155448"/>
          </a:xfrm>
          <a:prstGeom prst="downArrow">
            <a:avLst/>
          </a:prstGeom>
          <a:solidFill>
            <a:srgbClr val="F0A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8" name="Group 17">
            <a:extLst>
              <a:ext uri="{FF2B5EF4-FFF2-40B4-BE49-F238E27FC236}">
                <a16:creationId xmlns:a16="http://schemas.microsoft.com/office/drawing/2014/main" id="{402AED16-7858-901E-5E95-C134D54CAD4D}"/>
              </a:ext>
            </a:extLst>
          </p:cNvPr>
          <p:cNvGrpSpPr/>
          <p:nvPr/>
        </p:nvGrpSpPr>
        <p:grpSpPr>
          <a:xfrm>
            <a:off x="1097280" y="3401568"/>
            <a:ext cx="3931920" cy="274320"/>
            <a:chOff x="1097280" y="3401568"/>
            <a:chExt cx="3931920" cy="274320"/>
          </a:xfrm>
        </p:grpSpPr>
        <p:sp>
          <p:nvSpPr>
            <p:cNvPr id="16" name="Oval 15"/>
            <p:cNvSpPr/>
            <p:nvPr/>
          </p:nvSpPr>
          <p:spPr>
            <a:xfrm>
              <a:off x="1097280" y="3438144"/>
              <a:ext cx="201168" cy="201168"/>
            </a:xfrm>
            <a:prstGeom prst="ellipse">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463040" y="3401568"/>
              <a:ext cx="3566160" cy="274320"/>
            </a:xfrm>
            <a:prstGeom prst="rect">
              <a:avLst/>
            </a:prstGeom>
            <a:noFill/>
          </p:spPr>
          <p:txBody>
            <a:bodyPr wrap="square" lIns="0" tIns="0" rIns="0" bIns="0" anchor="t">
              <a:spAutoFit/>
            </a:bodyPr>
            <a:lstStyle/>
            <a:p>
              <a:pPr algn="l">
                <a:spcBef>
                  <a:spcPts val="0"/>
                </a:spcBef>
                <a:spcAft>
                  <a:spcPts val="0"/>
                </a:spcAft>
              </a:pPr>
              <a:r>
                <a:rPr sz="1700" b="1" i="0" dirty="0">
                  <a:solidFill>
                    <a:srgbClr val="E4E4E4"/>
                  </a:solidFill>
                  <a:latin typeface="Inter"/>
                </a:rPr>
                <a:t>Understand it</a:t>
              </a:r>
            </a:p>
          </p:txBody>
        </p:sp>
      </p:grpSp>
      <p:sp>
        <p:nvSpPr>
          <p:cNvPr id="19" name="Down Arrow 18"/>
          <p:cNvSpPr/>
          <p:nvPr/>
        </p:nvSpPr>
        <p:spPr>
          <a:xfrm>
            <a:off x="1134988" y="3790188"/>
            <a:ext cx="128016" cy="155448"/>
          </a:xfrm>
          <a:prstGeom prst="downArrow">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3" name="Group 22">
            <a:extLst>
              <a:ext uri="{FF2B5EF4-FFF2-40B4-BE49-F238E27FC236}">
                <a16:creationId xmlns:a16="http://schemas.microsoft.com/office/drawing/2014/main" id="{675071C1-A6D9-77A5-1AA5-6AE055402814}"/>
              </a:ext>
            </a:extLst>
          </p:cNvPr>
          <p:cNvGrpSpPr/>
          <p:nvPr/>
        </p:nvGrpSpPr>
        <p:grpSpPr>
          <a:xfrm>
            <a:off x="1097280" y="4059935"/>
            <a:ext cx="3931920" cy="274320"/>
            <a:chOff x="1097280" y="4059935"/>
            <a:chExt cx="3931920" cy="274320"/>
          </a:xfrm>
        </p:grpSpPr>
        <p:sp>
          <p:nvSpPr>
            <p:cNvPr id="20" name="Oval 19"/>
            <p:cNvSpPr/>
            <p:nvPr/>
          </p:nvSpPr>
          <p:spPr>
            <a:xfrm>
              <a:off x="1097280" y="4096511"/>
              <a:ext cx="201168" cy="201168"/>
            </a:xfrm>
            <a:prstGeom prst="ellipse">
              <a:avLst/>
            </a:prstGeom>
            <a:solidFill>
              <a:srgbClr val="A99A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463040" y="4059935"/>
              <a:ext cx="3566160" cy="274320"/>
            </a:xfrm>
            <a:prstGeom prst="rect">
              <a:avLst/>
            </a:prstGeom>
            <a:noFill/>
          </p:spPr>
          <p:txBody>
            <a:bodyPr wrap="square" lIns="0" tIns="0" rIns="0" bIns="0" anchor="t">
              <a:spAutoFit/>
            </a:bodyPr>
            <a:lstStyle/>
            <a:p>
              <a:pPr algn="l">
                <a:spcBef>
                  <a:spcPts val="0"/>
                </a:spcBef>
                <a:spcAft>
                  <a:spcPts val="0"/>
                </a:spcAft>
              </a:pPr>
              <a:r>
                <a:rPr sz="1700" b="1" i="0" dirty="0">
                  <a:solidFill>
                    <a:srgbClr val="E4E4E4"/>
                  </a:solidFill>
                  <a:latin typeface="Inter"/>
                </a:rPr>
                <a:t>Remember it</a:t>
              </a:r>
            </a:p>
          </p:txBody>
        </p:sp>
      </p:grpSp>
      <p:sp>
        <p:nvSpPr>
          <p:cNvPr id="22" name="TextBox 21"/>
          <p:cNvSpPr txBox="1"/>
          <p:nvPr/>
        </p:nvSpPr>
        <p:spPr>
          <a:xfrm>
            <a:off x="6647688" y="3258968"/>
            <a:ext cx="694943" cy="320040"/>
          </a:xfrm>
          <a:prstGeom prst="rect">
            <a:avLst/>
          </a:prstGeom>
          <a:noFill/>
        </p:spPr>
        <p:txBody>
          <a:bodyPr wrap="square" lIns="0" tIns="0" rIns="0" bIns="0" anchor="t">
            <a:spAutoFit/>
          </a:bodyPr>
          <a:lstStyle/>
          <a:p>
            <a:pPr algn="l">
              <a:spcBef>
                <a:spcPts val="0"/>
              </a:spcBef>
              <a:spcAft>
                <a:spcPts val="0"/>
              </a:spcAft>
            </a:pPr>
            <a:r>
              <a:rPr sz="2000" b="1" i="0" dirty="0">
                <a:solidFill>
                  <a:srgbClr val="E4E4E4"/>
                </a:solidFill>
                <a:latin typeface="Inter"/>
              </a:rPr>
              <a:t>Ask</a:t>
            </a:r>
          </a:p>
        </p:txBody>
      </p:sp>
      <p:sp>
        <p:nvSpPr>
          <p:cNvPr id="24" name="Down Arrow 23"/>
          <p:cNvSpPr/>
          <p:nvPr/>
        </p:nvSpPr>
        <p:spPr>
          <a:xfrm rot="16200000">
            <a:off x="8485779" y="2031849"/>
            <a:ext cx="121707" cy="2792046"/>
          </a:xfrm>
          <a:prstGeom prst="downArrow">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088575" y="3264638"/>
            <a:ext cx="3566160" cy="274320"/>
          </a:xfrm>
          <a:prstGeom prst="rect">
            <a:avLst/>
          </a:prstGeom>
          <a:noFill/>
        </p:spPr>
        <p:txBody>
          <a:bodyPr wrap="square" lIns="0" tIns="0" rIns="0" bIns="0" anchor="t">
            <a:spAutoFit/>
          </a:bodyPr>
          <a:lstStyle/>
          <a:p>
            <a:pPr algn="l">
              <a:spcBef>
                <a:spcPts val="0"/>
              </a:spcBef>
              <a:spcAft>
                <a:spcPts val="0"/>
              </a:spcAft>
            </a:pPr>
            <a:r>
              <a:rPr sz="2000" b="1" i="0" dirty="0">
                <a:solidFill>
                  <a:srgbClr val="ABC4FF"/>
                </a:solidFill>
                <a:latin typeface="Inter"/>
              </a:rPr>
              <a:t>Answer</a:t>
            </a:r>
          </a:p>
        </p:txBody>
      </p:sp>
      <p:sp>
        <p:nvSpPr>
          <p:cNvPr id="26" name="TextBox 25"/>
          <p:cNvSpPr txBox="1"/>
          <p:nvPr/>
        </p:nvSpPr>
        <p:spPr>
          <a:xfrm>
            <a:off x="594360" y="5650992"/>
            <a:ext cx="10881360" cy="384048"/>
          </a:xfrm>
          <a:prstGeom prst="rect">
            <a:avLst/>
          </a:prstGeom>
          <a:noFill/>
        </p:spPr>
        <p:txBody>
          <a:bodyPr wrap="square" lIns="0" tIns="0" rIns="0" bIns="0" anchor="t">
            <a:spAutoFit/>
          </a:bodyPr>
          <a:lstStyle/>
          <a:p>
            <a:pPr algn="ctr">
              <a:spcBef>
                <a:spcPts val="0"/>
              </a:spcBef>
              <a:spcAft>
                <a:spcPts val="0"/>
              </a:spcAft>
            </a:pPr>
            <a:r>
              <a:rPr sz="2000" b="1" i="0">
                <a:solidFill>
                  <a:srgbClr val="E4E4E4"/>
                </a:solidFill>
                <a:latin typeface="Inter"/>
              </a:rPr>
              <a:t>The missing layer is everything after the answer.</a:t>
            </a:r>
          </a:p>
        </p:txBody>
      </p:sp>
      <p:cxnSp>
        <p:nvCxnSpPr>
          <p:cNvPr id="27" name="Connector 26"/>
          <p:cNvCxnSpPr/>
          <p:nvPr/>
        </p:nvCxnSpPr>
        <p:spPr>
          <a:xfrm>
            <a:off x="594360" y="6464808"/>
            <a:ext cx="11002975"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94360" y="6574536"/>
            <a:ext cx="3474720" cy="146304"/>
          </a:xfrm>
          <a:prstGeom prst="rect">
            <a:avLst/>
          </a:prstGeom>
          <a:noFill/>
        </p:spPr>
        <p:txBody>
          <a:bodyPr wrap="square" lIns="0" tIns="0" rIns="0" bIns="0" anchor="t">
            <a:spAutoFit/>
          </a:bodyPr>
          <a:lstStyle/>
          <a:p>
            <a:pPr algn="l">
              <a:spcBef>
                <a:spcPts val="0"/>
              </a:spcBef>
              <a:spcAft>
                <a:spcPts val="0"/>
              </a:spcAft>
            </a:pPr>
            <a:r>
              <a:rPr sz="850" b="0" i="0">
                <a:solidFill>
                  <a:srgbClr val="6E6E6E"/>
                </a:solidFill>
                <a:latin typeface="Cascadia Mono"/>
              </a:rPr>
              <a:t>Avenire / learning that remembers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594360" y="256032"/>
            <a:ext cx="210312" cy="210312"/>
          </a:xfrm>
          <a:prstGeom prst="rect">
            <a:avLst/>
          </a:prstGeom>
        </p:spPr>
      </p:pic>
      <p:sp>
        <p:nvSpPr>
          <p:cNvPr id="4" name="TextBox 3"/>
          <p:cNvSpPr txBox="1"/>
          <p:nvPr/>
        </p:nvSpPr>
        <p:spPr>
          <a:xfrm>
            <a:off x="877824" y="237744"/>
            <a:ext cx="822960" cy="237744"/>
          </a:xfrm>
          <a:prstGeom prst="rect">
            <a:avLst/>
          </a:prstGeom>
          <a:noFill/>
        </p:spPr>
        <p:txBody>
          <a:bodyPr wrap="square" lIns="0" tIns="0" rIns="0" bIns="0" anchor="ctr">
            <a:spAutoFit/>
          </a:bodyPr>
          <a:lstStyle/>
          <a:p>
            <a:pPr algn="l">
              <a:spcBef>
                <a:spcPts val="0"/>
              </a:spcBef>
              <a:spcAft>
                <a:spcPts val="0"/>
              </a:spcAft>
            </a:pPr>
            <a:r>
              <a:rPr sz="1100" b="1" i="0">
                <a:solidFill>
                  <a:srgbClr val="E4E4E4"/>
                </a:solidFill>
                <a:latin typeface="Inter"/>
              </a:rPr>
              <a:t>Avenire</a:t>
            </a:r>
          </a:p>
        </p:txBody>
      </p:sp>
      <p:sp>
        <p:nvSpPr>
          <p:cNvPr id="5" name="TextBox 4"/>
          <p:cNvSpPr txBox="1"/>
          <p:nvPr/>
        </p:nvSpPr>
        <p:spPr>
          <a:xfrm>
            <a:off x="11277295" y="265176"/>
            <a:ext cx="320040" cy="182880"/>
          </a:xfrm>
          <a:prstGeom prst="rect">
            <a:avLst/>
          </a:prstGeom>
          <a:noFill/>
        </p:spPr>
        <p:txBody>
          <a:bodyPr wrap="square" lIns="0" tIns="0" rIns="0" bIns="0" anchor="t">
            <a:spAutoFit/>
          </a:bodyPr>
          <a:lstStyle/>
          <a:p>
            <a:pPr algn="r">
              <a:spcBef>
                <a:spcPts val="0"/>
              </a:spcBef>
              <a:spcAft>
                <a:spcPts val="0"/>
              </a:spcAft>
            </a:pPr>
            <a:r>
              <a:rPr sz="900" b="0" i="0">
                <a:solidFill>
                  <a:srgbClr val="6E6E6E"/>
                </a:solidFill>
                <a:latin typeface="Cascadia Mono"/>
              </a:rPr>
              <a:t>04</a:t>
            </a:r>
          </a:p>
        </p:txBody>
      </p:sp>
      <p:sp>
        <p:nvSpPr>
          <p:cNvPr id="6" name="TextBox 5"/>
          <p:cNvSpPr txBox="1"/>
          <p:nvPr/>
        </p:nvSpPr>
        <p:spPr>
          <a:xfrm>
            <a:off x="594360" y="749808"/>
            <a:ext cx="5303520" cy="201168"/>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COMPETITIVE LANDSCAPE</a:t>
            </a:r>
          </a:p>
        </p:txBody>
      </p:sp>
      <p:sp>
        <p:nvSpPr>
          <p:cNvPr id="7" name="TextBox 6"/>
          <p:cNvSpPr txBox="1"/>
          <p:nvPr/>
        </p:nvSpPr>
        <p:spPr>
          <a:xfrm>
            <a:off x="594360" y="1005840"/>
            <a:ext cx="10789920" cy="640080"/>
          </a:xfrm>
          <a:prstGeom prst="rect">
            <a:avLst/>
          </a:prstGeom>
          <a:noFill/>
        </p:spPr>
        <p:txBody>
          <a:bodyPr wrap="square" lIns="0" tIns="0" rIns="0" bIns="0" anchor="t">
            <a:spAutoFit/>
          </a:bodyPr>
          <a:lstStyle/>
          <a:p>
            <a:pPr algn="l">
              <a:spcBef>
                <a:spcPts val="0"/>
              </a:spcBef>
              <a:spcAft>
                <a:spcPts val="0"/>
              </a:spcAft>
            </a:pPr>
            <a:r>
              <a:rPr sz="3000" b="1" i="0">
                <a:solidFill>
                  <a:srgbClr val="E4E4E4"/>
                </a:solidFill>
                <a:latin typeface="Inter"/>
              </a:rPr>
              <a:t>Everyone has a tool. Nobody has the learner.</a:t>
            </a:r>
          </a:p>
        </p:txBody>
      </p:sp>
      <p:sp>
        <p:nvSpPr>
          <p:cNvPr id="8" name="TextBox 7"/>
          <p:cNvSpPr txBox="1"/>
          <p:nvPr/>
        </p:nvSpPr>
        <p:spPr>
          <a:xfrm>
            <a:off x="594360" y="1691640"/>
            <a:ext cx="9692640" cy="384048"/>
          </a:xfrm>
          <a:prstGeom prst="rect">
            <a:avLst/>
          </a:prstGeom>
          <a:noFill/>
        </p:spPr>
        <p:txBody>
          <a:bodyPr wrap="square" lIns="0" tIns="0" rIns="0" bIns="0" anchor="t">
            <a:spAutoFit/>
          </a:bodyPr>
          <a:lstStyle/>
          <a:p>
            <a:pPr algn="l">
              <a:spcBef>
                <a:spcPts val="0"/>
              </a:spcBef>
              <a:spcAft>
                <a:spcPts val="0"/>
              </a:spcAft>
            </a:pPr>
            <a:r>
              <a:rPr sz="1400" b="0" i="0">
                <a:solidFill>
                  <a:srgbClr val="9C9C9C"/>
                </a:solidFill>
                <a:latin typeface="Inter"/>
              </a:rPr>
              <a:t>Three tools students already use — each solves one slice, none models the student.</a:t>
            </a:r>
          </a:p>
        </p:txBody>
      </p:sp>
      <p:cxnSp>
        <p:nvCxnSpPr>
          <p:cNvPr id="29" name="Connector 28"/>
          <p:cNvCxnSpPr/>
          <p:nvPr/>
        </p:nvCxnSpPr>
        <p:spPr>
          <a:xfrm>
            <a:off x="594360" y="6464808"/>
            <a:ext cx="11002975"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94360" y="6574536"/>
            <a:ext cx="3474720" cy="146304"/>
          </a:xfrm>
          <a:prstGeom prst="rect">
            <a:avLst/>
          </a:prstGeom>
          <a:noFill/>
        </p:spPr>
        <p:txBody>
          <a:bodyPr wrap="square" lIns="0" tIns="0" rIns="0" bIns="0" anchor="t">
            <a:spAutoFit/>
          </a:bodyPr>
          <a:lstStyle/>
          <a:p>
            <a:pPr algn="l">
              <a:spcBef>
                <a:spcPts val="0"/>
              </a:spcBef>
              <a:spcAft>
                <a:spcPts val="0"/>
              </a:spcAft>
            </a:pPr>
            <a:r>
              <a:rPr sz="850" b="0" i="0">
                <a:solidFill>
                  <a:srgbClr val="6E6E6E"/>
                </a:solidFill>
                <a:latin typeface="Cascadia Mono"/>
              </a:rPr>
              <a:t>Avenire / learning that remembers</a:t>
            </a:r>
          </a:p>
        </p:txBody>
      </p:sp>
      <p:sp>
        <p:nvSpPr>
          <p:cNvPr id="31" name="Redesign rule"/>
          <p:cNvSpPr/>
          <p:nvPr/>
        </p:nvSpPr>
        <p:spPr>
          <a:xfrm>
            <a:off x="914400" y="2377440"/>
            <a:ext cx="3246120" cy="25400"/>
          </a:xfrm>
          <a:prstGeom prst="rect">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design text"/>
          <p:cNvSpPr txBox="1"/>
          <p:nvPr/>
        </p:nvSpPr>
        <p:spPr>
          <a:xfrm>
            <a:off x="914400" y="2615184"/>
            <a:ext cx="3246120" cy="310896"/>
          </a:xfrm>
          <a:prstGeom prst="rect">
            <a:avLst/>
          </a:prstGeom>
          <a:noFill/>
        </p:spPr>
        <p:txBody>
          <a:bodyPr wrap="none" lIns="0" rIns="0" tIns="0" bIns="0" anchor="t">
            <a:spAutoFit/>
          </a:bodyPr>
          <a:lstStyle/>
          <a:p>
            <a:pPr algn="l">
              <a:spcBef>
                <a:spcPts val="0"/>
              </a:spcBef>
              <a:spcAft>
                <a:spcPts val="0"/>
              </a:spcAft>
            </a:pPr>
            <a:r>
              <a:rPr sz="1800" b="1">
                <a:solidFill>
                  <a:srgbClr val="E4E4E4"/>
                </a:solidFill>
                <a:latin typeface="Inter"/>
              </a:rPr>
              <a:t>ChatGPT</a:t>
            </a:r>
          </a:p>
        </p:txBody>
      </p:sp>
      <p:sp>
        <p:nvSpPr>
          <p:cNvPr id="33" name="Redesign text"/>
          <p:cNvSpPr txBox="1"/>
          <p:nvPr/>
        </p:nvSpPr>
        <p:spPr>
          <a:xfrm>
            <a:off x="914400" y="3072384"/>
            <a:ext cx="3246120" cy="256032"/>
          </a:xfrm>
          <a:prstGeom prst="rect">
            <a:avLst/>
          </a:prstGeom>
          <a:noFill/>
        </p:spPr>
        <p:txBody>
          <a:bodyPr wrap="none" lIns="0" rIns="0" tIns="0" bIns="0" anchor="t">
            <a:spAutoFit/>
          </a:bodyPr>
          <a:lstStyle/>
          <a:p>
            <a:pPr algn="l">
              <a:spcBef>
                <a:spcPts val="0"/>
              </a:spcBef>
              <a:spcAft>
                <a:spcPts val="0"/>
              </a:spcAft>
            </a:pPr>
            <a:r>
              <a:rPr sz="1100" b="0">
                <a:solidFill>
                  <a:srgbClr val="9C9C9C"/>
                </a:solidFill>
                <a:latin typeface="Inter"/>
              </a:rPr>
              <a:t>Answers anything, instantly.</a:t>
            </a:r>
          </a:p>
        </p:txBody>
      </p:sp>
      <p:sp>
        <p:nvSpPr>
          <p:cNvPr id="34" name="Redesign rule"/>
          <p:cNvSpPr/>
          <p:nvPr/>
        </p:nvSpPr>
        <p:spPr>
          <a:xfrm>
            <a:off x="914400" y="3675887"/>
            <a:ext cx="3246120" cy="9525"/>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design text"/>
          <p:cNvSpPr txBox="1"/>
          <p:nvPr/>
        </p:nvSpPr>
        <p:spPr>
          <a:xfrm>
            <a:off x="914400" y="3931920"/>
            <a:ext cx="3246120" cy="164592"/>
          </a:xfrm>
          <a:prstGeom prst="rect">
            <a:avLst/>
          </a:prstGeom>
          <a:noFill/>
        </p:spPr>
        <p:txBody>
          <a:bodyPr wrap="none" lIns="0" rIns="0" tIns="0" bIns="0" anchor="t">
            <a:spAutoFit/>
          </a:bodyPr>
          <a:lstStyle/>
          <a:p>
            <a:pPr algn="l">
              <a:spcBef>
                <a:spcPts val="0"/>
              </a:spcBef>
              <a:spcAft>
                <a:spcPts val="0"/>
              </a:spcAft>
            </a:pPr>
            <a:r>
              <a:rPr sz="900" b="1">
                <a:solidFill>
                  <a:srgbClr val="FC6B83"/>
                </a:solidFill>
                <a:latin typeface="Cascadia Mono"/>
              </a:rPr>
              <a:t>Missing</a:t>
            </a:r>
          </a:p>
        </p:txBody>
      </p:sp>
      <p:sp>
        <p:nvSpPr>
          <p:cNvPr id="36" name="Redesign text"/>
          <p:cNvSpPr txBox="1"/>
          <p:nvPr/>
        </p:nvSpPr>
        <p:spPr>
          <a:xfrm>
            <a:off x="914400" y="4142232"/>
            <a:ext cx="3246120" cy="292608"/>
          </a:xfrm>
          <a:prstGeom prst="rect">
            <a:avLst/>
          </a:prstGeom>
          <a:noFill/>
        </p:spPr>
        <p:txBody>
          <a:bodyPr wrap="none" lIns="0" rIns="0" tIns="0" bIns="0" anchor="t">
            <a:spAutoFit/>
          </a:bodyPr>
          <a:lstStyle/>
          <a:p>
            <a:pPr algn="l">
              <a:spcBef>
                <a:spcPts val="0"/>
              </a:spcBef>
              <a:spcAft>
                <a:spcPts val="0"/>
              </a:spcAft>
            </a:pPr>
            <a:r>
              <a:rPr sz="1100" b="1">
                <a:solidFill>
                  <a:srgbClr val="E4E4E4"/>
                </a:solidFill>
                <a:latin typeface="Inter"/>
              </a:rPr>
              <a:t>No learner model</a:t>
            </a:r>
          </a:p>
        </p:txBody>
      </p:sp>
      <p:sp>
        <p:nvSpPr>
          <p:cNvPr id="37" name="Redesign rule"/>
          <p:cNvSpPr/>
          <p:nvPr/>
        </p:nvSpPr>
        <p:spPr>
          <a:xfrm>
            <a:off x="4526280" y="2377440"/>
            <a:ext cx="3246120" cy="25400"/>
          </a:xfrm>
          <a:prstGeom prst="rect">
            <a:avLst/>
          </a:prstGeom>
          <a:solidFill>
            <a:srgbClr val="A99A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design text"/>
          <p:cNvSpPr txBox="1"/>
          <p:nvPr/>
        </p:nvSpPr>
        <p:spPr>
          <a:xfrm>
            <a:off x="4526280" y="2615184"/>
            <a:ext cx="3246120" cy="310896"/>
          </a:xfrm>
          <a:prstGeom prst="rect">
            <a:avLst/>
          </a:prstGeom>
          <a:noFill/>
        </p:spPr>
        <p:txBody>
          <a:bodyPr wrap="none" lIns="0" rIns="0" tIns="0" bIns="0" anchor="t">
            <a:spAutoFit/>
          </a:bodyPr>
          <a:lstStyle/>
          <a:p>
            <a:pPr algn="l">
              <a:spcBef>
                <a:spcPts val="0"/>
              </a:spcBef>
              <a:spcAft>
                <a:spcPts val="0"/>
              </a:spcAft>
            </a:pPr>
            <a:r>
              <a:rPr sz="1800" b="1">
                <a:solidFill>
                  <a:srgbClr val="E4E4E4"/>
                </a:solidFill>
                <a:latin typeface="Inter"/>
              </a:rPr>
              <a:t>Notion AI</a:t>
            </a:r>
          </a:p>
        </p:txBody>
      </p:sp>
      <p:sp>
        <p:nvSpPr>
          <p:cNvPr id="39" name="Redesign text"/>
          <p:cNvSpPr txBox="1"/>
          <p:nvPr/>
        </p:nvSpPr>
        <p:spPr>
          <a:xfrm>
            <a:off x="4526280" y="3072384"/>
            <a:ext cx="3246120" cy="256032"/>
          </a:xfrm>
          <a:prstGeom prst="rect">
            <a:avLst/>
          </a:prstGeom>
          <a:noFill/>
        </p:spPr>
        <p:txBody>
          <a:bodyPr wrap="none" lIns="0" rIns="0" tIns="0" bIns="0" anchor="t">
            <a:spAutoFit/>
          </a:bodyPr>
          <a:lstStyle/>
          <a:p>
            <a:pPr algn="l">
              <a:spcBef>
                <a:spcPts val="0"/>
              </a:spcBef>
              <a:spcAft>
                <a:spcPts val="0"/>
              </a:spcAft>
            </a:pPr>
            <a:r>
              <a:rPr sz="1100" b="0">
                <a:solidFill>
                  <a:srgbClr val="9C9C9C"/>
                </a:solidFill>
                <a:latin typeface="Inter"/>
              </a:rPr>
              <a:t>Everything in one place.</a:t>
            </a:r>
          </a:p>
        </p:txBody>
      </p:sp>
      <p:sp>
        <p:nvSpPr>
          <p:cNvPr id="40" name="Redesign rule"/>
          <p:cNvSpPr/>
          <p:nvPr/>
        </p:nvSpPr>
        <p:spPr>
          <a:xfrm>
            <a:off x="4526280" y="3675887"/>
            <a:ext cx="3246120" cy="9525"/>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design text"/>
          <p:cNvSpPr txBox="1"/>
          <p:nvPr/>
        </p:nvSpPr>
        <p:spPr>
          <a:xfrm>
            <a:off x="4526280" y="3931920"/>
            <a:ext cx="3246120" cy="164592"/>
          </a:xfrm>
          <a:prstGeom prst="rect">
            <a:avLst/>
          </a:prstGeom>
          <a:noFill/>
        </p:spPr>
        <p:txBody>
          <a:bodyPr wrap="none" lIns="0" rIns="0" tIns="0" bIns="0" anchor="t">
            <a:spAutoFit/>
          </a:bodyPr>
          <a:lstStyle/>
          <a:p>
            <a:pPr algn="l">
              <a:spcBef>
                <a:spcPts val="0"/>
              </a:spcBef>
              <a:spcAft>
                <a:spcPts val="0"/>
              </a:spcAft>
            </a:pPr>
            <a:r>
              <a:rPr sz="900" b="1">
                <a:solidFill>
                  <a:srgbClr val="FC6B83"/>
                </a:solidFill>
                <a:latin typeface="Cascadia Mono"/>
              </a:rPr>
              <a:t>Missing</a:t>
            </a:r>
          </a:p>
        </p:txBody>
      </p:sp>
      <p:sp>
        <p:nvSpPr>
          <p:cNvPr id="42" name="Redesign text"/>
          <p:cNvSpPr txBox="1"/>
          <p:nvPr/>
        </p:nvSpPr>
        <p:spPr>
          <a:xfrm>
            <a:off x="4526280" y="4142232"/>
            <a:ext cx="3246120" cy="292608"/>
          </a:xfrm>
          <a:prstGeom prst="rect">
            <a:avLst/>
          </a:prstGeom>
          <a:noFill/>
        </p:spPr>
        <p:txBody>
          <a:bodyPr wrap="none" lIns="0" rIns="0" tIns="0" bIns="0" anchor="t">
            <a:spAutoFit/>
          </a:bodyPr>
          <a:lstStyle/>
          <a:p>
            <a:pPr algn="l">
              <a:spcBef>
                <a:spcPts val="0"/>
              </a:spcBef>
              <a:spcAft>
                <a:spcPts val="0"/>
              </a:spcAft>
            </a:pPr>
            <a:r>
              <a:rPr sz="1100" b="1">
                <a:solidFill>
                  <a:srgbClr val="E4E4E4"/>
                </a:solidFill>
                <a:latin typeface="Inter"/>
              </a:rPr>
              <a:t>No spaced repetition</a:t>
            </a:r>
          </a:p>
        </p:txBody>
      </p:sp>
      <p:sp>
        <p:nvSpPr>
          <p:cNvPr id="43" name="Redesign rule"/>
          <p:cNvSpPr/>
          <p:nvPr/>
        </p:nvSpPr>
        <p:spPr>
          <a:xfrm>
            <a:off x="8138160" y="2377440"/>
            <a:ext cx="3246120" cy="25400"/>
          </a:xfrm>
          <a:prstGeom prst="rect">
            <a:avLst/>
          </a:prstGeom>
          <a:solidFill>
            <a:srgbClr val="F0A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design text"/>
          <p:cNvSpPr txBox="1"/>
          <p:nvPr/>
        </p:nvSpPr>
        <p:spPr>
          <a:xfrm>
            <a:off x="8138160" y="2615184"/>
            <a:ext cx="3246120" cy="310896"/>
          </a:xfrm>
          <a:prstGeom prst="rect">
            <a:avLst/>
          </a:prstGeom>
          <a:noFill/>
        </p:spPr>
        <p:txBody>
          <a:bodyPr wrap="none" lIns="0" rIns="0" tIns="0" bIns="0" anchor="t">
            <a:spAutoFit/>
          </a:bodyPr>
          <a:lstStyle/>
          <a:p>
            <a:pPr algn="l">
              <a:spcBef>
                <a:spcPts val="0"/>
              </a:spcBef>
              <a:spcAft>
                <a:spcPts val="0"/>
              </a:spcAft>
            </a:pPr>
            <a:r>
              <a:rPr sz="1800" b="1">
                <a:solidFill>
                  <a:srgbClr val="E4E4E4"/>
                </a:solidFill>
                <a:latin typeface="Inter"/>
              </a:rPr>
              <a:t>Anki</a:t>
            </a:r>
          </a:p>
        </p:txBody>
      </p:sp>
      <p:sp>
        <p:nvSpPr>
          <p:cNvPr id="45" name="Redesign text"/>
          <p:cNvSpPr txBox="1"/>
          <p:nvPr/>
        </p:nvSpPr>
        <p:spPr>
          <a:xfrm>
            <a:off x="8138160" y="3072384"/>
            <a:ext cx="3246120" cy="256032"/>
          </a:xfrm>
          <a:prstGeom prst="rect">
            <a:avLst/>
          </a:prstGeom>
          <a:noFill/>
        </p:spPr>
        <p:txBody>
          <a:bodyPr wrap="none" lIns="0" rIns="0" tIns="0" bIns="0" anchor="t">
            <a:spAutoFit/>
          </a:bodyPr>
          <a:lstStyle/>
          <a:p>
            <a:pPr algn="l">
              <a:spcBef>
                <a:spcPts val="0"/>
              </a:spcBef>
              <a:spcAft>
                <a:spcPts val="0"/>
              </a:spcAft>
            </a:pPr>
            <a:r>
              <a:rPr sz="1100" b="0">
                <a:solidFill>
                  <a:srgbClr val="9C9C9C"/>
                </a:solidFill>
                <a:latin typeface="Inter"/>
              </a:rPr>
              <a:t>Flashcards built for memory.</a:t>
            </a:r>
          </a:p>
        </p:txBody>
      </p:sp>
      <p:sp>
        <p:nvSpPr>
          <p:cNvPr id="46" name="Redesign rule"/>
          <p:cNvSpPr/>
          <p:nvPr/>
        </p:nvSpPr>
        <p:spPr>
          <a:xfrm>
            <a:off x="8138160" y="3675887"/>
            <a:ext cx="3246120" cy="9525"/>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design text"/>
          <p:cNvSpPr txBox="1"/>
          <p:nvPr/>
        </p:nvSpPr>
        <p:spPr>
          <a:xfrm>
            <a:off x="8138160" y="3931920"/>
            <a:ext cx="3246120" cy="164592"/>
          </a:xfrm>
          <a:prstGeom prst="rect">
            <a:avLst/>
          </a:prstGeom>
          <a:noFill/>
        </p:spPr>
        <p:txBody>
          <a:bodyPr wrap="none" lIns="0" rIns="0" tIns="0" bIns="0" anchor="t">
            <a:spAutoFit/>
          </a:bodyPr>
          <a:lstStyle/>
          <a:p>
            <a:pPr algn="l">
              <a:spcBef>
                <a:spcPts val="0"/>
              </a:spcBef>
              <a:spcAft>
                <a:spcPts val="0"/>
              </a:spcAft>
            </a:pPr>
            <a:r>
              <a:rPr sz="900" b="1">
                <a:solidFill>
                  <a:srgbClr val="FC6B83"/>
                </a:solidFill>
                <a:latin typeface="Cascadia Mono"/>
              </a:rPr>
              <a:t>Missing</a:t>
            </a:r>
          </a:p>
        </p:txBody>
      </p:sp>
      <p:sp>
        <p:nvSpPr>
          <p:cNvPr id="48" name="Redesign text"/>
          <p:cNvSpPr txBox="1"/>
          <p:nvPr/>
        </p:nvSpPr>
        <p:spPr>
          <a:xfrm>
            <a:off x="8138160" y="4142232"/>
            <a:ext cx="3246120" cy="292608"/>
          </a:xfrm>
          <a:prstGeom prst="rect">
            <a:avLst/>
          </a:prstGeom>
          <a:noFill/>
        </p:spPr>
        <p:txBody>
          <a:bodyPr wrap="none" lIns="0" rIns="0" tIns="0" bIns="0" anchor="t">
            <a:spAutoFit/>
          </a:bodyPr>
          <a:lstStyle/>
          <a:p>
            <a:pPr algn="l">
              <a:spcBef>
                <a:spcPts val="0"/>
              </a:spcBef>
              <a:spcAft>
                <a:spcPts val="0"/>
              </a:spcAft>
            </a:pPr>
            <a:r>
              <a:rPr sz="1100" b="1">
                <a:solidFill>
                  <a:srgbClr val="E4E4E4"/>
                </a:solidFill>
                <a:latin typeface="Inter"/>
              </a:rPr>
              <a:t>No misconception diagnosis</a:t>
            </a:r>
          </a:p>
        </p:txBody>
      </p:sp>
      <p:sp>
        <p:nvSpPr>
          <p:cNvPr id="49" name="Redesign conclusion strip"/>
          <p:cNvSpPr/>
          <p:nvPr/>
        </p:nvSpPr>
        <p:spPr>
          <a:xfrm>
            <a:off x="777240" y="5413248"/>
            <a:ext cx="54864" cy="804672"/>
          </a:xfrm>
          <a:prstGeom prst="rect">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design text"/>
          <p:cNvSpPr txBox="1"/>
          <p:nvPr/>
        </p:nvSpPr>
        <p:spPr>
          <a:xfrm>
            <a:off x="1051560" y="5623560"/>
            <a:ext cx="10378440" cy="365760"/>
          </a:xfrm>
          <a:prstGeom prst="rect">
            <a:avLst/>
          </a:prstGeom>
          <a:noFill/>
        </p:spPr>
        <p:txBody>
          <a:bodyPr wrap="none" lIns="0" rIns="0" tIns="0" bIns="0" anchor="ctr">
            <a:spAutoFit/>
          </a:bodyPr>
          <a:lstStyle/>
          <a:p>
            <a:pPr algn="l">
              <a:spcBef>
                <a:spcPts val="0"/>
              </a:spcBef>
              <a:spcAft>
                <a:spcPts val="0"/>
              </a:spcAft>
            </a:pPr>
            <a:r>
              <a:rPr sz="1700" b="1">
                <a:solidFill>
                  <a:srgbClr val="E4E4E4"/>
                </a:solidFill>
                <a:latin typeface="Inter"/>
              </a:rPr>
              <a:t>Avenire is the only one that gets smarter about you — not just the material.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3"/>
          <a:stretch>
            <a:fillRect/>
          </a:stretch>
        </p:blipFill>
        <p:spPr>
          <a:xfrm>
            <a:off x="594360" y="256032"/>
            <a:ext cx="210312" cy="210312"/>
          </a:xfrm>
          <a:prstGeom prst="rect">
            <a:avLst/>
          </a:prstGeom>
        </p:spPr>
      </p:pic>
      <p:sp>
        <p:nvSpPr>
          <p:cNvPr id="4" name="TextBox 3"/>
          <p:cNvSpPr txBox="1"/>
          <p:nvPr/>
        </p:nvSpPr>
        <p:spPr>
          <a:xfrm>
            <a:off x="877824" y="237744"/>
            <a:ext cx="822960" cy="237744"/>
          </a:xfrm>
          <a:prstGeom prst="rect">
            <a:avLst/>
          </a:prstGeom>
          <a:noFill/>
        </p:spPr>
        <p:txBody>
          <a:bodyPr wrap="square" lIns="0" tIns="0" rIns="0" bIns="0" anchor="ctr">
            <a:spAutoFit/>
          </a:bodyPr>
          <a:lstStyle/>
          <a:p>
            <a:pPr algn="l">
              <a:spcBef>
                <a:spcPts val="0"/>
              </a:spcBef>
              <a:spcAft>
                <a:spcPts val="0"/>
              </a:spcAft>
            </a:pPr>
            <a:r>
              <a:rPr sz="1100" b="1" i="0">
                <a:solidFill>
                  <a:srgbClr val="E4E4E4"/>
                </a:solidFill>
                <a:latin typeface="Inter"/>
              </a:rPr>
              <a:t>Avenire</a:t>
            </a:r>
          </a:p>
        </p:txBody>
      </p:sp>
      <p:sp>
        <p:nvSpPr>
          <p:cNvPr id="5" name="TextBox 4"/>
          <p:cNvSpPr txBox="1"/>
          <p:nvPr/>
        </p:nvSpPr>
        <p:spPr>
          <a:xfrm>
            <a:off x="11277295" y="265176"/>
            <a:ext cx="320040" cy="182880"/>
          </a:xfrm>
          <a:prstGeom prst="rect">
            <a:avLst/>
          </a:prstGeom>
          <a:noFill/>
        </p:spPr>
        <p:txBody>
          <a:bodyPr wrap="square" lIns="0" tIns="0" rIns="0" bIns="0" anchor="t">
            <a:spAutoFit/>
          </a:bodyPr>
          <a:lstStyle/>
          <a:p>
            <a:pPr algn="r">
              <a:spcBef>
                <a:spcPts val="0"/>
              </a:spcBef>
              <a:spcAft>
                <a:spcPts val="0"/>
              </a:spcAft>
            </a:pPr>
            <a:r>
              <a:rPr sz="900" b="0" i="0">
                <a:solidFill>
                  <a:srgbClr val="6E6E6E"/>
                </a:solidFill>
                <a:latin typeface="Cascadia Mono"/>
              </a:rPr>
              <a:t>05</a:t>
            </a:r>
          </a:p>
        </p:txBody>
      </p:sp>
      <p:sp>
        <p:nvSpPr>
          <p:cNvPr id="6" name="TextBox 5"/>
          <p:cNvSpPr txBox="1"/>
          <p:nvPr/>
        </p:nvSpPr>
        <p:spPr>
          <a:xfrm>
            <a:off x="594360" y="749808"/>
            <a:ext cx="5303520" cy="201168"/>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THE MISSING PIECE</a:t>
            </a:r>
          </a:p>
        </p:txBody>
      </p:sp>
      <p:sp>
        <p:nvSpPr>
          <p:cNvPr id="7" name="TextBox 6"/>
          <p:cNvSpPr txBox="1"/>
          <p:nvPr/>
        </p:nvSpPr>
        <p:spPr>
          <a:xfrm>
            <a:off x="594360" y="1005840"/>
            <a:ext cx="10789920" cy="640080"/>
          </a:xfrm>
          <a:prstGeom prst="rect">
            <a:avLst/>
          </a:prstGeom>
          <a:noFill/>
        </p:spPr>
        <p:txBody>
          <a:bodyPr wrap="square" lIns="0" tIns="0" rIns="0" bIns="0" anchor="t">
            <a:spAutoFit/>
          </a:bodyPr>
          <a:lstStyle/>
          <a:p>
            <a:pPr algn="l">
              <a:spcBef>
                <a:spcPts val="0"/>
              </a:spcBef>
              <a:spcAft>
                <a:spcPts val="0"/>
              </a:spcAft>
            </a:pPr>
            <a:r>
              <a:rPr sz="3000" b="1" i="0">
                <a:solidFill>
                  <a:srgbClr val="E4E4E4"/>
                </a:solidFill>
                <a:latin typeface="Inter"/>
              </a:rPr>
              <a:t>I read this somewhere. But I forgot.</a:t>
            </a:r>
          </a:p>
        </p:txBody>
      </p:sp>
      <p:sp>
        <p:nvSpPr>
          <p:cNvPr id="8" name="TextBox 7"/>
          <p:cNvSpPr txBox="1"/>
          <p:nvPr/>
        </p:nvSpPr>
        <p:spPr>
          <a:xfrm>
            <a:off x="594360" y="1691640"/>
            <a:ext cx="9692640" cy="384048"/>
          </a:xfrm>
          <a:prstGeom prst="rect">
            <a:avLst/>
          </a:prstGeom>
          <a:noFill/>
        </p:spPr>
        <p:txBody>
          <a:bodyPr wrap="square" lIns="0" tIns="0" rIns="0" bIns="0" anchor="t">
            <a:spAutoFit/>
          </a:bodyPr>
          <a:lstStyle/>
          <a:p>
            <a:pPr algn="l">
              <a:spcBef>
                <a:spcPts val="0"/>
              </a:spcBef>
              <a:spcAft>
                <a:spcPts val="0"/>
              </a:spcAft>
            </a:pPr>
            <a:r>
              <a:rPr sz="1400" b="0" i="0">
                <a:solidFill>
                  <a:srgbClr val="9C9C9C"/>
                </a:solidFill>
                <a:latin typeface="Inter"/>
              </a:rPr>
              <a:t>Students remember the feeling of understanding — not where the idea lived or how it connected.</a:t>
            </a:r>
          </a:p>
        </p:txBody>
      </p:sp>
      <p:grpSp>
        <p:nvGrpSpPr>
          <p:cNvPr id="40" name="Group 39">
            <a:extLst>
              <a:ext uri="{FF2B5EF4-FFF2-40B4-BE49-F238E27FC236}">
                <a16:creationId xmlns:a16="http://schemas.microsoft.com/office/drawing/2014/main" id="{DA6FE5EF-276F-FC2D-699E-296B8D3F29B2}"/>
              </a:ext>
            </a:extLst>
          </p:cNvPr>
          <p:cNvGrpSpPr/>
          <p:nvPr/>
        </p:nvGrpSpPr>
        <p:grpSpPr>
          <a:xfrm>
            <a:off x="822960" y="2403364"/>
            <a:ext cx="4297680" cy="2514600"/>
            <a:chOff x="822960" y="2403364"/>
            <a:chExt cx="4297680" cy="2514600"/>
          </a:xfrm>
        </p:grpSpPr>
        <p:sp>
          <p:nvSpPr>
            <p:cNvPr id="9" name="TextBox 8"/>
            <p:cNvSpPr txBox="1"/>
            <p:nvPr/>
          </p:nvSpPr>
          <p:spPr>
            <a:xfrm>
              <a:off x="822960" y="2403364"/>
              <a:ext cx="4206240" cy="1325880"/>
            </a:xfrm>
            <a:prstGeom prst="rect">
              <a:avLst/>
            </a:prstGeom>
            <a:noFill/>
          </p:spPr>
          <p:txBody>
            <a:bodyPr wrap="square" lIns="0" tIns="0" rIns="0" bIns="0" anchor="t">
              <a:spAutoFit/>
            </a:bodyPr>
            <a:lstStyle/>
            <a:p>
              <a:pPr algn="l">
                <a:spcBef>
                  <a:spcPts val="0"/>
                </a:spcBef>
                <a:spcAft>
                  <a:spcPts val="0"/>
                </a:spcAft>
              </a:pPr>
              <a:r>
                <a:rPr sz="2800" b="1" i="0" dirty="0">
                  <a:solidFill>
                    <a:srgbClr val="E4E4E4"/>
                  </a:solidFill>
                  <a:latin typeface="Inter"/>
                </a:rPr>
                <a:t>The next search starts
without the context
that made the idea useful.</a:t>
              </a:r>
            </a:p>
          </p:txBody>
        </p:sp>
        <p:cxnSp>
          <p:nvCxnSpPr>
            <p:cNvPr id="10" name="Connector 9"/>
            <p:cNvCxnSpPr>
              <a:cxnSpLocks/>
            </p:cNvCxnSpPr>
            <p:nvPr/>
          </p:nvCxnSpPr>
          <p:spPr>
            <a:xfrm>
              <a:off x="822960" y="4140724"/>
              <a:ext cx="3703320" cy="0"/>
            </a:xfrm>
            <a:prstGeom prst="line">
              <a:avLst/>
            </a:prstGeom>
            <a:ln w="25400">
              <a:solidFill>
                <a:srgbClr val="F0A873"/>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22960" y="4369324"/>
              <a:ext cx="4297680" cy="548640"/>
            </a:xfrm>
            <a:prstGeom prst="rect">
              <a:avLst/>
            </a:prstGeom>
            <a:noFill/>
          </p:spPr>
          <p:txBody>
            <a:bodyPr wrap="square" lIns="0" tIns="0" rIns="0" bIns="0" anchor="t">
              <a:spAutoFit/>
            </a:bodyPr>
            <a:lstStyle/>
            <a:p>
              <a:pPr algn="l">
                <a:spcBef>
                  <a:spcPts val="0"/>
                </a:spcBef>
                <a:spcAft>
                  <a:spcPts val="0"/>
                </a:spcAft>
              </a:pPr>
              <a:r>
                <a:rPr sz="1500" b="0" i="0" dirty="0" err="1">
                  <a:solidFill>
                    <a:srgbClr val="9C9C9C"/>
                  </a:solidFill>
                  <a:latin typeface="Inter"/>
                </a:rPr>
                <a:t>Avenire</a:t>
              </a:r>
              <a:r>
                <a:rPr sz="1500" b="0" i="0" dirty="0">
                  <a:solidFill>
                    <a:srgbClr val="9C9C9C"/>
                  </a:solidFill>
                  <a:latin typeface="Inter"/>
                </a:rPr>
                <a:t> turns scattered learning material into
searchable, connected evidence.</a:t>
              </a:r>
            </a:p>
          </p:txBody>
        </p:sp>
      </p:grpSp>
      <p:cxnSp>
        <p:nvCxnSpPr>
          <p:cNvPr id="33" name="Connector 32"/>
          <p:cNvCxnSpPr/>
          <p:nvPr/>
        </p:nvCxnSpPr>
        <p:spPr>
          <a:xfrm>
            <a:off x="594360" y="6464808"/>
            <a:ext cx="11002975"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94360" y="6574536"/>
            <a:ext cx="3474720" cy="146304"/>
          </a:xfrm>
          <a:prstGeom prst="rect">
            <a:avLst/>
          </a:prstGeom>
          <a:noFill/>
        </p:spPr>
        <p:txBody>
          <a:bodyPr wrap="square" lIns="0" tIns="0" rIns="0" bIns="0" anchor="t">
            <a:spAutoFit/>
          </a:bodyPr>
          <a:lstStyle/>
          <a:p>
            <a:pPr algn="l">
              <a:spcBef>
                <a:spcPts val="0"/>
              </a:spcBef>
              <a:spcAft>
                <a:spcPts val="0"/>
              </a:spcAft>
            </a:pPr>
            <a:r>
              <a:rPr sz="850" b="0" i="0">
                <a:solidFill>
                  <a:srgbClr val="6E6E6E"/>
                </a:solidFill>
                <a:latin typeface="Cascadia Mono"/>
              </a:rPr>
              <a:t>Avenire / learning that remembers</a:t>
            </a:r>
          </a:p>
        </p:txBody>
      </p:sp>
      <p:grpSp>
        <p:nvGrpSpPr>
          <p:cNvPr id="2" name="Group 1">
            <a:extLst>
              <a:ext uri="{FF2B5EF4-FFF2-40B4-BE49-F238E27FC236}">
                <a16:creationId xmlns:a16="http://schemas.microsoft.com/office/drawing/2014/main" id="{7C7F8586-921B-C3CB-A908-DDBEB9C3AA4C}"/>
              </a:ext>
            </a:extLst>
          </p:cNvPr>
          <p:cNvGrpSpPr/>
          <p:nvPr/>
        </p:nvGrpSpPr>
        <p:grpSpPr>
          <a:xfrm>
            <a:off x="6016867" y="2403364"/>
            <a:ext cx="5605272" cy="3063240"/>
            <a:chOff x="5276088" y="2403364"/>
            <a:chExt cx="5605272" cy="3063240"/>
          </a:xfrm>
        </p:grpSpPr>
        <p:sp>
          <p:nvSpPr>
            <p:cNvPr id="12" name="TextBox 11">
              <a:extLst>
                <a:ext uri="{FF2B5EF4-FFF2-40B4-BE49-F238E27FC236}">
                  <a16:creationId xmlns:a16="http://schemas.microsoft.com/office/drawing/2014/main" id="{EE738B29-D0F3-C2B6-632A-E0F79A601A91}"/>
                </a:ext>
              </a:extLst>
            </p:cNvPr>
            <p:cNvSpPr txBox="1"/>
            <p:nvPr/>
          </p:nvSpPr>
          <p:spPr>
            <a:xfrm>
              <a:off x="5276088" y="2403364"/>
              <a:ext cx="5212080" cy="256032"/>
            </a:xfrm>
            <a:prstGeom prst="rect">
              <a:avLst/>
            </a:prstGeom>
            <a:noFill/>
          </p:spPr>
          <p:txBody>
            <a:bodyPr wrap="square" lIns="0" tIns="0" rIns="0" bIns="0" anchor="t">
              <a:spAutoFit/>
            </a:bodyPr>
            <a:lstStyle/>
            <a:p>
              <a:pPr algn="l">
                <a:spcBef>
                  <a:spcPts val="0"/>
                </a:spcBef>
                <a:spcAft>
                  <a:spcPts val="0"/>
                </a:spcAft>
              </a:pPr>
              <a:r>
                <a:rPr sz="1600" b="1" i="0" dirty="0">
                  <a:solidFill>
                    <a:srgbClr val="ABC4FF"/>
                  </a:solidFill>
                  <a:latin typeface="Inter"/>
                </a:rPr>
                <a:t>Retrieval that brings the idea back</a:t>
              </a:r>
            </a:p>
          </p:txBody>
        </p:sp>
        <p:grpSp>
          <p:nvGrpSpPr>
            <p:cNvPr id="13" name="Group 12">
              <a:extLst>
                <a:ext uri="{FF2B5EF4-FFF2-40B4-BE49-F238E27FC236}">
                  <a16:creationId xmlns:a16="http://schemas.microsoft.com/office/drawing/2014/main" id="{840A0889-51CA-641D-BDDE-F1BF8F1E3515}"/>
                </a:ext>
              </a:extLst>
            </p:cNvPr>
            <p:cNvGrpSpPr/>
            <p:nvPr/>
          </p:nvGrpSpPr>
          <p:grpSpPr>
            <a:xfrm>
              <a:off x="5276088" y="3399601"/>
              <a:ext cx="5605272" cy="1079450"/>
              <a:chOff x="5276088" y="3399601"/>
              <a:chExt cx="5605272" cy="1079450"/>
            </a:xfrm>
          </p:grpSpPr>
          <p:sp>
            <p:nvSpPr>
              <p:cNvPr id="16" name="Oval 15">
                <a:extLst>
                  <a:ext uri="{FF2B5EF4-FFF2-40B4-BE49-F238E27FC236}">
                    <a16:creationId xmlns:a16="http://schemas.microsoft.com/office/drawing/2014/main" id="{3FDD9C1C-2207-3A16-58C7-06421E715FC8}"/>
                  </a:ext>
                </a:extLst>
              </p:cNvPr>
              <p:cNvSpPr/>
              <p:nvPr/>
            </p:nvSpPr>
            <p:spPr>
              <a:xfrm>
                <a:off x="5532120" y="3399601"/>
                <a:ext cx="566928" cy="566928"/>
              </a:xfrm>
              <a:prstGeom prst="ellipse">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141414"/>
                    </a:solidFill>
                  </a:rPr>
                  <a:t>1</a:t>
                </a:r>
                <a:endParaRPr dirty="0">
                  <a:solidFill>
                    <a:srgbClr val="141414"/>
                  </a:solidFill>
                </a:endParaRPr>
              </a:p>
            </p:txBody>
          </p:sp>
          <p:sp>
            <p:nvSpPr>
              <p:cNvPr id="17" name="TextBox 16">
                <a:extLst>
                  <a:ext uri="{FF2B5EF4-FFF2-40B4-BE49-F238E27FC236}">
                    <a16:creationId xmlns:a16="http://schemas.microsoft.com/office/drawing/2014/main" id="{46C8AF21-E9C4-A520-1A24-2A23A7BA49FD}"/>
                  </a:ext>
                </a:extLst>
              </p:cNvPr>
              <p:cNvSpPr txBox="1"/>
              <p:nvPr/>
            </p:nvSpPr>
            <p:spPr>
              <a:xfrm>
                <a:off x="5276088" y="4040139"/>
                <a:ext cx="1078992" cy="438912"/>
              </a:xfrm>
              <a:prstGeom prst="rect">
                <a:avLst/>
              </a:prstGeom>
              <a:noFill/>
            </p:spPr>
            <p:txBody>
              <a:bodyPr wrap="square" lIns="0" tIns="0" rIns="0" bIns="0" anchor="ctr">
                <a:spAutoFit/>
              </a:bodyPr>
              <a:lstStyle/>
              <a:p>
                <a:pPr algn="ctr">
                  <a:spcBef>
                    <a:spcPts val="0"/>
                  </a:spcBef>
                  <a:spcAft>
                    <a:spcPts val="0"/>
                  </a:spcAft>
                </a:pPr>
                <a:r>
                  <a:rPr sz="1050" b="1" i="0">
                    <a:solidFill>
                      <a:srgbClr val="E4E4E4"/>
                    </a:solidFill>
                    <a:latin typeface="Inter"/>
                  </a:rPr>
                  <a:t>Scattered
material</a:t>
                </a:r>
              </a:p>
            </p:txBody>
          </p:sp>
          <p:grpSp>
            <p:nvGrpSpPr>
              <p:cNvPr id="18" name="Group 17">
                <a:extLst>
                  <a:ext uri="{FF2B5EF4-FFF2-40B4-BE49-F238E27FC236}">
                    <a16:creationId xmlns:a16="http://schemas.microsoft.com/office/drawing/2014/main" id="{F88153B6-3D7B-B7B4-CFEB-812A57FAB567}"/>
                  </a:ext>
                </a:extLst>
              </p:cNvPr>
              <p:cNvGrpSpPr/>
              <p:nvPr/>
            </p:nvGrpSpPr>
            <p:grpSpPr>
              <a:xfrm>
                <a:off x="6213348" y="3559621"/>
                <a:ext cx="713232" cy="246888"/>
                <a:chOff x="6280803" y="3454924"/>
                <a:chExt cx="713232" cy="246888"/>
              </a:xfrm>
            </p:grpSpPr>
            <p:cxnSp>
              <p:nvCxnSpPr>
                <p:cNvPr id="31" name="Connector 15">
                  <a:extLst>
                    <a:ext uri="{FF2B5EF4-FFF2-40B4-BE49-F238E27FC236}">
                      <a16:creationId xmlns:a16="http://schemas.microsoft.com/office/drawing/2014/main" id="{D98EA9FD-886D-B4FF-CD80-75CEC331448D}"/>
                    </a:ext>
                  </a:extLst>
                </p:cNvPr>
                <p:cNvCxnSpPr>
                  <a:cxnSpLocks/>
                </p:cNvCxnSpPr>
                <p:nvPr/>
              </p:nvCxnSpPr>
              <p:spPr>
                <a:xfrm>
                  <a:off x="6280803" y="3578368"/>
                  <a:ext cx="713232" cy="0"/>
                </a:xfrm>
                <a:prstGeom prst="line">
                  <a:avLst/>
                </a:prstGeom>
                <a:ln w="19050">
                  <a:solidFill>
                    <a:srgbClr val="ABC4FF"/>
                  </a:solidFill>
                </a:ln>
              </p:spPr>
              <p:style>
                <a:lnRef idx="2">
                  <a:schemeClr val="accent1"/>
                </a:lnRef>
                <a:fillRef idx="0">
                  <a:schemeClr val="accent1"/>
                </a:fillRef>
                <a:effectRef idx="1">
                  <a:schemeClr val="accent1"/>
                </a:effectRef>
                <a:fontRef idx="minor">
                  <a:schemeClr val="tx1"/>
                </a:fontRef>
              </p:style>
            </p:cxnSp>
            <p:sp>
              <p:nvSpPr>
                <p:cNvPr id="32" name="Chevron 16">
                  <a:extLst>
                    <a:ext uri="{FF2B5EF4-FFF2-40B4-BE49-F238E27FC236}">
                      <a16:creationId xmlns:a16="http://schemas.microsoft.com/office/drawing/2014/main" id="{87A0685E-E489-BA35-6E94-E77E013D2C16}"/>
                    </a:ext>
                  </a:extLst>
                </p:cNvPr>
                <p:cNvSpPr/>
                <p:nvPr/>
              </p:nvSpPr>
              <p:spPr>
                <a:xfrm>
                  <a:off x="6811155" y="3454924"/>
                  <a:ext cx="182880" cy="246888"/>
                </a:xfrm>
                <a:prstGeom prst="chevron">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19" name="Oval 18">
                <a:extLst>
                  <a:ext uri="{FF2B5EF4-FFF2-40B4-BE49-F238E27FC236}">
                    <a16:creationId xmlns:a16="http://schemas.microsoft.com/office/drawing/2014/main" id="{7A3799DC-1DF0-F17D-7945-86610390724D}"/>
                  </a:ext>
                </a:extLst>
              </p:cNvPr>
              <p:cNvSpPr/>
              <p:nvPr/>
            </p:nvSpPr>
            <p:spPr>
              <a:xfrm>
                <a:off x="7040880" y="3399601"/>
                <a:ext cx="566928" cy="566928"/>
              </a:xfrm>
              <a:prstGeom prst="ellipse">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141414"/>
                    </a:solidFill>
                  </a:rPr>
                  <a:t>2</a:t>
                </a:r>
                <a:endParaRPr dirty="0">
                  <a:solidFill>
                    <a:srgbClr val="141414"/>
                  </a:solidFill>
                </a:endParaRPr>
              </a:p>
            </p:txBody>
          </p:sp>
          <p:sp>
            <p:nvSpPr>
              <p:cNvPr id="20" name="TextBox 19">
                <a:extLst>
                  <a:ext uri="{FF2B5EF4-FFF2-40B4-BE49-F238E27FC236}">
                    <a16:creationId xmlns:a16="http://schemas.microsoft.com/office/drawing/2014/main" id="{D66FA07D-9743-1346-7ACB-CE00E9A00D43}"/>
                  </a:ext>
                </a:extLst>
              </p:cNvPr>
              <p:cNvSpPr txBox="1"/>
              <p:nvPr/>
            </p:nvSpPr>
            <p:spPr>
              <a:xfrm>
                <a:off x="6784848" y="4040139"/>
                <a:ext cx="1078992" cy="438912"/>
              </a:xfrm>
              <a:prstGeom prst="rect">
                <a:avLst/>
              </a:prstGeom>
              <a:noFill/>
            </p:spPr>
            <p:txBody>
              <a:bodyPr wrap="square" lIns="0" tIns="0" rIns="0" bIns="0" anchor="ctr">
                <a:spAutoFit/>
              </a:bodyPr>
              <a:lstStyle/>
              <a:p>
                <a:pPr algn="ctr">
                  <a:spcBef>
                    <a:spcPts val="0"/>
                  </a:spcBef>
                  <a:spcAft>
                    <a:spcPts val="0"/>
                  </a:spcAft>
                </a:pPr>
                <a:r>
                  <a:rPr sz="1050" b="1" i="0">
                    <a:solidFill>
                      <a:srgbClr val="E4E4E4"/>
                    </a:solidFill>
                    <a:latin typeface="Inter"/>
                  </a:rPr>
                  <a:t>Retrieve
evidence</a:t>
                </a:r>
              </a:p>
            </p:txBody>
          </p:sp>
          <p:grpSp>
            <p:nvGrpSpPr>
              <p:cNvPr id="21" name="Group 20">
                <a:extLst>
                  <a:ext uri="{FF2B5EF4-FFF2-40B4-BE49-F238E27FC236}">
                    <a16:creationId xmlns:a16="http://schemas.microsoft.com/office/drawing/2014/main" id="{DB8C3138-D970-40F0-0FC4-A99A417CE2C0}"/>
                  </a:ext>
                </a:extLst>
              </p:cNvPr>
              <p:cNvGrpSpPr/>
              <p:nvPr/>
            </p:nvGrpSpPr>
            <p:grpSpPr>
              <a:xfrm>
                <a:off x="7722108" y="3559621"/>
                <a:ext cx="713232" cy="246888"/>
                <a:chOff x="7789562" y="3454924"/>
                <a:chExt cx="713232" cy="246888"/>
              </a:xfrm>
            </p:grpSpPr>
            <p:cxnSp>
              <p:nvCxnSpPr>
                <p:cNvPr id="29" name="Connector 20">
                  <a:extLst>
                    <a:ext uri="{FF2B5EF4-FFF2-40B4-BE49-F238E27FC236}">
                      <a16:creationId xmlns:a16="http://schemas.microsoft.com/office/drawing/2014/main" id="{0F3145B8-8931-7808-8677-57C66081CDB8}"/>
                    </a:ext>
                  </a:extLst>
                </p:cNvPr>
                <p:cNvCxnSpPr>
                  <a:cxnSpLocks/>
                </p:cNvCxnSpPr>
                <p:nvPr/>
              </p:nvCxnSpPr>
              <p:spPr>
                <a:xfrm>
                  <a:off x="7789562" y="3578368"/>
                  <a:ext cx="713232" cy="0"/>
                </a:xfrm>
                <a:prstGeom prst="line">
                  <a:avLst/>
                </a:prstGeom>
                <a:ln w="19050">
                  <a:solidFill>
                    <a:srgbClr val="78C4D5"/>
                  </a:solidFill>
                </a:ln>
              </p:spPr>
              <p:style>
                <a:lnRef idx="2">
                  <a:schemeClr val="accent1"/>
                </a:lnRef>
                <a:fillRef idx="0">
                  <a:schemeClr val="accent1"/>
                </a:fillRef>
                <a:effectRef idx="1">
                  <a:schemeClr val="accent1"/>
                </a:effectRef>
                <a:fontRef idx="minor">
                  <a:schemeClr val="tx1"/>
                </a:fontRef>
              </p:style>
            </p:cxnSp>
            <p:sp>
              <p:nvSpPr>
                <p:cNvPr id="30" name="Chevron 21">
                  <a:extLst>
                    <a:ext uri="{FF2B5EF4-FFF2-40B4-BE49-F238E27FC236}">
                      <a16:creationId xmlns:a16="http://schemas.microsoft.com/office/drawing/2014/main" id="{4BEC9837-D25A-47D3-30DA-E287555A8C0C}"/>
                    </a:ext>
                  </a:extLst>
                </p:cNvPr>
                <p:cNvSpPr/>
                <p:nvPr/>
              </p:nvSpPr>
              <p:spPr>
                <a:xfrm>
                  <a:off x="8319914" y="3454924"/>
                  <a:ext cx="182880" cy="246888"/>
                </a:xfrm>
                <a:prstGeom prst="chevron">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22" name="Oval 21">
                <a:extLst>
                  <a:ext uri="{FF2B5EF4-FFF2-40B4-BE49-F238E27FC236}">
                    <a16:creationId xmlns:a16="http://schemas.microsoft.com/office/drawing/2014/main" id="{3C239941-B326-CBF4-64E5-626F3E33165A}"/>
                  </a:ext>
                </a:extLst>
              </p:cNvPr>
              <p:cNvSpPr/>
              <p:nvPr/>
            </p:nvSpPr>
            <p:spPr>
              <a:xfrm>
                <a:off x="8549640" y="3399601"/>
                <a:ext cx="566928" cy="566928"/>
              </a:xfrm>
              <a:prstGeom prst="ellipse">
                <a:avLst/>
              </a:prstGeom>
              <a:solidFill>
                <a:srgbClr val="F0A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141414"/>
                    </a:solidFill>
                  </a:rPr>
                  <a:t>3</a:t>
                </a:r>
                <a:endParaRPr dirty="0">
                  <a:solidFill>
                    <a:srgbClr val="141414"/>
                  </a:solidFill>
                </a:endParaRPr>
              </a:p>
            </p:txBody>
          </p:sp>
          <p:sp>
            <p:nvSpPr>
              <p:cNvPr id="23" name="TextBox 22">
                <a:extLst>
                  <a:ext uri="{FF2B5EF4-FFF2-40B4-BE49-F238E27FC236}">
                    <a16:creationId xmlns:a16="http://schemas.microsoft.com/office/drawing/2014/main" id="{74CADE6F-BBC3-AB34-F791-1614CA8E852D}"/>
                  </a:ext>
                </a:extLst>
              </p:cNvPr>
              <p:cNvSpPr txBox="1"/>
              <p:nvPr/>
            </p:nvSpPr>
            <p:spPr>
              <a:xfrm>
                <a:off x="8293608" y="4040139"/>
                <a:ext cx="1078992" cy="438912"/>
              </a:xfrm>
              <a:prstGeom prst="rect">
                <a:avLst/>
              </a:prstGeom>
              <a:noFill/>
            </p:spPr>
            <p:txBody>
              <a:bodyPr wrap="square" lIns="0" tIns="0" rIns="0" bIns="0" anchor="ctr">
                <a:spAutoFit/>
              </a:bodyPr>
              <a:lstStyle/>
              <a:p>
                <a:pPr algn="ctr">
                  <a:spcBef>
                    <a:spcPts val="0"/>
                  </a:spcBef>
                  <a:spcAft>
                    <a:spcPts val="0"/>
                  </a:spcAft>
                </a:pPr>
                <a:r>
                  <a:rPr sz="1050" b="1" i="0">
                    <a:solidFill>
                      <a:srgbClr val="E4E4E4"/>
                    </a:solidFill>
                    <a:latin typeface="Inter"/>
                  </a:rPr>
                  <a:t>Reconnect
context</a:t>
                </a:r>
              </a:p>
            </p:txBody>
          </p:sp>
          <p:grpSp>
            <p:nvGrpSpPr>
              <p:cNvPr id="24" name="Group 23">
                <a:extLst>
                  <a:ext uri="{FF2B5EF4-FFF2-40B4-BE49-F238E27FC236}">
                    <a16:creationId xmlns:a16="http://schemas.microsoft.com/office/drawing/2014/main" id="{74A71816-58A9-56DA-BAB5-6EA58B598BF9}"/>
                  </a:ext>
                </a:extLst>
              </p:cNvPr>
              <p:cNvGrpSpPr/>
              <p:nvPr/>
            </p:nvGrpSpPr>
            <p:grpSpPr>
              <a:xfrm>
                <a:off x="9230868" y="3559621"/>
                <a:ext cx="713232" cy="246888"/>
                <a:chOff x="9283229" y="3454924"/>
                <a:chExt cx="713232" cy="246888"/>
              </a:xfrm>
            </p:grpSpPr>
            <p:cxnSp>
              <p:nvCxnSpPr>
                <p:cNvPr id="27" name="Connector 25">
                  <a:extLst>
                    <a:ext uri="{FF2B5EF4-FFF2-40B4-BE49-F238E27FC236}">
                      <a16:creationId xmlns:a16="http://schemas.microsoft.com/office/drawing/2014/main" id="{2BF01BD9-D2AE-094E-62DF-A15E92D22791}"/>
                    </a:ext>
                  </a:extLst>
                </p:cNvPr>
                <p:cNvCxnSpPr>
                  <a:cxnSpLocks/>
                </p:cNvCxnSpPr>
                <p:nvPr/>
              </p:nvCxnSpPr>
              <p:spPr>
                <a:xfrm>
                  <a:off x="9283229" y="3578368"/>
                  <a:ext cx="713232" cy="0"/>
                </a:xfrm>
                <a:prstGeom prst="line">
                  <a:avLst/>
                </a:prstGeom>
                <a:ln w="19050">
                  <a:solidFill>
                    <a:srgbClr val="F0A873"/>
                  </a:solidFill>
                </a:ln>
              </p:spPr>
              <p:style>
                <a:lnRef idx="2">
                  <a:schemeClr val="accent1"/>
                </a:lnRef>
                <a:fillRef idx="0">
                  <a:schemeClr val="accent1"/>
                </a:fillRef>
                <a:effectRef idx="1">
                  <a:schemeClr val="accent1"/>
                </a:effectRef>
                <a:fontRef idx="minor">
                  <a:schemeClr val="tx1"/>
                </a:fontRef>
              </p:style>
            </p:cxnSp>
            <p:sp>
              <p:nvSpPr>
                <p:cNvPr id="28" name="Chevron 26">
                  <a:extLst>
                    <a:ext uri="{FF2B5EF4-FFF2-40B4-BE49-F238E27FC236}">
                      <a16:creationId xmlns:a16="http://schemas.microsoft.com/office/drawing/2014/main" id="{BFA5B4FC-87BB-A191-8E56-2B29F417EA0F}"/>
                    </a:ext>
                  </a:extLst>
                </p:cNvPr>
                <p:cNvSpPr/>
                <p:nvPr/>
              </p:nvSpPr>
              <p:spPr>
                <a:xfrm>
                  <a:off x="9813581" y="3454924"/>
                  <a:ext cx="182880" cy="246888"/>
                </a:xfrm>
                <a:prstGeom prst="chevron">
                  <a:avLst/>
                </a:prstGeom>
                <a:solidFill>
                  <a:srgbClr val="F0A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25" name="Oval 24">
                <a:extLst>
                  <a:ext uri="{FF2B5EF4-FFF2-40B4-BE49-F238E27FC236}">
                    <a16:creationId xmlns:a16="http://schemas.microsoft.com/office/drawing/2014/main" id="{98E85A2D-4AD5-2017-4104-35C7D4E55DD1}"/>
                  </a:ext>
                </a:extLst>
              </p:cNvPr>
              <p:cNvSpPr/>
              <p:nvPr/>
            </p:nvSpPr>
            <p:spPr>
              <a:xfrm>
                <a:off x="10058400" y="3399601"/>
                <a:ext cx="566928" cy="566928"/>
              </a:xfrm>
              <a:prstGeom prst="ellipse">
                <a:avLst/>
              </a:prstGeom>
              <a:solidFill>
                <a:srgbClr val="A99A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141414"/>
                    </a:solidFill>
                  </a:rPr>
                  <a:t>4</a:t>
                </a:r>
                <a:endParaRPr dirty="0">
                  <a:solidFill>
                    <a:srgbClr val="141414"/>
                  </a:solidFill>
                </a:endParaRPr>
              </a:p>
            </p:txBody>
          </p:sp>
          <p:sp>
            <p:nvSpPr>
              <p:cNvPr id="26" name="TextBox 25">
                <a:extLst>
                  <a:ext uri="{FF2B5EF4-FFF2-40B4-BE49-F238E27FC236}">
                    <a16:creationId xmlns:a16="http://schemas.microsoft.com/office/drawing/2014/main" id="{97F5AA06-034D-FA44-57D9-2B164A433B54}"/>
                  </a:ext>
                </a:extLst>
              </p:cNvPr>
              <p:cNvSpPr txBox="1"/>
              <p:nvPr/>
            </p:nvSpPr>
            <p:spPr>
              <a:xfrm>
                <a:off x="9802368" y="4040139"/>
                <a:ext cx="1078992" cy="438912"/>
              </a:xfrm>
              <a:prstGeom prst="rect">
                <a:avLst/>
              </a:prstGeom>
              <a:noFill/>
            </p:spPr>
            <p:txBody>
              <a:bodyPr wrap="square" lIns="0" tIns="0" rIns="0" bIns="0" anchor="ctr">
                <a:spAutoFit/>
              </a:bodyPr>
              <a:lstStyle/>
              <a:p>
                <a:pPr algn="ctr">
                  <a:spcBef>
                    <a:spcPts val="0"/>
                  </a:spcBef>
                  <a:spcAft>
                    <a:spcPts val="0"/>
                  </a:spcAft>
                </a:pPr>
                <a:r>
                  <a:rPr sz="1050" b="1" i="0">
                    <a:solidFill>
                      <a:srgbClr val="E4E4E4"/>
                    </a:solidFill>
                    <a:latin typeface="Inter"/>
                  </a:rPr>
                  <a:t>Practice +
remember</a:t>
                </a:r>
              </a:p>
            </p:txBody>
          </p:sp>
        </p:grpSp>
        <p:cxnSp>
          <p:nvCxnSpPr>
            <p:cNvPr id="14" name="Connector 30">
              <a:extLst>
                <a:ext uri="{FF2B5EF4-FFF2-40B4-BE49-F238E27FC236}">
                  <a16:creationId xmlns:a16="http://schemas.microsoft.com/office/drawing/2014/main" id="{61E9E996-6E65-C7F4-A77D-A1D770EDB590}"/>
                </a:ext>
              </a:extLst>
            </p:cNvPr>
            <p:cNvCxnSpPr>
              <a:cxnSpLocks/>
            </p:cNvCxnSpPr>
            <p:nvPr/>
          </p:nvCxnSpPr>
          <p:spPr>
            <a:xfrm>
              <a:off x="5276088" y="5055124"/>
              <a:ext cx="5440680" cy="0"/>
            </a:xfrm>
            <a:prstGeom prst="line">
              <a:avLst/>
            </a:prstGeom>
            <a:ln w="12700">
              <a:solidFill>
                <a:srgbClr val="343434"/>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3E0FB44B-E682-2E15-1D74-A0ED4D13CEB8}"/>
                </a:ext>
              </a:extLst>
            </p:cNvPr>
            <p:cNvSpPr txBox="1"/>
            <p:nvPr/>
          </p:nvSpPr>
          <p:spPr>
            <a:xfrm>
              <a:off x="5276088" y="5283724"/>
              <a:ext cx="5440680" cy="182880"/>
            </a:xfrm>
            <a:prstGeom prst="rect">
              <a:avLst/>
            </a:prstGeom>
            <a:noFill/>
          </p:spPr>
          <p:txBody>
            <a:bodyPr wrap="square" lIns="0" tIns="0" rIns="0" bIns="0" anchor="t">
              <a:spAutoFit/>
            </a:bodyPr>
            <a:lstStyle/>
            <a:p>
              <a:pPr algn="ctr">
                <a:spcBef>
                  <a:spcPts val="0"/>
                </a:spcBef>
                <a:spcAft>
                  <a:spcPts val="0"/>
                </a:spcAft>
              </a:pPr>
              <a:r>
                <a:rPr sz="950" b="0" i="0" dirty="0">
                  <a:solidFill>
                    <a:srgbClr val="9C9C9C"/>
                  </a:solidFill>
                  <a:latin typeface="Cascadia Mono"/>
                </a:rPr>
                <a:t>Semantic  ·  lexical  ·  exact-match  ·  reranking  ·  evidence threshold</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venire-logo-full.png"/>
          <p:cNvPicPr>
            <a:picLocks noChangeAspect="1"/>
          </p:cNvPicPr>
          <p:nvPr/>
        </p:nvPicPr>
        <p:blipFill>
          <a:blip r:embed="rId3"/>
          <a:stretch>
            <a:fillRect/>
          </a:stretch>
        </p:blipFill>
        <p:spPr>
          <a:xfrm>
            <a:off x="594360" y="256032"/>
            <a:ext cx="210312" cy="210312"/>
          </a:xfrm>
          <a:prstGeom prst="rect">
            <a:avLst/>
          </a:prstGeom>
        </p:spPr>
      </p:pic>
      <p:sp>
        <p:nvSpPr>
          <p:cNvPr id="4" name="TextBox 3"/>
          <p:cNvSpPr txBox="1"/>
          <p:nvPr/>
        </p:nvSpPr>
        <p:spPr>
          <a:xfrm>
            <a:off x="877824" y="237744"/>
            <a:ext cx="822960" cy="237744"/>
          </a:xfrm>
          <a:prstGeom prst="rect">
            <a:avLst/>
          </a:prstGeom>
          <a:noFill/>
        </p:spPr>
        <p:txBody>
          <a:bodyPr wrap="square" lIns="0" tIns="0" rIns="0" bIns="0" anchor="ctr">
            <a:spAutoFit/>
          </a:bodyPr>
          <a:lstStyle/>
          <a:p>
            <a:pPr algn="l">
              <a:spcBef>
                <a:spcPts val="0"/>
              </a:spcBef>
              <a:spcAft>
                <a:spcPts val="0"/>
              </a:spcAft>
            </a:pPr>
            <a:r>
              <a:rPr sz="1100" b="1" i="0">
                <a:solidFill>
                  <a:srgbClr val="E4E4E4"/>
                </a:solidFill>
                <a:latin typeface="Inter"/>
              </a:rPr>
              <a:t>Avenire</a:t>
            </a:r>
          </a:p>
        </p:txBody>
      </p:sp>
      <p:sp>
        <p:nvSpPr>
          <p:cNvPr id="5" name="TextBox 4"/>
          <p:cNvSpPr txBox="1"/>
          <p:nvPr/>
        </p:nvSpPr>
        <p:spPr>
          <a:xfrm>
            <a:off x="11277295" y="265176"/>
            <a:ext cx="320040" cy="182880"/>
          </a:xfrm>
          <a:prstGeom prst="rect">
            <a:avLst/>
          </a:prstGeom>
          <a:noFill/>
        </p:spPr>
        <p:txBody>
          <a:bodyPr wrap="square" lIns="0" tIns="0" rIns="0" bIns="0" anchor="t">
            <a:spAutoFit/>
          </a:bodyPr>
          <a:lstStyle/>
          <a:p>
            <a:pPr algn="r">
              <a:spcBef>
                <a:spcPts val="0"/>
              </a:spcBef>
              <a:spcAft>
                <a:spcPts val="0"/>
              </a:spcAft>
            </a:pPr>
            <a:r>
              <a:rPr sz="900" b="0" i="0">
                <a:solidFill>
                  <a:srgbClr val="6E6E6E"/>
                </a:solidFill>
                <a:latin typeface="Cascadia Mono"/>
              </a:rPr>
              <a:t>06</a:t>
            </a:r>
          </a:p>
        </p:txBody>
      </p:sp>
      <p:sp>
        <p:nvSpPr>
          <p:cNvPr id="6" name="TextBox 5"/>
          <p:cNvSpPr txBox="1"/>
          <p:nvPr/>
        </p:nvSpPr>
        <p:spPr>
          <a:xfrm>
            <a:off x="594360" y="749808"/>
            <a:ext cx="5303520" cy="201168"/>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THE PRODUCT</a:t>
            </a:r>
          </a:p>
        </p:txBody>
      </p:sp>
      <p:sp>
        <p:nvSpPr>
          <p:cNvPr id="7" name="TextBox 6"/>
          <p:cNvSpPr txBox="1"/>
          <p:nvPr/>
        </p:nvSpPr>
        <p:spPr>
          <a:xfrm>
            <a:off x="594360" y="1005840"/>
            <a:ext cx="10789920" cy="640080"/>
          </a:xfrm>
          <a:prstGeom prst="rect">
            <a:avLst/>
          </a:prstGeom>
          <a:noFill/>
        </p:spPr>
        <p:txBody>
          <a:bodyPr wrap="square" lIns="0" tIns="0" rIns="0" bIns="0" anchor="t">
            <a:spAutoFit/>
          </a:bodyPr>
          <a:lstStyle/>
          <a:p>
            <a:pPr algn="l">
              <a:spcBef>
                <a:spcPts val="0"/>
              </a:spcBef>
              <a:spcAft>
                <a:spcPts val="0"/>
              </a:spcAft>
            </a:pPr>
            <a:r>
              <a:rPr sz="3000" b="1" i="0">
                <a:solidFill>
                  <a:srgbClr val="E4E4E4"/>
                </a:solidFill>
                <a:latin typeface="Inter"/>
              </a:rPr>
              <a:t>Meet Avenire.</a:t>
            </a:r>
          </a:p>
        </p:txBody>
      </p:sp>
      <p:sp>
        <p:nvSpPr>
          <p:cNvPr id="8" name="TextBox 7"/>
          <p:cNvSpPr txBox="1"/>
          <p:nvPr/>
        </p:nvSpPr>
        <p:spPr>
          <a:xfrm>
            <a:off x="594360" y="1691640"/>
            <a:ext cx="9692640" cy="384048"/>
          </a:xfrm>
          <a:prstGeom prst="rect">
            <a:avLst/>
          </a:prstGeom>
          <a:noFill/>
        </p:spPr>
        <p:txBody>
          <a:bodyPr wrap="square" lIns="0" tIns="0" rIns="0" bIns="0" anchor="t">
            <a:spAutoFit/>
          </a:bodyPr>
          <a:lstStyle/>
          <a:p>
            <a:pPr algn="l">
              <a:spcBef>
                <a:spcPts val="0"/>
              </a:spcBef>
              <a:spcAft>
                <a:spcPts val="0"/>
              </a:spcAft>
            </a:pPr>
            <a:r>
              <a:rPr sz="1400" b="0" i="0" dirty="0">
                <a:solidFill>
                  <a:srgbClr val="9C9C9C"/>
                </a:solidFill>
                <a:latin typeface="Inter"/>
              </a:rPr>
              <a:t>Conversational Learning: ask, learn, create, remember.</a:t>
            </a:r>
          </a:p>
        </p:txBody>
      </p:sp>
      <p:cxnSp>
        <p:nvCxnSpPr>
          <p:cNvPr id="33" name="Connector 32"/>
          <p:cNvCxnSpPr/>
          <p:nvPr/>
        </p:nvCxnSpPr>
        <p:spPr>
          <a:xfrm>
            <a:off x="594360" y="6464808"/>
            <a:ext cx="11002975"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94360" y="6574536"/>
            <a:ext cx="3474720" cy="146304"/>
          </a:xfrm>
          <a:prstGeom prst="rect">
            <a:avLst/>
          </a:prstGeom>
          <a:noFill/>
        </p:spPr>
        <p:txBody>
          <a:bodyPr wrap="square" lIns="0" tIns="0" rIns="0" bIns="0" anchor="t">
            <a:spAutoFit/>
          </a:bodyPr>
          <a:lstStyle/>
          <a:p>
            <a:pPr algn="l">
              <a:spcBef>
                <a:spcPts val="0"/>
              </a:spcBef>
              <a:spcAft>
                <a:spcPts val="0"/>
              </a:spcAft>
            </a:pPr>
            <a:r>
              <a:rPr sz="850" b="0" i="0">
                <a:solidFill>
                  <a:srgbClr val="6E6E6E"/>
                </a:solidFill>
                <a:latin typeface="Cascadia Mono"/>
              </a:rPr>
              <a:t>Avenire / learning that remembers</a:t>
            </a:r>
          </a:p>
        </p:txBody>
      </p:sp>
      <p:grpSp>
        <p:nvGrpSpPr>
          <p:cNvPr id="11" name="Group 10">
            <a:extLst>
              <a:ext uri="{FF2B5EF4-FFF2-40B4-BE49-F238E27FC236}">
                <a16:creationId xmlns:a16="http://schemas.microsoft.com/office/drawing/2014/main" id="{BB91AE4C-53FE-309E-8BAE-25C5ACEAC897}"/>
              </a:ext>
            </a:extLst>
          </p:cNvPr>
          <p:cNvGrpSpPr/>
          <p:nvPr/>
        </p:nvGrpSpPr>
        <p:grpSpPr>
          <a:xfrm>
            <a:off x="594359" y="2195975"/>
            <a:ext cx="10199331" cy="868680"/>
            <a:chOff x="8732520" y="2195975"/>
            <a:chExt cx="2468880" cy="868680"/>
          </a:xfrm>
        </p:grpSpPr>
        <p:cxnSp>
          <p:nvCxnSpPr>
            <p:cNvPr id="36" name="Connector 35"/>
            <p:cNvCxnSpPr>
              <a:cxnSpLocks/>
            </p:cNvCxnSpPr>
            <p:nvPr/>
          </p:nvCxnSpPr>
          <p:spPr>
            <a:xfrm>
              <a:off x="8732520" y="2195975"/>
              <a:ext cx="2468880" cy="0"/>
            </a:xfrm>
            <a:prstGeom prst="line">
              <a:avLst/>
            </a:prstGeom>
            <a:ln w="19050">
              <a:solidFill>
                <a:srgbClr val="ABC4FF"/>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8732520" y="2323991"/>
              <a:ext cx="2194560" cy="228600"/>
            </a:xfrm>
            <a:prstGeom prst="rect">
              <a:avLst/>
            </a:prstGeom>
            <a:noFill/>
          </p:spPr>
          <p:txBody>
            <a:bodyPr wrap="square" lIns="0" tIns="0" rIns="0" bIns="0" anchor="t">
              <a:spAutoFit/>
            </a:bodyPr>
            <a:lstStyle/>
            <a:p>
              <a:pPr algn="l">
                <a:spcBef>
                  <a:spcPts val="0"/>
                </a:spcBef>
                <a:spcAft>
                  <a:spcPts val="0"/>
                </a:spcAft>
              </a:pPr>
              <a:r>
                <a:rPr sz="1600" b="1" i="0">
                  <a:solidFill>
                    <a:srgbClr val="ABC4FF"/>
                  </a:solidFill>
                  <a:latin typeface="Inter"/>
                </a:rPr>
                <a:t>Visualize</a:t>
              </a:r>
            </a:p>
          </p:txBody>
        </p:sp>
        <p:sp>
          <p:nvSpPr>
            <p:cNvPr id="38" name="TextBox 37"/>
            <p:cNvSpPr txBox="1"/>
            <p:nvPr/>
          </p:nvSpPr>
          <p:spPr>
            <a:xfrm>
              <a:off x="8732520" y="2680607"/>
              <a:ext cx="2423160" cy="384048"/>
            </a:xfrm>
            <a:prstGeom prst="rect">
              <a:avLst/>
            </a:prstGeom>
            <a:noFill/>
          </p:spPr>
          <p:txBody>
            <a:bodyPr wrap="square" lIns="0" tIns="0" rIns="0" bIns="0" anchor="t">
              <a:spAutoFit/>
            </a:bodyPr>
            <a:lstStyle/>
            <a:p>
              <a:pPr algn="l">
                <a:spcBef>
                  <a:spcPts val="0"/>
                </a:spcBef>
                <a:spcAft>
                  <a:spcPts val="0"/>
                </a:spcAft>
              </a:pPr>
              <a:r>
                <a:rPr sz="1050" b="0" i="0">
                  <a:solidFill>
                    <a:srgbClr val="9C9C9C"/>
                  </a:solidFill>
                  <a:latin typeface="Inter"/>
                </a:rPr>
                <a:t>Turn abstract concepts into interactive models.</a:t>
              </a:r>
            </a:p>
          </p:txBody>
        </p:sp>
      </p:grpSp>
      <p:grpSp>
        <p:nvGrpSpPr>
          <p:cNvPr id="12" name="Group 11">
            <a:extLst>
              <a:ext uri="{FF2B5EF4-FFF2-40B4-BE49-F238E27FC236}">
                <a16:creationId xmlns:a16="http://schemas.microsoft.com/office/drawing/2014/main" id="{B0A9B665-A9E4-55BC-D12D-2195859C6FB3}"/>
              </a:ext>
            </a:extLst>
          </p:cNvPr>
          <p:cNvGrpSpPr/>
          <p:nvPr/>
        </p:nvGrpSpPr>
        <p:grpSpPr>
          <a:xfrm>
            <a:off x="594360" y="3293255"/>
            <a:ext cx="10199330" cy="868680"/>
            <a:chOff x="8732520" y="3293255"/>
            <a:chExt cx="2468880" cy="868680"/>
          </a:xfrm>
        </p:grpSpPr>
        <p:cxnSp>
          <p:nvCxnSpPr>
            <p:cNvPr id="39" name="Connector 38"/>
            <p:cNvCxnSpPr>
              <a:cxnSpLocks/>
            </p:cNvCxnSpPr>
            <p:nvPr/>
          </p:nvCxnSpPr>
          <p:spPr>
            <a:xfrm>
              <a:off x="8732520" y="3293255"/>
              <a:ext cx="2468880" cy="0"/>
            </a:xfrm>
            <a:prstGeom prst="line">
              <a:avLst/>
            </a:prstGeom>
            <a:ln w="19050">
              <a:solidFill>
                <a:srgbClr val="78C4D5"/>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732520" y="3421271"/>
              <a:ext cx="2194560" cy="228600"/>
            </a:xfrm>
            <a:prstGeom prst="rect">
              <a:avLst/>
            </a:prstGeom>
            <a:noFill/>
          </p:spPr>
          <p:txBody>
            <a:bodyPr wrap="square" lIns="0" tIns="0" rIns="0" bIns="0" anchor="t">
              <a:spAutoFit/>
            </a:bodyPr>
            <a:lstStyle/>
            <a:p>
              <a:pPr algn="l">
                <a:spcBef>
                  <a:spcPts val="0"/>
                </a:spcBef>
                <a:spcAft>
                  <a:spcPts val="0"/>
                </a:spcAft>
              </a:pPr>
              <a:r>
                <a:rPr sz="1600" b="1" i="0">
                  <a:solidFill>
                    <a:srgbClr val="78C4D5"/>
                  </a:solidFill>
                  <a:latin typeface="Inter"/>
                </a:rPr>
                <a:t>Review</a:t>
              </a:r>
            </a:p>
          </p:txBody>
        </p:sp>
        <p:sp>
          <p:nvSpPr>
            <p:cNvPr id="41" name="TextBox 40"/>
            <p:cNvSpPr txBox="1"/>
            <p:nvPr/>
          </p:nvSpPr>
          <p:spPr>
            <a:xfrm>
              <a:off x="8732520" y="3777887"/>
              <a:ext cx="2423160" cy="384048"/>
            </a:xfrm>
            <a:prstGeom prst="rect">
              <a:avLst/>
            </a:prstGeom>
            <a:noFill/>
          </p:spPr>
          <p:txBody>
            <a:bodyPr wrap="square" lIns="0" tIns="0" rIns="0" bIns="0" anchor="t">
              <a:spAutoFit/>
            </a:bodyPr>
            <a:lstStyle/>
            <a:p>
              <a:pPr algn="l">
                <a:spcBef>
                  <a:spcPts val="0"/>
                </a:spcBef>
                <a:spcAft>
                  <a:spcPts val="0"/>
                </a:spcAft>
              </a:pPr>
              <a:r>
                <a:rPr sz="1050" b="0" i="0">
                  <a:solidFill>
                    <a:srgbClr val="9C9C9C"/>
                  </a:solidFill>
                  <a:latin typeface="Inter"/>
                </a:rPr>
                <a:t>Use spaced repetition to bring back what matters.</a:t>
              </a:r>
            </a:p>
          </p:txBody>
        </p:sp>
      </p:grpSp>
      <p:grpSp>
        <p:nvGrpSpPr>
          <p:cNvPr id="16" name="Group 15">
            <a:extLst>
              <a:ext uri="{FF2B5EF4-FFF2-40B4-BE49-F238E27FC236}">
                <a16:creationId xmlns:a16="http://schemas.microsoft.com/office/drawing/2014/main" id="{D44DA29C-FE13-BC95-7AB2-8E2ECEF155E9}"/>
              </a:ext>
            </a:extLst>
          </p:cNvPr>
          <p:cNvGrpSpPr/>
          <p:nvPr/>
        </p:nvGrpSpPr>
        <p:grpSpPr>
          <a:xfrm>
            <a:off x="594360" y="4390535"/>
            <a:ext cx="10199330" cy="868680"/>
            <a:chOff x="8732520" y="4390535"/>
            <a:chExt cx="2468880" cy="868680"/>
          </a:xfrm>
        </p:grpSpPr>
        <p:cxnSp>
          <p:nvCxnSpPr>
            <p:cNvPr id="42" name="Connector 41"/>
            <p:cNvCxnSpPr>
              <a:cxnSpLocks/>
            </p:cNvCxnSpPr>
            <p:nvPr/>
          </p:nvCxnSpPr>
          <p:spPr>
            <a:xfrm>
              <a:off x="8732520" y="4390535"/>
              <a:ext cx="2468880" cy="0"/>
            </a:xfrm>
            <a:prstGeom prst="line">
              <a:avLst/>
            </a:prstGeom>
            <a:ln w="19050">
              <a:solidFill>
                <a:srgbClr val="F0A873"/>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8732520" y="4518551"/>
              <a:ext cx="2194560" cy="228600"/>
            </a:xfrm>
            <a:prstGeom prst="rect">
              <a:avLst/>
            </a:prstGeom>
            <a:noFill/>
          </p:spPr>
          <p:txBody>
            <a:bodyPr wrap="square" lIns="0" tIns="0" rIns="0" bIns="0" anchor="t">
              <a:spAutoFit/>
            </a:bodyPr>
            <a:lstStyle/>
            <a:p>
              <a:pPr algn="l">
                <a:spcBef>
                  <a:spcPts val="0"/>
                </a:spcBef>
                <a:spcAft>
                  <a:spcPts val="0"/>
                </a:spcAft>
              </a:pPr>
              <a:r>
                <a:rPr sz="1600" b="1" i="0">
                  <a:solidFill>
                    <a:srgbClr val="F0A873"/>
                  </a:solidFill>
                  <a:latin typeface="Inter"/>
                </a:rPr>
                <a:t>Diagnose</a:t>
              </a:r>
            </a:p>
          </p:txBody>
        </p:sp>
        <p:sp>
          <p:nvSpPr>
            <p:cNvPr id="44" name="TextBox 43"/>
            <p:cNvSpPr txBox="1"/>
            <p:nvPr/>
          </p:nvSpPr>
          <p:spPr>
            <a:xfrm>
              <a:off x="8732520" y="4875167"/>
              <a:ext cx="2423160" cy="384048"/>
            </a:xfrm>
            <a:prstGeom prst="rect">
              <a:avLst/>
            </a:prstGeom>
            <a:noFill/>
          </p:spPr>
          <p:txBody>
            <a:bodyPr wrap="square" lIns="0" tIns="0" rIns="0" bIns="0" anchor="t">
              <a:spAutoFit/>
            </a:bodyPr>
            <a:lstStyle/>
            <a:p>
              <a:pPr algn="l">
                <a:spcBef>
                  <a:spcPts val="0"/>
                </a:spcBef>
                <a:spcAft>
                  <a:spcPts val="0"/>
                </a:spcAft>
              </a:pPr>
              <a:r>
                <a:rPr sz="1050" b="0" i="0">
                  <a:solidFill>
                    <a:srgbClr val="9C9C9C"/>
                  </a:solidFill>
                  <a:latin typeface="Inter"/>
                </a:rPr>
                <a:t>Spot misconception patterns while the engine is being built.</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venire-logo-full.png"/>
          <p:cNvPicPr>
            <a:picLocks noChangeAspect="1"/>
          </p:cNvPicPr>
          <p:nvPr/>
        </p:nvPicPr>
        <p:blipFill>
          <a:blip r:embed="rId3"/>
          <a:stretch>
            <a:fillRect/>
          </a:stretch>
        </p:blipFill>
        <p:spPr>
          <a:xfrm>
            <a:off x="594360" y="256032"/>
            <a:ext cx="210312" cy="210312"/>
          </a:xfrm>
          <a:prstGeom prst="rect">
            <a:avLst/>
          </a:prstGeom>
        </p:spPr>
      </p:pic>
      <p:sp>
        <p:nvSpPr>
          <p:cNvPr id="4" name="TextBox 3"/>
          <p:cNvSpPr txBox="1"/>
          <p:nvPr/>
        </p:nvSpPr>
        <p:spPr>
          <a:xfrm>
            <a:off x="877824" y="237744"/>
            <a:ext cx="822960" cy="237744"/>
          </a:xfrm>
          <a:prstGeom prst="rect">
            <a:avLst/>
          </a:prstGeom>
          <a:noFill/>
        </p:spPr>
        <p:txBody>
          <a:bodyPr wrap="square" lIns="0" tIns="0" rIns="0" bIns="0" anchor="ctr">
            <a:spAutoFit/>
          </a:bodyPr>
          <a:lstStyle/>
          <a:p>
            <a:pPr algn="l">
              <a:spcBef>
                <a:spcPts val="0"/>
              </a:spcBef>
              <a:spcAft>
                <a:spcPts val="0"/>
              </a:spcAft>
            </a:pPr>
            <a:r>
              <a:rPr sz="1100" b="1" i="0">
                <a:solidFill>
                  <a:srgbClr val="E4E4E4"/>
                </a:solidFill>
                <a:latin typeface="Inter"/>
              </a:rPr>
              <a:t>Avenire</a:t>
            </a:r>
          </a:p>
        </p:txBody>
      </p:sp>
      <p:sp>
        <p:nvSpPr>
          <p:cNvPr id="5" name="TextBox 4"/>
          <p:cNvSpPr txBox="1"/>
          <p:nvPr/>
        </p:nvSpPr>
        <p:spPr>
          <a:xfrm>
            <a:off x="11277295" y="265176"/>
            <a:ext cx="320040" cy="182880"/>
          </a:xfrm>
          <a:prstGeom prst="rect">
            <a:avLst/>
          </a:prstGeom>
          <a:noFill/>
        </p:spPr>
        <p:txBody>
          <a:bodyPr wrap="square" lIns="0" tIns="0" rIns="0" bIns="0" anchor="t">
            <a:spAutoFit/>
          </a:bodyPr>
          <a:lstStyle/>
          <a:p>
            <a:pPr algn="r">
              <a:spcBef>
                <a:spcPts val="0"/>
              </a:spcBef>
              <a:spcAft>
                <a:spcPts val="0"/>
              </a:spcAft>
            </a:pPr>
            <a:r>
              <a:rPr sz="900" b="0" i="0">
                <a:solidFill>
                  <a:srgbClr val="6E6E6E"/>
                </a:solidFill>
                <a:latin typeface="Cascadia Mono"/>
              </a:rPr>
              <a:t>07</a:t>
            </a:r>
          </a:p>
        </p:txBody>
      </p:sp>
      <p:sp>
        <p:nvSpPr>
          <p:cNvPr id="6" name="TextBox 5"/>
          <p:cNvSpPr txBox="1"/>
          <p:nvPr/>
        </p:nvSpPr>
        <p:spPr>
          <a:xfrm>
            <a:off x="594360" y="749808"/>
            <a:ext cx="5303520" cy="201168"/>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THE DIFFERENCE</a:t>
            </a:r>
          </a:p>
        </p:txBody>
      </p:sp>
      <p:sp>
        <p:nvSpPr>
          <p:cNvPr id="7" name="TextBox 6"/>
          <p:cNvSpPr txBox="1"/>
          <p:nvPr/>
        </p:nvSpPr>
        <p:spPr>
          <a:xfrm>
            <a:off x="594360" y="1001268"/>
            <a:ext cx="10789920" cy="640080"/>
          </a:xfrm>
          <a:prstGeom prst="rect">
            <a:avLst/>
          </a:prstGeom>
          <a:noFill/>
        </p:spPr>
        <p:txBody>
          <a:bodyPr wrap="square" lIns="0" tIns="0" rIns="0" bIns="0" anchor="t">
            <a:spAutoFit/>
          </a:bodyPr>
          <a:lstStyle/>
          <a:p>
            <a:pPr algn="l">
              <a:spcBef>
                <a:spcPts val="0"/>
              </a:spcBef>
              <a:spcAft>
                <a:spcPts val="0"/>
              </a:spcAft>
            </a:pPr>
            <a:r>
              <a:rPr sz="3000" b="1" i="0">
                <a:solidFill>
                  <a:srgbClr val="E4E4E4"/>
                </a:solidFill>
                <a:latin typeface="Inter"/>
              </a:rPr>
              <a:t>The conversation doesn't end when the chat ends.</a:t>
            </a:r>
          </a:p>
        </p:txBody>
      </p:sp>
      <p:sp>
        <p:nvSpPr>
          <p:cNvPr id="8" name="TextBox 7"/>
          <p:cNvSpPr txBox="1"/>
          <p:nvPr/>
        </p:nvSpPr>
        <p:spPr>
          <a:xfrm>
            <a:off x="594360" y="1691640"/>
            <a:ext cx="9692640" cy="384048"/>
          </a:xfrm>
          <a:prstGeom prst="rect">
            <a:avLst/>
          </a:prstGeom>
          <a:noFill/>
        </p:spPr>
        <p:txBody>
          <a:bodyPr wrap="square" lIns="0" tIns="0" rIns="0" bIns="0" anchor="t">
            <a:spAutoFit/>
          </a:bodyPr>
          <a:lstStyle/>
          <a:p>
            <a:pPr algn="l">
              <a:spcBef>
                <a:spcPts val="0"/>
              </a:spcBef>
              <a:spcAft>
                <a:spcPts val="0"/>
              </a:spcAft>
            </a:pPr>
            <a:r>
              <a:rPr sz="1400" b="0" i="0">
                <a:solidFill>
                  <a:srgbClr val="9C9C9C"/>
                </a:solidFill>
                <a:latin typeface="Inter"/>
              </a:rPr>
              <a:t>A generic assistant returns an answer. Avenire compounds learning.</a:t>
            </a:r>
          </a:p>
        </p:txBody>
      </p:sp>
      <p:sp>
        <p:nvSpPr>
          <p:cNvPr id="9" name="Oval 8"/>
          <p:cNvSpPr/>
          <p:nvPr/>
        </p:nvSpPr>
        <p:spPr>
          <a:xfrm>
            <a:off x="1051560" y="2856324"/>
            <a:ext cx="658368" cy="658368"/>
          </a:xfrm>
          <a:prstGeom prst="ellipse">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141414"/>
                </a:solidFill>
              </a:rPr>
              <a:t>1</a:t>
            </a:r>
            <a:endParaRPr dirty="0">
              <a:solidFill>
                <a:srgbClr val="141414"/>
              </a:solidFill>
            </a:endParaRPr>
          </a:p>
        </p:txBody>
      </p:sp>
      <p:sp>
        <p:nvSpPr>
          <p:cNvPr id="11" name="TextBox 10"/>
          <p:cNvSpPr txBox="1"/>
          <p:nvPr/>
        </p:nvSpPr>
        <p:spPr>
          <a:xfrm>
            <a:off x="731519" y="3770724"/>
            <a:ext cx="1298448" cy="228600"/>
          </a:xfrm>
          <a:prstGeom prst="rect">
            <a:avLst/>
          </a:prstGeom>
          <a:noFill/>
        </p:spPr>
        <p:txBody>
          <a:bodyPr wrap="square" lIns="0" tIns="0" rIns="0" bIns="0" anchor="t">
            <a:spAutoFit/>
          </a:bodyPr>
          <a:lstStyle/>
          <a:p>
            <a:pPr algn="ctr">
              <a:spcBef>
                <a:spcPts val="0"/>
              </a:spcBef>
              <a:spcAft>
                <a:spcPts val="0"/>
              </a:spcAft>
            </a:pPr>
            <a:r>
              <a:rPr sz="1200" b="1" i="0">
                <a:solidFill>
                  <a:srgbClr val="E4E4E4"/>
                </a:solidFill>
                <a:latin typeface="Inter"/>
              </a:rPr>
              <a:t>Conversation</a:t>
            </a:r>
          </a:p>
        </p:txBody>
      </p:sp>
      <p:cxnSp>
        <p:nvCxnSpPr>
          <p:cNvPr id="12" name="Connector 11"/>
          <p:cNvCxnSpPr/>
          <p:nvPr/>
        </p:nvCxnSpPr>
        <p:spPr>
          <a:xfrm>
            <a:off x="1783080" y="3185508"/>
            <a:ext cx="1325880" cy="0"/>
          </a:xfrm>
          <a:prstGeom prst="line">
            <a:avLst/>
          </a:prstGeom>
          <a:ln w="20320">
            <a:solidFill>
              <a:srgbClr val="ABC4FF"/>
            </a:solidFill>
          </a:ln>
        </p:spPr>
        <p:style>
          <a:lnRef idx="2">
            <a:schemeClr val="accent1"/>
          </a:lnRef>
          <a:fillRef idx="0">
            <a:schemeClr val="accent1"/>
          </a:fillRef>
          <a:effectRef idx="1">
            <a:schemeClr val="accent1"/>
          </a:effectRef>
          <a:fontRef idx="minor">
            <a:schemeClr val="tx1"/>
          </a:fontRef>
        </p:style>
      </p:cxnSp>
      <p:sp>
        <p:nvSpPr>
          <p:cNvPr id="13" name="Chevron 12"/>
          <p:cNvSpPr/>
          <p:nvPr/>
        </p:nvSpPr>
        <p:spPr>
          <a:xfrm>
            <a:off x="2999232" y="3048348"/>
            <a:ext cx="201168" cy="274320"/>
          </a:xfrm>
          <a:prstGeom prst="chevron">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200400" y="2856324"/>
            <a:ext cx="658368" cy="658368"/>
          </a:xfrm>
          <a:prstGeom prst="ellipse">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141414"/>
                </a:solidFill>
              </a:rPr>
              <a:t>2</a:t>
            </a:r>
            <a:endParaRPr dirty="0">
              <a:solidFill>
                <a:srgbClr val="141414"/>
              </a:solidFill>
            </a:endParaRPr>
          </a:p>
        </p:txBody>
      </p:sp>
      <p:sp>
        <p:nvSpPr>
          <p:cNvPr id="16" name="TextBox 15"/>
          <p:cNvSpPr txBox="1"/>
          <p:nvPr/>
        </p:nvSpPr>
        <p:spPr>
          <a:xfrm>
            <a:off x="2880360" y="3770724"/>
            <a:ext cx="1298448" cy="228600"/>
          </a:xfrm>
          <a:prstGeom prst="rect">
            <a:avLst/>
          </a:prstGeom>
          <a:noFill/>
        </p:spPr>
        <p:txBody>
          <a:bodyPr wrap="square" lIns="0" tIns="0" rIns="0" bIns="0" anchor="t">
            <a:spAutoFit/>
          </a:bodyPr>
          <a:lstStyle/>
          <a:p>
            <a:pPr algn="ctr">
              <a:spcBef>
                <a:spcPts val="0"/>
              </a:spcBef>
              <a:spcAft>
                <a:spcPts val="0"/>
              </a:spcAft>
            </a:pPr>
            <a:r>
              <a:rPr sz="1200" b="1" i="0">
                <a:solidFill>
                  <a:srgbClr val="E4E4E4"/>
                </a:solidFill>
                <a:latin typeface="Inter"/>
              </a:rPr>
              <a:t>Knowledge</a:t>
            </a:r>
          </a:p>
        </p:txBody>
      </p:sp>
      <p:cxnSp>
        <p:nvCxnSpPr>
          <p:cNvPr id="17" name="Connector 16"/>
          <p:cNvCxnSpPr/>
          <p:nvPr/>
        </p:nvCxnSpPr>
        <p:spPr>
          <a:xfrm>
            <a:off x="3931920" y="3185508"/>
            <a:ext cx="1325880" cy="0"/>
          </a:xfrm>
          <a:prstGeom prst="line">
            <a:avLst/>
          </a:prstGeom>
          <a:ln w="20320">
            <a:solidFill>
              <a:srgbClr val="78C4D5"/>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5148072" y="3048348"/>
            <a:ext cx="201168" cy="274320"/>
          </a:xfrm>
          <a:prstGeom prst="chevron">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5349240" y="2856324"/>
            <a:ext cx="658368" cy="658368"/>
          </a:xfrm>
          <a:prstGeom prst="ellipse">
            <a:avLst/>
          </a:prstGeom>
          <a:solidFill>
            <a:srgbClr val="F0A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141414"/>
                </a:solidFill>
              </a:rPr>
              <a:t>3</a:t>
            </a:r>
            <a:endParaRPr dirty="0">
              <a:solidFill>
                <a:srgbClr val="141414"/>
              </a:solidFill>
            </a:endParaRPr>
          </a:p>
        </p:txBody>
      </p:sp>
      <p:sp>
        <p:nvSpPr>
          <p:cNvPr id="21" name="TextBox 20"/>
          <p:cNvSpPr txBox="1"/>
          <p:nvPr/>
        </p:nvSpPr>
        <p:spPr>
          <a:xfrm>
            <a:off x="5029200" y="3770724"/>
            <a:ext cx="1298448" cy="228600"/>
          </a:xfrm>
          <a:prstGeom prst="rect">
            <a:avLst/>
          </a:prstGeom>
          <a:noFill/>
        </p:spPr>
        <p:txBody>
          <a:bodyPr wrap="square" lIns="0" tIns="0" rIns="0" bIns="0" anchor="ctr">
            <a:spAutoFit/>
          </a:bodyPr>
          <a:lstStyle/>
          <a:p>
            <a:pPr algn="ctr">
              <a:spcBef>
                <a:spcPts val="0"/>
              </a:spcBef>
              <a:spcAft>
                <a:spcPts val="0"/>
              </a:spcAft>
            </a:pPr>
            <a:r>
              <a:rPr sz="1200" b="1" i="0">
                <a:solidFill>
                  <a:srgbClr val="E4E4E4"/>
                </a:solidFill>
                <a:latin typeface="Inter"/>
              </a:rPr>
              <a:t>Notes</a:t>
            </a:r>
          </a:p>
        </p:txBody>
      </p:sp>
      <p:cxnSp>
        <p:nvCxnSpPr>
          <p:cNvPr id="22" name="Connector 21"/>
          <p:cNvCxnSpPr/>
          <p:nvPr/>
        </p:nvCxnSpPr>
        <p:spPr>
          <a:xfrm>
            <a:off x="6080759" y="3185508"/>
            <a:ext cx="1325881" cy="0"/>
          </a:xfrm>
          <a:prstGeom prst="line">
            <a:avLst/>
          </a:prstGeom>
          <a:ln w="20320">
            <a:solidFill>
              <a:srgbClr val="F0A873"/>
            </a:solidFill>
          </a:ln>
        </p:spPr>
        <p:style>
          <a:lnRef idx="2">
            <a:schemeClr val="accent1"/>
          </a:lnRef>
          <a:fillRef idx="0">
            <a:schemeClr val="accent1"/>
          </a:fillRef>
          <a:effectRef idx="1">
            <a:schemeClr val="accent1"/>
          </a:effectRef>
          <a:fontRef idx="minor">
            <a:schemeClr val="tx1"/>
          </a:fontRef>
        </p:style>
      </p:cxnSp>
      <p:sp>
        <p:nvSpPr>
          <p:cNvPr id="23" name="Chevron 22"/>
          <p:cNvSpPr/>
          <p:nvPr/>
        </p:nvSpPr>
        <p:spPr>
          <a:xfrm>
            <a:off x="7296912" y="3048348"/>
            <a:ext cx="201168" cy="274320"/>
          </a:xfrm>
          <a:prstGeom prst="chevron">
            <a:avLst/>
          </a:prstGeom>
          <a:solidFill>
            <a:srgbClr val="F0A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7498079" y="2856324"/>
            <a:ext cx="658368" cy="658368"/>
          </a:xfrm>
          <a:prstGeom prst="ellipse">
            <a:avLst/>
          </a:prstGeom>
          <a:solidFill>
            <a:srgbClr val="ED84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141414"/>
                </a:solidFill>
              </a:rPr>
              <a:t>4</a:t>
            </a:r>
            <a:endParaRPr dirty="0">
              <a:solidFill>
                <a:srgbClr val="141414"/>
              </a:solidFill>
            </a:endParaRPr>
          </a:p>
        </p:txBody>
      </p:sp>
      <p:sp>
        <p:nvSpPr>
          <p:cNvPr id="26" name="TextBox 25"/>
          <p:cNvSpPr txBox="1"/>
          <p:nvPr/>
        </p:nvSpPr>
        <p:spPr>
          <a:xfrm>
            <a:off x="7178040" y="3770724"/>
            <a:ext cx="1298448" cy="228600"/>
          </a:xfrm>
          <a:prstGeom prst="rect">
            <a:avLst/>
          </a:prstGeom>
          <a:noFill/>
        </p:spPr>
        <p:txBody>
          <a:bodyPr wrap="square" lIns="0" tIns="0" rIns="0" bIns="0" anchor="t">
            <a:spAutoFit/>
          </a:bodyPr>
          <a:lstStyle/>
          <a:p>
            <a:pPr algn="ctr">
              <a:spcBef>
                <a:spcPts val="0"/>
              </a:spcBef>
              <a:spcAft>
                <a:spcPts val="0"/>
              </a:spcAft>
            </a:pPr>
            <a:r>
              <a:rPr sz="1200" b="1" i="0">
                <a:solidFill>
                  <a:srgbClr val="E4E4E4"/>
                </a:solidFill>
                <a:latin typeface="Inter"/>
              </a:rPr>
              <a:t>Practice</a:t>
            </a:r>
          </a:p>
        </p:txBody>
      </p:sp>
      <p:cxnSp>
        <p:nvCxnSpPr>
          <p:cNvPr id="27" name="Connector 26"/>
          <p:cNvCxnSpPr/>
          <p:nvPr/>
        </p:nvCxnSpPr>
        <p:spPr>
          <a:xfrm>
            <a:off x="8229600" y="3185508"/>
            <a:ext cx="1325880" cy="0"/>
          </a:xfrm>
          <a:prstGeom prst="line">
            <a:avLst/>
          </a:prstGeom>
          <a:ln w="20320">
            <a:solidFill>
              <a:srgbClr val="ED84BD"/>
            </a:solidFill>
          </a:ln>
        </p:spPr>
        <p:style>
          <a:lnRef idx="2">
            <a:schemeClr val="accent1"/>
          </a:lnRef>
          <a:fillRef idx="0">
            <a:schemeClr val="accent1"/>
          </a:fillRef>
          <a:effectRef idx="1">
            <a:schemeClr val="accent1"/>
          </a:effectRef>
          <a:fontRef idx="minor">
            <a:schemeClr val="tx1"/>
          </a:fontRef>
        </p:style>
      </p:cxnSp>
      <p:sp>
        <p:nvSpPr>
          <p:cNvPr id="28" name="Chevron 27"/>
          <p:cNvSpPr/>
          <p:nvPr/>
        </p:nvSpPr>
        <p:spPr>
          <a:xfrm>
            <a:off x="9445752" y="3048348"/>
            <a:ext cx="201168" cy="274320"/>
          </a:xfrm>
          <a:prstGeom prst="chevron">
            <a:avLst/>
          </a:prstGeom>
          <a:solidFill>
            <a:srgbClr val="ED84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9646920" y="2856324"/>
            <a:ext cx="658368" cy="658368"/>
          </a:xfrm>
          <a:prstGeom prst="ellipse">
            <a:avLst/>
          </a:prstGeom>
          <a:solidFill>
            <a:srgbClr val="A99A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141414"/>
                </a:solidFill>
              </a:rPr>
              <a:t>5</a:t>
            </a:r>
          </a:p>
        </p:txBody>
      </p:sp>
      <p:sp>
        <p:nvSpPr>
          <p:cNvPr id="31" name="TextBox 30"/>
          <p:cNvSpPr txBox="1"/>
          <p:nvPr/>
        </p:nvSpPr>
        <p:spPr>
          <a:xfrm>
            <a:off x="9326880" y="3770724"/>
            <a:ext cx="1298448" cy="228600"/>
          </a:xfrm>
          <a:prstGeom prst="rect">
            <a:avLst/>
          </a:prstGeom>
          <a:noFill/>
        </p:spPr>
        <p:txBody>
          <a:bodyPr wrap="square" lIns="0" tIns="0" rIns="0" bIns="0" anchor="t">
            <a:spAutoFit/>
          </a:bodyPr>
          <a:lstStyle/>
          <a:p>
            <a:pPr algn="ctr">
              <a:spcBef>
                <a:spcPts val="0"/>
              </a:spcBef>
              <a:spcAft>
                <a:spcPts val="0"/>
              </a:spcAft>
            </a:pPr>
            <a:r>
              <a:rPr sz="1200" b="1" i="0">
                <a:solidFill>
                  <a:srgbClr val="E4E4E4"/>
                </a:solidFill>
                <a:latin typeface="Inter"/>
              </a:rPr>
              <a:t>Memory + review</a:t>
            </a:r>
          </a:p>
        </p:txBody>
      </p:sp>
      <p:cxnSp>
        <p:nvCxnSpPr>
          <p:cNvPr id="32" name="Connector 31"/>
          <p:cNvCxnSpPr/>
          <p:nvPr/>
        </p:nvCxnSpPr>
        <p:spPr>
          <a:xfrm flipV="1">
            <a:off x="10058400" y="2216244"/>
            <a:ext cx="0" cy="640080"/>
          </a:xfrm>
          <a:prstGeom prst="line">
            <a:avLst/>
          </a:prstGeom>
          <a:ln w="17780">
            <a:solidFill>
              <a:srgbClr val="A99AD1"/>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1371600" y="2216244"/>
            <a:ext cx="8686800" cy="0"/>
          </a:xfrm>
          <a:prstGeom prst="line">
            <a:avLst/>
          </a:prstGeom>
          <a:ln w="17780">
            <a:solidFill>
              <a:srgbClr val="A99AD1"/>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371600" y="2216244"/>
            <a:ext cx="0" cy="594360"/>
          </a:xfrm>
          <a:prstGeom prst="line">
            <a:avLst/>
          </a:prstGeom>
          <a:ln w="17780">
            <a:solidFill>
              <a:srgbClr val="A99AD1"/>
            </a:solidFill>
          </a:ln>
        </p:spPr>
        <p:style>
          <a:lnRef idx="2">
            <a:schemeClr val="accent1"/>
          </a:lnRef>
          <a:fillRef idx="0">
            <a:schemeClr val="accent1"/>
          </a:fillRef>
          <a:effectRef idx="1">
            <a:schemeClr val="accent1"/>
          </a:effectRef>
          <a:fontRef idx="minor">
            <a:schemeClr val="tx1"/>
          </a:fontRef>
        </p:style>
      </p:cxnSp>
      <p:sp>
        <p:nvSpPr>
          <p:cNvPr id="35" name="Chevron 34"/>
          <p:cNvSpPr/>
          <p:nvPr/>
        </p:nvSpPr>
        <p:spPr>
          <a:xfrm rot="5610272">
            <a:off x="1243584" y="2578044"/>
            <a:ext cx="256032" cy="274320"/>
          </a:xfrm>
          <a:prstGeom prst="chevron">
            <a:avLst/>
          </a:prstGeom>
          <a:solidFill>
            <a:srgbClr val="A99A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94360" y="5697090"/>
            <a:ext cx="10881360" cy="411480"/>
          </a:xfrm>
          <a:prstGeom prst="rect">
            <a:avLst/>
          </a:prstGeom>
          <a:noFill/>
        </p:spPr>
        <p:txBody>
          <a:bodyPr wrap="square" lIns="0" tIns="0" rIns="0" bIns="0" anchor="t">
            <a:spAutoFit/>
          </a:bodyPr>
          <a:lstStyle/>
          <a:p>
            <a:pPr algn="ctr">
              <a:spcBef>
                <a:spcPts val="0"/>
              </a:spcBef>
              <a:spcAft>
                <a:spcPts val="0"/>
              </a:spcAft>
            </a:pPr>
            <a:r>
              <a:rPr sz="2200" b="1" i="0">
                <a:solidFill>
                  <a:srgbClr val="ABC4FF"/>
                </a:solidFill>
                <a:latin typeface="Inter"/>
              </a:rPr>
              <a:t>One continuous learning loop — with review that compounds.</a:t>
            </a:r>
          </a:p>
        </p:txBody>
      </p:sp>
      <p:cxnSp>
        <p:nvCxnSpPr>
          <p:cNvPr id="37" name="Connector 36"/>
          <p:cNvCxnSpPr/>
          <p:nvPr/>
        </p:nvCxnSpPr>
        <p:spPr>
          <a:xfrm>
            <a:off x="594360" y="6464808"/>
            <a:ext cx="11002975"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94360" y="6574536"/>
            <a:ext cx="3474720" cy="146304"/>
          </a:xfrm>
          <a:prstGeom prst="rect">
            <a:avLst/>
          </a:prstGeom>
          <a:noFill/>
        </p:spPr>
        <p:txBody>
          <a:bodyPr wrap="square" lIns="0" tIns="0" rIns="0" bIns="0" anchor="t">
            <a:spAutoFit/>
          </a:bodyPr>
          <a:lstStyle/>
          <a:p>
            <a:pPr algn="l">
              <a:spcBef>
                <a:spcPts val="0"/>
              </a:spcBef>
              <a:spcAft>
                <a:spcPts val="0"/>
              </a:spcAft>
            </a:pPr>
            <a:r>
              <a:rPr sz="850" b="0" i="0">
                <a:solidFill>
                  <a:srgbClr val="6E6E6E"/>
                </a:solidFill>
                <a:latin typeface="Cascadia Mono"/>
              </a:rPr>
              <a:t>Avenire / learning that remembers</a:t>
            </a:r>
          </a:p>
        </p:txBody>
      </p:sp>
      <p:sp>
        <p:nvSpPr>
          <p:cNvPr id="39" name="TextBox 38"/>
          <p:cNvSpPr txBox="1"/>
          <p:nvPr/>
        </p:nvSpPr>
        <p:spPr>
          <a:xfrm>
            <a:off x="822960" y="4572000"/>
            <a:ext cx="2377440" cy="201168"/>
          </a:xfrm>
          <a:prstGeom prst="rect">
            <a:avLst/>
          </a:prstGeom>
          <a:noFill/>
        </p:spPr>
        <p:txBody>
          <a:bodyPr wrap="square" lIns="0" tIns="0" rIns="0" bIns="0" anchor="t">
            <a:spAutoFit/>
          </a:bodyPr>
          <a:lstStyle/>
          <a:p>
            <a:pPr algn="l">
              <a:spcBef>
                <a:spcPts val="0"/>
              </a:spcBef>
              <a:spcAft>
                <a:spcPts val="0"/>
              </a:spcAft>
            </a:pPr>
            <a:r>
              <a:rPr sz="1300" b="1" i="0">
                <a:solidFill>
                  <a:srgbClr val="F0A873"/>
                </a:solidFill>
                <a:latin typeface="Inter"/>
              </a:rPr>
              <a:t>Misconception engine</a:t>
            </a:r>
          </a:p>
        </p:txBody>
      </p:sp>
      <p:sp>
        <p:nvSpPr>
          <p:cNvPr id="40" name="TextBox 39"/>
          <p:cNvSpPr txBox="1"/>
          <p:nvPr/>
        </p:nvSpPr>
        <p:spPr>
          <a:xfrm>
            <a:off x="822960" y="4864608"/>
            <a:ext cx="3886200" cy="201168"/>
          </a:xfrm>
          <a:prstGeom prst="rect">
            <a:avLst/>
          </a:prstGeom>
          <a:noFill/>
        </p:spPr>
        <p:txBody>
          <a:bodyPr wrap="square" lIns="0" tIns="0" rIns="0" bIns="0" anchor="t">
            <a:spAutoFit/>
          </a:bodyPr>
          <a:lstStyle/>
          <a:p>
            <a:pPr algn="l">
              <a:spcBef>
                <a:spcPts val="0"/>
              </a:spcBef>
              <a:spcAft>
                <a:spcPts val="0"/>
              </a:spcAft>
            </a:pPr>
            <a:r>
              <a:rPr sz="1050" b="0" i="0">
                <a:solidFill>
                  <a:srgbClr val="9C9C9C"/>
                </a:solidFill>
                <a:latin typeface="Inter"/>
              </a:rPr>
              <a:t>Diagnose what is wrong, not only what was missed.</a:t>
            </a:r>
          </a:p>
        </p:txBody>
      </p:sp>
      <p:sp>
        <p:nvSpPr>
          <p:cNvPr id="41" name="TextBox 40"/>
          <p:cNvSpPr txBox="1"/>
          <p:nvPr/>
        </p:nvSpPr>
        <p:spPr>
          <a:xfrm>
            <a:off x="7589520" y="4572000"/>
            <a:ext cx="2377440" cy="201168"/>
          </a:xfrm>
          <a:prstGeom prst="rect">
            <a:avLst/>
          </a:prstGeom>
          <a:noFill/>
        </p:spPr>
        <p:txBody>
          <a:bodyPr wrap="square" lIns="0" tIns="0" rIns="0" bIns="0" anchor="t">
            <a:spAutoFit/>
          </a:bodyPr>
          <a:lstStyle/>
          <a:p>
            <a:pPr algn="l">
              <a:spcBef>
                <a:spcPts val="0"/>
              </a:spcBef>
              <a:spcAft>
                <a:spcPts val="0"/>
              </a:spcAft>
            </a:pPr>
            <a:r>
              <a:rPr sz="1300" b="1" i="0">
                <a:solidFill>
                  <a:srgbClr val="78C4D5"/>
                </a:solidFill>
                <a:latin typeface="Inter"/>
              </a:rPr>
              <a:t>Spaced repetition</a:t>
            </a:r>
          </a:p>
        </p:txBody>
      </p:sp>
      <p:sp>
        <p:nvSpPr>
          <p:cNvPr id="42" name="TextBox 41"/>
          <p:cNvSpPr txBox="1"/>
          <p:nvPr/>
        </p:nvSpPr>
        <p:spPr>
          <a:xfrm>
            <a:off x="7589520" y="4864608"/>
            <a:ext cx="3657600" cy="201168"/>
          </a:xfrm>
          <a:prstGeom prst="rect">
            <a:avLst/>
          </a:prstGeom>
          <a:noFill/>
        </p:spPr>
        <p:txBody>
          <a:bodyPr wrap="square" lIns="0" tIns="0" rIns="0" bIns="0" anchor="t">
            <a:spAutoFit/>
          </a:bodyPr>
          <a:lstStyle/>
          <a:p>
            <a:pPr algn="l">
              <a:spcBef>
                <a:spcPts val="0"/>
              </a:spcBef>
              <a:spcAft>
                <a:spcPts val="0"/>
              </a:spcAft>
            </a:pPr>
            <a:r>
              <a:rPr sz="1050" b="0" i="0">
                <a:solidFill>
                  <a:srgbClr val="9C9C9C"/>
                </a:solidFill>
                <a:latin typeface="Inter"/>
              </a:rPr>
              <a:t>Bring the right concept back when memory needs it.</a:t>
            </a:r>
          </a:p>
        </p:txBody>
      </p:sp>
      <p:sp>
        <p:nvSpPr>
          <p:cNvPr id="44" name="TextBox 43"/>
          <p:cNvSpPr txBox="1"/>
          <p:nvPr/>
        </p:nvSpPr>
        <p:spPr>
          <a:xfrm>
            <a:off x="822960" y="4864608"/>
            <a:ext cx="3886200" cy="201168"/>
          </a:xfrm>
          <a:prstGeom prst="rect">
            <a:avLst/>
          </a:prstGeom>
          <a:noFill/>
        </p:spPr>
        <p:txBody>
          <a:bodyPr wrap="square" lIns="0" tIns="0" rIns="0" bIns="0" anchor="t">
            <a:spAutoFit/>
          </a:bodyPr>
          <a:lstStyle/>
          <a:p>
            <a:pPr algn="l">
              <a:spcBef>
                <a:spcPts val="0"/>
              </a:spcBef>
              <a:spcAft>
                <a:spcPts val="0"/>
              </a:spcAft>
            </a:pPr>
            <a:r>
              <a:rPr sz="1050" b="0" i="0">
                <a:solidFill>
                  <a:srgbClr val="9C9C9C"/>
                </a:solidFill>
                <a:latin typeface="Inter"/>
              </a:rPr>
              <a:t>Diagnose what is wrong, not only what was missed.</a:t>
            </a:r>
          </a:p>
        </p:txBody>
      </p:sp>
      <p:sp>
        <p:nvSpPr>
          <p:cNvPr id="46" name="TextBox 45"/>
          <p:cNvSpPr txBox="1"/>
          <p:nvPr/>
        </p:nvSpPr>
        <p:spPr>
          <a:xfrm>
            <a:off x="7589520" y="4864608"/>
            <a:ext cx="3657600" cy="201168"/>
          </a:xfrm>
          <a:prstGeom prst="rect">
            <a:avLst/>
          </a:prstGeom>
          <a:noFill/>
        </p:spPr>
        <p:txBody>
          <a:bodyPr wrap="square" lIns="0" tIns="0" rIns="0" bIns="0" anchor="t">
            <a:spAutoFit/>
          </a:bodyPr>
          <a:lstStyle/>
          <a:p>
            <a:pPr algn="l">
              <a:spcBef>
                <a:spcPts val="0"/>
              </a:spcBef>
              <a:spcAft>
                <a:spcPts val="0"/>
              </a:spcAft>
            </a:pPr>
            <a:r>
              <a:rPr sz="1050" b="0" i="0">
                <a:solidFill>
                  <a:srgbClr val="9C9C9C"/>
                </a:solidFill>
                <a:latin typeface="Inter"/>
              </a:rPr>
              <a:t>Bring the right concept back when memory needs it.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venire-logo-full.png"/>
          <p:cNvPicPr>
            <a:picLocks noChangeAspect="1"/>
          </p:cNvPicPr>
          <p:nvPr/>
        </p:nvPicPr>
        <p:blipFill>
          <a:blip r:embed="rId3"/>
          <a:stretch>
            <a:fillRect/>
          </a:stretch>
        </p:blipFill>
        <p:spPr>
          <a:xfrm>
            <a:off x="594360" y="256032"/>
            <a:ext cx="210312" cy="210312"/>
          </a:xfrm>
          <a:prstGeom prst="rect">
            <a:avLst/>
          </a:prstGeom>
        </p:spPr>
      </p:pic>
      <p:sp>
        <p:nvSpPr>
          <p:cNvPr id="4" name="TextBox 3"/>
          <p:cNvSpPr txBox="1"/>
          <p:nvPr/>
        </p:nvSpPr>
        <p:spPr>
          <a:xfrm>
            <a:off x="877824" y="237744"/>
            <a:ext cx="822960" cy="237744"/>
          </a:xfrm>
          <a:prstGeom prst="rect">
            <a:avLst/>
          </a:prstGeom>
          <a:noFill/>
        </p:spPr>
        <p:txBody>
          <a:bodyPr wrap="square" lIns="0" tIns="0" rIns="0" bIns="0" anchor="ctr">
            <a:spAutoFit/>
          </a:bodyPr>
          <a:lstStyle/>
          <a:p>
            <a:pPr algn="l">
              <a:spcBef>
                <a:spcPts val="0"/>
              </a:spcBef>
              <a:spcAft>
                <a:spcPts val="0"/>
              </a:spcAft>
            </a:pPr>
            <a:r>
              <a:rPr sz="1100" b="1" i="0">
                <a:solidFill>
                  <a:srgbClr val="E4E4E4"/>
                </a:solidFill>
                <a:latin typeface="Inter"/>
              </a:rPr>
              <a:t>Avenire</a:t>
            </a:r>
          </a:p>
        </p:txBody>
      </p:sp>
      <p:sp>
        <p:nvSpPr>
          <p:cNvPr id="5" name="TextBox 4"/>
          <p:cNvSpPr txBox="1"/>
          <p:nvPr/>
        </p:nvSpPr>
        <p:spPr>
          <a:xfrm>
            <a:off x="11277295" y="265176"/>
            <a:ext cx="320040" cy="182880"/>
          </a:xfrm>
          <a:prstGeom prst="rect">
            <a:avLst/>
          </a:prstGeom>
          <a:noFill/>
        </p:spPr>
        <p:txBody>
          <a:bodyPr wrap="square" lIns="0" tIns="0" rIns="0" bIns="0" anchor="t">
            <a:spAutoFit/>
          </a:bodyPr>
          <a:lstStyle/>
          <a:p>
            <a:pPr algn="r">
              <a:spcBef>
                <a:spcPts val="0"/>
              </a:spcBef>
              <a:spcAft>
                <a:spcPts val="0"/>
              </a:spcAft>
            </a:pPr>
            <a:r>
              <a:rPr sz="900" b="0" i="0">
                <a:solidFill>
                  <a:srgbClr val="6E6E6E"/>
                </a:solidFill>
                <a:latin typeface="Cascadia Mono"/>
              </a:rPr>
              <a:t>08</a:t>
            </a:r>
          </a:p>
        </p:txBody>
      </p:sp>
      <p:sp>
        <p:nvSpPr>
          <p:cNvPr id="6" name="TextBox 5"/>
          <p:cNvSpPr txBox="1"/>
          <p:nvPr/>
        </p:nvSpPr>
        <p:spPr>
          <a:xfrm>
            <a:off x="594360" y="749808"/>
            <a:ext cx="5303520" cy="201168"/>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THE TECHNOLOGY</a:t>
            </a:r>
          </a:p>
        </p:txBody>
      </p:sp>
      <p:sp>
        <p:nvSpPr>
          <p:cNvPr id="7" name="TextBox 6"/>
          <p:cNvSpPr txBox="1"/>
          <p:nvPr/>
        </p:nvSpPr>
        <p:spPr>
          <a:xfrm>
            <a:off x="594360" y="1005840"/>
            <a:ext cx="10789920" cy="640080"/>
          </a:xfrm>
          <a:prstGeom prst="rect">
            <a:avLst/>
          </a:prstGeom>
          <a:noFill/>
        </p:spPr>
        <p:txBody>
          <a:bodyPr wrap="square" lIns="0" tIns="0" rIns="0" bIns="0" anchor="t">
            <a:spAutoFit/>
          </a:bodyPr>
          <a:lstStyle/>
          <a:p>
            <a:pPr algn="l">
              <a:spcBef>
                <a:spcPts val="0"/>
              </a:spcBef>
              <a:spcAft>
                <a:spcPts val="0"/>
              </a:spcAft>
            </a:pPr>
            <a:r>
              <a:rPr sz="3000" b="1" i="0">
                <a:solidFill>
                  <a:srgbClr val="E4E4E4"/>
                </a:solidFill>
                <a:latin typeface="Inter"/>
              </a:rPr>
              <a:t>A learning intelligence layer underneath.</a:t>
            </a:r>
          </a:p>
        </p:txBody>
      </p:sp>
      <p:sp>
        <p:nvSpPr>
          <p:cNvPr id="8" name="TextBox 7"/>
          <p:cNvSpPr txBox="1"/>
          <p:nvPr/>
        </p:nvSpPr>
        <p:spPr>
          <a:xfrm>
            <a:off x="594360" y="1691640"/>
            <a:ext cx="9692640" cy="384048"/>
          </a:xfrm>
          <a:prstGeom prst="rect">
            <a:avLst/>
          </a:prstGeom>
          <a:noFill/>
        </p:spPr>
        <p:txBody>
          <a:bodyPr wrap="square" lIns="0" tIns="0" rIns="0" bIns="0" anchor="t">
            <a:spAutoFit/>
          </a:bodyPr>
          <a:lstStyle/>
          <a:p>
            <a:pPr algn="l">
              <a:spcBef>
                <a:spcPts val="0"/>
              </a:spcBef>
              <a:spcAft>
                <a:spcPts val="0"/>
              </a:spcAft>
            </a:pPr>
            <a:r>
              <a:rPr sz="1400" b="0" i="0">
                <a:solidFill>
                  <a:srgbClr val="9C9C9C"/>
                </a:solidFill>
                <a:latin typeface="Inter"/>
              </a:rPr>
              <a:t>Multimodal material in. Contextual, evidence-aware learning out.</a:t>
            </a:r>
          </a:p>
        </p:txBody>
      </p:sp>
      <p:grpSp>
        <p:nvGrpSpPr>
          <p:cNvPr id="54" name="Group 53">
            <a:extLst>
              <a:ext uri="{FF2B5EF4-FFF2-40B4-BE49-F238E27FC236}">
                <a16:creationId xmlns:a16="http://schemas.microsoft.com/office/drawing/2014/main" id="{143F0C8D-883F-BA04-2E41-2E6B4962718B}"/>
              </a:ext>
            </a:extLst>
          </p:cNvPr>
          <p:cNvGrpSpPr/>
          <p:nvPr/>
        </p:nvGrpSpPr>
        <p:grpSpPr>
          <a:xfrm>
            <a:off x="1108592" y="2437846"/>
            <a:ext cx="2514600" cy="2743200"/>
            <a:chOff x="731520" y="2268561"/>
            <a:chExt cx="2514600" cy="2743200"/>
          </a:xfrm>
        </p:grpSpPr>
        <p:cxnSp>
          <p:nvCxnSpPr>
            <p:cNvPr id="9" name="Connector 8"/>
            <p:cNvCxnSpPr>
              <a:cxnSpLocks/>
            </p:cNvCxnSpPr>
            <p:nvPr/>
          </p:nvCxnSpPr>
          <p:spPr>
            <a:xfrm>
              <a:off x="731520" y="2570313"/>
              <a:ext cx="2514600" cy="0"/>
            </a:xfrm>
            <a:prstGeom prst="line">
              <a:avLst/>
            </a:prstGeom>
            <a:ln w="12700">
              <a:solidFill>
                <a:srgbClr val="34343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31520" y="2268561"/>
              <a:ext cx="2194560" cy="228600"/>
            </a:xfrm>
            <a:prstGeom prst="rect">
              <a:avLst/>
            </a:prstGeom>
            <a:noFill/>
          </p:spPr>
          <p:txBody>
            <a:bodyPr wrap="square" lIns="0" tIns="0" rIns="0" bIns="0" anchor="t">
              <a:spAutoFit/>
            </a:bodyPr>
            <a:lstStyle/>
            <a:p>
              <a:pPr algn="l">
                <a:spcBef>
                  <a:spcPts val="0"/>
                </a:spcBef>
                <a:spcAft>
                  <a:spcPts val="0"/>
                </a:spcAft>
              </a:pPr>
              <a:r>
                <a:rPr sz="1100" b="1" i="0">
                  <a:solidFill>
                    <a:srgbClr val="ABC4FF"/>
                  </a:solidFill>
                  <a:latin typeface="Cascadia Mono"/>
                </a:rPr>
                <a:t>YOUR MATERIAL</a:t>
              </a:r>
            </a:p>
          </p:txBody>
        </p:sp>
        <p:grpSp>
          <p:nvGrpSpPr>
            <p:cNvPr id="53" name="Group 52">
              <a:extLst>
                <a:ext uri="{FF2B5EF4-FFF2-40B4-BE49-F238E27FC236}">
                  <a16:creationId xmlns:a16="http://schemas.microsoft.com/office/drawing/2014/main" id="{F24A46D2-9756-B982-EFD6-28C067620A84}"/>
                </a:ext>
              </a:extLst>
            </p:cNvPr>
            <p:cNvGrpSpPr/>
            <p:nvPr/>
          </p:nvGrpSpPr>
          <p:grpSpPr>
            <a:xfrm>
              <a:off x="731520" y="2862921"/>
              <a:ext cx="2340864" cy="1481328"/>
              <a:chOff x="987552" y="2862921"/>
              <a:chExt cx="2340864" cy="1481328"/>
            </a:xfrm>
          </p:grpSpPr>
          <p:grpSp>
            <p:nvGrpSpPr>
              <p:cNvPr id="51" name="Group 50">
                <a:extLst>
                  <a:ext uri="{FF2B5EF4-FFF2-40B4-BE49-F238E27FC236}">
                    <a16:creationId xmlns:a16="http://schemas.microsoft.com/office/drawing/2014/main" id="{C2E63649-D7E1-FFB1-1DEC-D93FA15D3FBC}"/>
                  </a:ext>
                </a:extLst>
              </p:cNvPr>
              <p:cNvGrpSpPr/>
              <p:nvPr/>
            </p:nvGrpSpPr>
            <p:grpSpPr>
              <a:xfrm>
                <a:off x="987552" y="2862921"/>
                <a:ext cx="1088136" cy="1481328"/>
                <a:chOff x="987552" y="2862921"/>
                <a:chExt cx="1088136" cy="1481328"/>
              </a:xfrm>
            </p:grpSpPr>
            <p:grpSp>
              <p:nvGrpSpPr>
                <p:cNvPr id="47" name="Group 46">
                  <a:extLst>
                    <a:ext uri="{FF2B5EF4-FFF2-40B4-BE49-F238E27FC236}">
                      <a16:creationId xmlns:a16="http://schemas.microsoft.com/office/drawing/2014/main" id="{9B893950-4FB9-91D2-52B2-F571631AC739}"/>
                    </a:ext>
                  </a:extLst>
                </p:cNvPr>
                <p:cNvGrpSpPr/>
                <p:nvPr/>
              </p:nvGrpSpPr>
              <p:grpSpPr>
                <a:xfrm>
                  <a:off x="987552" y="2862921"/>
                  <a:ext cx="1088136" cy="201168"/>
                  <a:chOff x="987552" y="2862921"/>
                  <a:chExt cx="1088136" cy="201168"/>
                </a:xfrm>
              </p:grpSpPr>
              <p:sp>
                <p:nvSpPr>
                  <p:cNvPr id="11" name="Oval 10"/>
                  <p:cNvSpPr/>
                  <p:nvPr/>
                </p:nvSpPr>
                <p:spPr>
                  <a:xfrm>
                    <a:off x="987552" y="2890353"/>
                    <a:ext cx="146304" cy="146304"/>
                  </a:xfrm>
                  <a:prstGeom prst="ellipse">
                    <a:avLst/>
                  </a:prstGeom>
                  <a:solidFill>
                    <a:srgbClr val="F0A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07008" y="2862921"/>
                    <a:ext cx="868680" cy="201168"/>
                  </a:xfrm>
                  <a:prstGeom prst="rect">
                    <a:avLst/>
                  </a:prstGeom>
                  <a:noFill/>
                </p:spPr>
                <p:txBody>
                  <a:bodyPr wrap="square" lIns="0" tIns="0" rIns="0" bIns="0" anchor="t">
                    <a:spAutoFit/>
                  </a:bodyPr>
                  <a:lstStyle/>
                  <a:p>
                    <a:pPr algn="l">
                      <a:spcBef>
                        <a:spcPts val="0"/>
                      </a:spcBef>
                      <a:spcAft>
                        <a:spcPts val="0"/>
                      </a:spcAft>
                    </a:pPr>
                    <a:r>
                      <a:rPr sz="1100" b="0" i="0" dirty="0">
                        <a:solidFill>
                          <a:srgbClr val="E4E4E4"/>
                        </a:solidFill>
                        <a:latin typeface="Inter"/>
                      </a:rPr>
                      <a:t>PDFs</a:t>
                    </a:r>
                  </a:p>
                </p:txBody>
              </p:sp>
            </p:grpSp>
            <p:grpSp>
              <p:nvGrpSpPr>
                <p:cNvPr id="48" name="Group 47">
                  <a:extLst>
                    <a:ext uri="{FF2B5EF4-FFF2-40B4-BE49-F238E27FC236}">
                      <a16:creationId xmlns:a16="http://schemas.microsoft.com/office/drawing/2014/main" id="{F97AC932-C131-3631-CDAA-B34C05A3FEAC}"/>
                    </a:ext>
                  </a:extLst>
                </p:cNvPr>
                <p:cNvGrpSpPr/>
                <p:nvPr/>
              </p:nvGrpSpPr>
              <p:grpSpPr>
                <a:xfrm>
                  <a:off x="987552" y="3503001"/>
                  <a:ext cx="1088136" cy="201168"/>
                  <a:chOff x="987552" y="3503001"/>
                  <a:chExt cx="1088136" cy="201168"/>
                </a:xfrm>
              </p:grpSpPr>
              <p:sp>
                <p:nvSpPr>
                  <p:cNvPr id="15" name="Oval 14"/>
                  <p:cNvSpPr/>
                  <p:nvPr/>
                </p:nvSpPr>
                <p:spPr>
                  <a:xfrm>
                    <a:off x="987552" y="3530433"/>
                    <a:ext cx="146304" cy="146304"/>
                  </a:xfrm>
                  <a:prstGeom prst="ellipse">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207008" y="3503001"/>
                    <a:ext cx="868680" cy="201168"/>
                  </a:xfrm>
                  <a:prstGeom prst="rect">
                    <a:avLst/>
                  </a:prstGeom>
                  <a:noFill/>
                </p:spPr>
                <p:txBody>
                  <a:bodyPr wrap="square" lIns="0" tIns="0" rIns="0" bIns="0" anchor="t">
                    <a:spAutoFit/>
                  </a:bodyPr>
                  <a:lstStyle/>
                  <a:p>
                    <a:pPr algn="l">
                      <a:spcBef>
                        <a:spcPts val="0"/>
                      </a:spcBef>
                      <a:spcAft>
                        <a:spcPts val="0"/>
                      </a:spcAft>
                    </a:pPr>
                    <a:r>
                      <a:rPr sz="1100" b="0" i="0" dirty="0">
                        <a:solidFill>
                          <a:srgbClr val="E4E4E4"/>
                        </a:solidFill>
                        <a:latin typeface="Inter"/>
                      </a:rPr>
                      <a:t>Images</a:t>
                    </a:r>
                  </a:p>
                </p:txBody>
              </p:sp>
            </p:grpSp>
            <p:grpSp>
              <p:nvGrpSpPr>
                <p:cNvPr id="49" name="Group 48">
                  <a:extLst>
                    <a:ext uri="{FF2B5EF4-FFF2-40B4-BE49-F238E27FC236}">
                      <a16:creationId xmlns:a16="http://schemas.microsoft.com/office/drawing/2014/main" id="{29AB4F23-FF10-3C28-6E28-61464846B8CA}"/>
                    </a:ext>
                  </a:extLst>
                </p:cNvPr>
                <p:cNvGrpSpPr/>
                <p:nvPr/>
              </p:nvGrpSpPr>
              <p:grpSpPr>
                <a:xfrm>
                  <a:off x="987552" y="4143081"/>
                  <a:ext cx="1088136" cy="201168"/>
                  <a:chOff x="987552" y="4143081"/>
                  <a:chExt cx="1088136" cy="201168"/>
                </a:xfrm>
              </p:grpSpPr>
              <p:sp>
                <p:nvSpPr>
                  <p:cNvPr id="19" name="Oval 18"/>
                  <p:cNvSpPr/>
                  <p:nvPr/>
                </p:nvSpPr>
                <p:spPr>
                  <a:xfrm>
                    <a:off x="987552" y="4170513"/>
                    <a:ext cx="146304" cy="146304"/>
                  </a:xfrm>
                  <a:prstGeom prst="ellipse">
                    <a:avLst/>
                  </a:prstGeom>
                  <a:solidFill>
                    <a:srgbClr val="FFD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207008" y="4143081"/>
                    <a:ext cx="868680" cy="201168"/>
                  </a:xfrm>
                  <a:prstGeom prst="rect">
                    <a:avLst/>
                  </a:prstGeom>
                  <a:noFill/>
                </p:spPr>
                <p:txBody>
                  <a:bodyPr wrap="square" lIns="0" tIns="0" rIns="0" bIns="0" anchor="ctr">
                    <a:spAutoFit/>
                  </a:bodyPr>
                  <a:lstStyle/>
                  <a:p>
                    <a:pPr algn="l">
                      <a:spcBef>
                        <a:spcPts val="0"/>
                      </a:spcBef>
                      <a:spcAft>
                        <a:spcPts val="0"/>
                      </a:spcAft>
                    </a:pPr>
                    <a:r>
                      <a:rPr sz="1100" b="0" i="0" dirty="0">
                        <a:solidFill>
                          <a:srgbClr val="E4E4E4"/>
                        </a:solidFill>
                        <a:latin typeface="Inter"/>
                      </a:rPr>
                      <a:t>Notes</a:t>
                    </a:r>
                  </a:p>
                </p:txBody>
              </p:sp>
            </p:grpSp>
          </p:grpSp>
          <p:grpSp>
            <p:nvGrpSpPr>
              <p:cNvPr id="52" name="Group 51">
                <a:extLst>
                  <a:ext uri="{FF2B5EF4-FFF2-40B4-BE49-F238E27FC236}">
                    <a16:creationId xmlns:a16="http://schemas.microsoft.com/office/drawing/2014/main" id="{602FF9FE-9F52-325E-BF82-1F725235C63A}"/>
                  </a:ext>
                </a:extLst>
              </p:cNvPr>
              <p:cNvGrpSpPr/>
              <p:nvPr/>
            </p:nvGrpSpPr>
            <p:grpSpPr>
              <a:xfrm>
                <a:off x="2240280" y="2862921"/>
                <a:ext cx="1088136" cy="1481328"/>
                <a:chOff x="2240280" y="2862921"/>
                <a:chExt cx="1088136" cy="1481328"/>
              </a:xfrm>
            </p:grpSpPr>
            <p:grpSp>
              <p:nvGrpSpPr>
                <p:cNvPr id="40" name="Group 39">
                  <a:extLst>
                    <a:ext uri="{FF2B5EF4-FFF2-40B4-BE49-F238E27FC236}">
                      <a16:creationId xmlns:a16="http://schemas.microsoft.com/office/drawing/2014/main" id="{02EA2218-46C9-2A6E-824E-3F82ED179476}"/>
                    </a:ext>
                  </a:extLst>
                </p:cNvPr>
                <p:cNvGrpSpPr/>
                <p:nvPr/>
              </p:nvGrpSpPr>
              <p:grpSpPr>
                <a:xfrm>
                  <a:off x="2240280" y="2862921"/>
                  <a:ext cx="1088136" cy="201168"/>
                  <a:chOff x="2240280" y="2862921"/>
                  <a:chExt cx="1088136" cy="201168"/>
                </a:xfrm>
              </p:grpSpPr>
              <p:sp>
                <p:nvSpPr>
                  <p:cNvPr id="13" name="Oval 12"/>
                  <p:cNvSpPr/>
                  <p:nvPr/>
                </p:nvSpPr>
                <p:spPr>
                  <a:xfrm>
                    <a:off x="2240280" y="2890353"/>
                    <a:ext cx="146304" cy="146304"/>
                  </a:xfrm>
                  <a:prstGeom prst="ellipse">
                    <a:avLst/>
                  </a:prstGeom>
                  <a:solidFill>
                    <a:srgbClr val="ED84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459736" y="2862921"/>
                    <a:ext cx="868680" cy="201168"/>
                  </a:xfrm>
                  <a:prstGeom prst="rect">
                    <a:avLst/>
                  </a:prstGeom>
                  <a:noFill/>
                </p:spPr>
                <p:txBody>
                  <a:bodyPr wrap="square" lIns="0" tIns="0" rIns="0" bIns="0" anchor="t">
                    <a:spAutoFit/>
                  </a:bodyPr>
                  <a:lstStyle/>
                  <a:p>
                    <a:pPr algn="l">
                      <a:spcBef>
                        <a:spcPts val="0"/>
                      </a:spcBef>
                      <a:spcAft>
                        <a:spcPts val="0"/>
                      </a:spcAft>
                    </a:pPr>
                    <a:r>
                      <a:rPr sz="1100" b="0" i="0" dirty="0">
                        <a:solidFill>
                          <a:srgbClr val="E4E4E4"/>
                        </a:solidFill>
                        <a:latin typeface="Inter"/>
                      </a:rPr>
                      <a:t>Videos</a:t>
                    </a:r>
                  </a:p>
                </p:txBody>
              </p:sp>
            </p:grpSp>
            <p:grpSp>
              <p:nvGrpSpPr>
                <p:cNvPr id="39" name="Group 38">
                  <a:extLst>
                    <a:ext uri="{FF2B5EF4-FFF2-40B4-BE49-F238E27FC236}">
                      <a16:creationId xmlns:a16="http://schemas.microsoft.com/office/drawing/2014/main" id="{E885B34E-F515-3479-820C-634DA92C8E17}"/>
                    </a:ext>
                  </a:extLst>
                </p:cNvPr>
                <p:cNvGrpSpPr/>
                <p:nvPr/>
              </p:nvGrpSpPr>
              <p:grpSpPr>
                <a:xfrm>
                  <a:off x="2240280" y="3503001"/>
                  <a:ext cx="1088136" cy="201168"/>
                  <a:chOff x="2240280" y="3503001"/>
                  <a:chExt cx="1088136" cy="201168"/>
                </a:xfrm>
              </p:grpSpPr>
              <p:sp>
                <p:nvSpPr>
                  <p:cNvPr id="17" name="Oval 16"/>
                  <p:cNvSpPr/>
                  <p:nvPr/>
                </p:nvSpPr>
                <p:spPr>
                  <a:xfrm>
                    <a:off x="2240280" y="3530433"/>
                    <a:ext cx="146304" cy="146304"/>
                  </a:xfrm>
                  <a:prstGeom prst="ellipse">
                    <a:avLst/>
                  </a:prstGeom>
                  <a:solidFill>
                    <a:srgbClr val="A99A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459736" y="3503001"/>
                    <a:ext cx="868680" cy="201168"/>
                  </a:xfrm>
                  <a:prstGeom prst="rect">
                    <a:avLst/>
                  </a:prstGeom>
                  <a:noFill/>
                </p:spPr>
                <p:txBody>
                  <a:bodyPr wrap="square" lIns="0" tIns="0" rIns="0" bIns="0" anchor="t">
                    <a:spAutoFit/>
                  </a:bodyPr>
                  <a:lstStyle/>
                  <a:p>
                    <a:pPr algn="l">
                      <a:spcBef>
                        <a:spcPts val="0"/>
                      </a:spcBef>
                      <a:spcAft>
                        <a:spcPts val="0"/>
                      </a:spcAft>
                    </a:pPr>
                    <a:r>
                      <a:rPr sz="1100" b="0" i="0">
                        <a:solidFill>
                          <a:srgbClr val="E4E4E4"/>
                        </a:solidFill>
                        <a:latin typeface="Inter"/>
                      </a:rPr>
                      <a:t>Web</a:t>
                    </a:r>
                  </a:p>
                </p:txBody>
              </p:sp>
            </p:grpSp>
            <p:grpSp>
              <p:nvGrpSpPr>
                <p:cNvPr id="35" name="Group 34">
                  <a:extLst>
                    <a:ext uri="{FF2B5EF4-FFF2-40B4-BE49-F238E27FC236}">
                      <a16:creationId xmlns:a16="http://schemas.microsoft.com/office/drawing/2014/main" id="{006BCC66-DF16-C581-FFA1-F58A134B8EF6}"/>
                    </a:ext>
                  </a:extLst>
                </p:cNvPr>
                <p:cNvGrpSpPr/>
                <p:nvPr/>
              </p:nvGrpSpPr>
              <p:grpSpPr>
                <a:xfrm>
                  <a:off x="2240280" y="4143081"/>
                  <a:ext cx="1088136" cy="201168"/>
                  <a:chOff x="2240280" y="4143081"/>
                  <a:chExt cx="1088136" cy="201168"/>
                </a:xfrm>
              </p:grpSpPr>
              <p:sp>
                <p:nvSpPr>
                  <p:cNvPr id="21" name="Oval 20"/>
                  <p:cNvSpPr/>
                  <p:nvPr/>
                </p:nvSpPr>
                <p:spPr>
                  <a:xfrm>
                    <a:off x="2240280" y="4170513"/>
                    <a:ext cx="146304" cy="146304"/>
                  </a:xfrm>
                  <a:prstGeom prst="ellipse">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459736" y="4143081"/>
                    <a:ext cx="868680" cy="201168"/>
                  </a:xfrm>
                  <a:prstGeom prst="rect">
                    <a:avLst/>
                  </a:prstGeom>
                  <a:noFill/>
                </p:spPr>
                <p:txBody>
                  <a:bodyPr wrap="square" lIns="0" tIns="0" rIns="0" bIns="0" anchor="t">
                    <a:spAutoFit/>
                  </a:bodyPr>
                  <a:lstStyle/>
                  <a:p>
                    <a:pPr algn="l">
                      <a:spcBef>
                        <a:spcPts val="0"/>
                      </a:spcBef>
                      <a:spcAft>
                        <a:spcPts val="0"/>
                      </a:spcAft>
                    </a:pPr>
                    <a:r>
                      <a:rPr sz="1100" b="0" i="0">
                        <a:solidFill>
                          <a:srgbClr val="E4E4E4"/>
                        </a:solidFill>
                        <a:latin typeface="Inter"/>
                      </a:rPr>
                      <a:t>Chats</a:t>
                    </a:r>
                  </a:p>
                </p:txBody>
              </p:sp>
            </p:grpSp>
          </p:grpSp>
        </p:grpSp>
        <p:sp>
          <p:nvSpPr>
            <p:cNvPr id="23" name="TextBox 22"/>
            <p:cNvSpPr txBox="1"/>
            <p:nvPr/>
          </p:nvSpPr>
          <p:spPr>
            <a:xfrm>
              <a:off x="731520" y="4600281"/>
              <a:ext cx="2011680" cy="411480"/>
            </a:xfrm>
            <a:prstGeom prst="rect">
              <a:avLst/>
            </a:prstGeom>
            <a:noFill/>
          </p:spPr>
          <p:txBody>
            <a:bodyPr wrap="square" lIns="0" tIns="0" rIns="0" bIns="0" anchor="t">
              <a:spAutoFit/>
            </a:bodyPr>
            <a:lstStyle/>
            <a:p>
              <a:pPr algn="l">
                <a:spcBef>
                  <a:spcPts val="0"/>
                </a:spcBef>
                <a:spcAft>
                  <a:spcPts val="0"/>
                </a:spcAft>
              </a:pPr>
              <a:r>
                <a:rPr sz="1300" b="0" i="0">
                  <a:solidFill>
                    <a:srgbClr val="9C9C9C"/>
                  </a:solidFill>
                  <a:latin typeface="Inter"/>
                </a:rPr>
                <a:t>Many formats.
One learning context.</a:t>
              </a:r>
            </a:p>
          </p:txBody>
        </p:sp>
      </p:grpSp>
      <p:grpSp>
        <p:nvGrpSpPr>
          <p:cNvPr id="26" name="Group 25">
            <a:extLst>
              <a:ext uri="{FF2B5EF4-FFF2-40B4-BE49-F238E27FC236}">
                <a16:creationId xmlns:a16="http://schemas.microsoft.com/office/drawing/2014/main" id="{B9354B26-F808-4AC3-36B4-42D8D1F127DA}"/>
              </a:ext>
            </a:extLst>
          </p:cNvPr>
          <p:cNvGrpSpPr/>
          <p:nvPr/>
        </p:nvGrpSpPr>
        <p:grpSpPr>
          <a:xfrm>
            <a:off x="4789052" y="2602438"/>
            <a:ext cx="2148840" cy="2414016"/>
            <a:chOff x="4581625" y="2329683"/>
            <a:chExt cx="2148840" cy="2414016"/>
          </a:xfrm>
        </p:grpSpPr>
        <p:sp>
          <p:nvSpPr>
            <p:cNvPr id="24" name="Rectangle 23"/>
            <p:cNvSpPr/>
            <p:nvPr/>
          </p:nvSpPr>
          <p:spPr>
            <a:xfrm>
              <a:off x="4581625" y="2329683"/>
              <a:ext cx="2148840" cy="438912"/>
            </a:xfrm>
            <a:prstGeom prst="rect">
              <a:avLst/>
            </a:prstGeom>
            <a:solidFill>
              <a:srgbClr val="1D1D1D"/>
            </a:solidFill>
            <a:ln w="12700">
              <a:solidFill>
                <a:srgbClr val="ABC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E4E4E4"/>
                  </a:solidFill>
                  <a:latin typeface="Inter"/>
                </a:rPr>
                <a:t>UNDERSTAND</a:t>
              </a:r>
              <a:endParaRPr dirty="0"/>
            </a:p>
          </p:txBody>
        </p:sp>
        <p:sp>
          <p:nvSpPr>
            <p:cNvPr id="28" name="Down Arrow 27"/>
            <p:cNvSpPr/>
            <p:nvPr/>
          </p:nvSpPr>
          <p:spPr>
            <a:xfrm>
              <a:off x="5592037" y="2800599"/>
              <a:ext cx="128016" cy="155448"/>
            </a:xfrm>
            <a:prstGeom prst="downArrow">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581625" y="2988051"/>
              <a:ext cx="2148840" cy="438912"/>
            </a:xfrm>
            <a:prstGeom prst="rect">
              <a:avLst/>
            </a:prstGeom>
            <a:solidFill>
              <a:srgbClr val="1D1D1D"/>
            </a:solidFill>
            <a:ln w="12700">
              <a:solidFill>
                <a:srgbClr val="78C4D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E4E4E4"/>
                  </a:solidFill>
                  <a:latin typeface="Inter"/>
                </a:rPr>
                <a:t>CONNECT</a:t>
              </a:r>
              <a:endParaRPr dirty="0"/>
            </a:p>
          </p:txBody>
        </p:sp>
        <p:sp>
          <p:nvSpPr>
            <p:cNvPr id="32" name="Down Arrow 31"/>
            <p:cNvSpPr/>
            <p:nvPr/>
          </p:nvSpPr>
          <p:spPr>
            <a:xfrm>
              <a:off x="5592037" y="3458967"/>
              <a:ext cx="128016" cy="155448"/>
            </a:xfrm>
            <a:prstGeom prst="downArrow">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581625" y="3646419"/>
              <a:ext cx="2148840" cy="438912"/>
            </a:xfrm>
            <a:prstGeom prst="rect">
              <a:avLst/>
            </a:prstGeom>
            <a:solidFill>
              <a:srgbClr val="1D1D1D"/>
            </a:solidFill>
            <a:ln w="12700">
              <a:solidFill>
                <a:srgbClr val="F0A87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E4E4E4"/>
                  </a:solidFill>
                  <a:latin typeface="Inter"/>
                </a:rPr>
                <a:t>RETRIEVE</a:t>
              </a:r>
            </a:p>
          </p:txBody>
        </p:sp>
        <p:sp>
          <p:nvSpPr>
            <p:cNvPr id="36" name="Down Arrow 35"/>
            <p:cNvSpPr/>
            <p:nvPr/>
          </p:nvSpPr>
          <p:spPr>
            <a:xfrm>
              <a:off x="5592037" y="4117335"/>
              <a:ext cx="128016" cy="155448"/>
            </a:xfrm>
            <a:prstGeom prst="downArrow">
              <a:avLst/>
            </a:prstGeom>
            <a:solidFill>
              <a:srgbClr val="F0A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581625" y="4304787"/>
              <a:ext cx="2148840" cy="438912"/>
            </a:xfrm>
            <a:prstGeom prst="rect">
              <a:avLst/>
            </a:prstGeom>
            <a:solidFill>
              <a:srgbClr val="1D1D1D"/>
            </a:solidFill>
            <a:ln w="12700">
              <a:solidFill>
                <a:srgbClr val="ED84B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E4E4E4"/>
                  </a:solidFill>
                  <a:latin typeface="Inter"/>
                </a:rPr>
                <a:t>REASON</a:t>
              </a:r>
            </a:p>
          </p:txBody>
        </p:sp>
      </p:grpSp>
      <p:grpSp>
        <p:nvGrpSpPr>
          <p:cNvPr id="27" name="Group 26">
            <a:extLst>
              <a:ext uri="{FF2B5EF4-FFF2-40B4-BE49-F238E27FC236}">
                <a16:creationId xmlns:a16="http://schemas.microsoft.com/office/drawing/2014/main" id="{64E568E1-39B6-7DAA-DA36-9559E9BE8681}"/>
              </a:ext>
            </a:extLst>
          </p:cNvPr>
          <p:cNvGrpSpPr/>
          <p:nvPr/>
        </p:nvGrpSpPr>
        <p:grpSpPr>
          <a:xfrm>
            <a:off x="8103751" y="2904190"/>
            <a:ext cx="3566161" cy="1810512"/>
            <a:chOff x="7726679" y="3091521"/>
            <a:chExt cx="3566161" cy="1810512"/>
          </a:xfrm>
        </p:grpSpPr>
        <p:cxnSp>
          <p:nvCxnSpPr>
            <p:cNvPr id="41" name="Connector 40"/>
            <p:cNvCxnSpPr/>
            <p:nvPr/>
          </p:nvCxnSpPr>
          <p:spPr>
            <a:xfrm>
              <a:off x="7726679" y="3091521"/>
              <a:ext cx="3566161" cy="0"/>
            </a:xfrm>
            <a:prstGeom prst="line">
              <a:avLst/>
            </a:prstGeom>
            <a:ln w="25400">
              <a:solidFill>
                <a:srgbClr val="ABC4FF"/>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7726679" y="4902033"/>
              <a:ext cx="3566161" cy="0"/>
            </a:xfrm>
            <a:prstGeom prst="line">
              <a:avLst/>
            </a:prstGeom>
            <a:ln w="25400">
              <a:solidFill>
                <a:srgbClr val="ABC4FF"/>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8001000" y="3676737"/>
              <a:ext cx="3063240" cy="640080"/>
            </a:xfrm>
            <a:prstGeom prst="rect">
              <a:avLst/>
            </a:prstGeom>
            <a:noFill/>
          </p:spPr>
          <p:txBody>
            <a:bodyPr wrap="square" lIns="0" tIns="0" rIns="0" bIns="0" anchor="ctr">
              <a:spAutoFit/>
            </a:bodyPr>
            <a:lstStyle/>
            <a:p>
              <a:pPr algn="ctr">
                <a:spcBef>
                  <a:spcPts val="0"/>
                </a:spcBef>
                <a:spcAft>
                  <a:spcPts val="0"/>
                </a:spcAft>
              </a:pPr>
              <a:r>
                <a:rPr sz="2300" b="1" i="0">
                  <a:solidFill>
                    <a:srgbClr val="ABC4FF"/>
                  </a:solidFill>
                  <a:latin typeface="Inter"/>
                </a:rPr>
                <a:t>PERSONALIZED
LEARNING</a:t>
              </a:r>
            </a:p>
          </p:txBody>
        </p:sp>
      </p:grpSp>
      <p:sp>
        <p:nvSpPr>
          <p:cNvPr id="44" name="TextBox 43"/>
          <p:cNvSpPr txBox="1"/>
          <p:nvPr/>
        </p:nvSpPr>
        <p:spPr>
          <a:xfrm>
            <a:off x="777240" y="5743281"/>
            <a:ext cx="10698480" cy="201168"/>
          </a:xfrm>
          <a:prstGeom prst="rect">
            <a:avLst/>
          </a:prstGeom>
          <a:noFill/>
        </p:spPr>
        <p:txBody>
          <a:bodyPr wrap="square" lIns="0" tIns="0" rIns="0" bIns="0" anchor="t">
            <a:spAutoFit/>
          </a:bodyPr>
          <a:lstStyle/>
          <a:p>
            <a:pPr algn="ctr">
              <a:spcBef>
                <a:spcPts val="0"/>
              </a:spcBef>
              <a:spcAft>
                <a:spcPts val="0"/>
              </a:spcAft>
            </a:pPr>
            <a:r>
              <a:rPr sz="850" b="0" i="0">
                <a:solidFill>
                  <a:srgbClr val="6E6E6E"/>
                </a:solidFill>
                <a:latin typeface="Cascadia Mono"/>
              </a:rPr>
              <a:t>Retrieval stack  •  semantic + lexical + exact-match  •  reranking  •  abstention</a:t>
            </a:r>
          </a:p>
        </p:txBody>
      </p:sp>
      <p:cxnSp>
        <p:nvCxnSpPr>
          <p:cNvPr id="45" name="Connector 44"/>
          <p:cNvCxnSpPr/>
          <p:nvPr/>
        </p:nvCxnSpPr>
        <p:spPr>
          <a:xfrm>
            <a:off x="594360" y="6464808"/>
            <a:ext cx="11002975"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94360" y="6574536"/>
            <a:ext cx="3474720" cy="146304"/>
          </a:xfrm>
          <a:prstGeom prst="rect">
            <a:avLst/>
          </a:prstGeom>
          <a:noFill/>
        </p:spPr>
        <p:txBody>
          <a:bodyPr wrap="square" lIns="0" tIns="0" rIns="0" bIns="0" anchor="t">
            <a:spAutoFit/>
          </a:bodyPr>
          <a:lstStyle/>
          <a:p>
            <a:pPr algn="l">
              <a:spcBef>
                <a:spcPts val="0"/>
              </a:spcBef>
              <a:spcAft>
                <a:spcPts val="0"/>
              </a:spcAft>
            </a:pPr>
            <a:r>
              <a:rPr sz="850" b="0" i="0">
                <a:solidFill>
                  <a:srgbClr val="6E6E6E"/>
                </a:solidFill>
                <a:latin typeface="Cascadia Mono"/>
              </a:rPr>
              <a:t>Avenire / learning that remembers</a:t>
            </a:r>
          </a:p>
        </p:txBody>
      </p:sp>
      <p:sp>
        <p:nvSpPr>
          <p:cNvPr id="55" name="TextBox 54"/>
          <p:cNvSpPr txBox="1"/>
          <p:nvPr/>
        </p:nvSpPr>
        <p:spPr>
          <a:xfrm>
            <a:off x="777240" y="5394960"/>
            <a:ext cx="10698480" cy="320040"/>
          </a:xfrm>
          <a:prstGeom prst="rect">
            <a:avLst/>
          </a:prstGeom>
          <a:noFill/>
        </p:spPr>
        <p:txBody>
          <a:bodyPr wrap="square" lIns="0" tIns="0" rIns="0" bIns="0" anchor="t">
            <a:spAutoFit/>
          </a:bodyPr>
          <a:lstStyle/>
          <a:p>
            <a:pPr algn="ctr">
              <a:spcBef>
                <a:spcPts val="0"/>
              </a:spcBef>
              <a:spcAft>
                <a:spcPts val="0"/>
              </a:spcAft>
            </a:pPr>
            <a:r>
              <a:rPr sz="1400" b="1" i="0">
                <a:solidFill>
                  <a:srgbClr val="ABC4FF"/>
                </a:solidFill>
                <a:latin typeface="Inter"/>
              </a:rPr>
              <a:t>82.5% MRR on paraphrase queries, 60%+ on cross-file retrieval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venire-logo-full.png"/>
          <p:cNvPicPr>
            <a:picLocks noChangeAspect="1"/>
          </p:cNvPicPr>
          <p:nvPr/>
        </p:nvPicPr>
        <p:blipFill>
          <a:blip r:embed="rId3"/>
          <a:stretch>
            <a:fillRect/>
          </a:stretch>
        </p:blipFill>
        <p:spPr>
          <a:xfrm>
            <a:off x="594360" y="256032"/>
            <a:ext cx="210312" cy="210312"/>
          </a:xfrm>
          <a:prstGeom prst="rect">
            <a:avLst/>
          </a:prstGeom>
        </p:spPr>
      </p:pic>
      <p:sp>
        <p:nvSpPr>
          <p:cNvPr id="4" name="TextBox 3"/>
          <p:cNvSpPr txBox="1"/>
          <p:nvPr/>
        </p:nvSpPr>
        <p:spPr>
          <a:xfrm>
            <a:off x="877824" y="237744"/>
            <a:ext cx="822960" cy="237744"/>
          </a:xfrm>
          <a:prstGeom prst="rect">
            <a:avLst/>
          </a:prstGeom>
          <a:noFill/>
        </p:spPr>
        <p:txBody>
          <a:bodyPr wrap="square" lIns="0" tIns="0" rIns="0" bIns="0" anchor="ctr">
            <a:spAutoFit/>
          </a:bodyPr>
          <a:lstStyle/>
          <a:p>
            <a:pPr algn="l">
              <a:spcBef>
                <a:spcPts val="0"/>
              </a:spcBef>
              <a:spcAft>
                <a:spcPts val="0"/>
              </a:spcAft>
            </a:pPr>
            <a:r>
              <a:rPr sz="1100" b="1" i="0">
                <a:solidFill>
                  <a:srgbClr val="E4E4E4"/>
                </a:solidFill>
                <a:latin typeface="Inter"/>
              </a:rPr>
              <a:t>Avenire</a:t>
            </a:r>
          </a:p>
        </p:txBody>
      </p:sp>
      <p:sp>
        <p:nvSpPr>
          <p:cNvPr id="5" name="TextBox 4"/>
          <p:cNvSpPr txBox="1"/>
          <p:nvPr/>
        </p:nvSpPr>
        <p:spPr>
          <a:xfrm>
            <a:off x="11277295" y="265176"/>
            <a:ext cx="320040" cy="182880"/>
          </a:xfrm>
          <a:prstGeom prst="rect">
            <a:avLst/>
          </a:prstGeom>
          <a:noFill/>
        </p:spPr>
        <p:txBody>
          <a:bodyPr wrap="square" lIns="0" tIns="0" rIns="0" bIns="0" anchor="t">
            <a:spAutoFit/>
          </a:bodyPr>
          <a:lstStyle/>
          <a:p>
            <a:pPr algn="r">
              <a:spcBef>
                <a:spcPts val="0"/>
              </a:spcBef>
              <a:spcAft>
                <a:spcPts val="0"/>
              </a:spcAft>
            </a:pPr>
            <a:r>
              <a:rPr sz="900" b="0" i="0">
                <a:solidFill>
                  <a:srgbClr val="6E6E6E"/>
                </a:solidFill>
                <a:latin typeface="Cascadia Mono"/>
              </a:rPr>
              <a:t>09</a:t>
            </a:r>
          </a:p>
        </p:txBody>
      </p:sp>
      <p:sp>
        <p:nvSpPr>
          <p:cNvPr id="6" name="TextBox 5"/>
          <p:cNvSpPr txBox="1"/>
          <p:nvPr/>
        </p:nvSpPr>
        <p:spPr>
          <a:xfrm>
            <a:off x="594360" y="749808"/>
            <a:ext cx="5303520" cy="201168"/>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MARKET</a:t>
            </a:r>
          </a:p>
        </p:txBody>
      </p:sp>
      <p:sp>
        <p:nvSpPr>
          <p:cNvPr id="7" name="TextBox 6"/>
          <p:cNvSpPr txBox="1"/>
          <p:nvPr/>
        </p:nvSpPr>
        <p:spPr>
          <a:xfrm>
            <a:off x="594360" y="1005840"/>
            <a:ext cx="10789920" cy="640080"/>
          </a:xfrm>
          <a:prstGeom prst="rect">
            <a:avLst/>
          </a:prstGeom>
          <a:noFill/>
        </p:spPr>
        <p:txBody>
          <a:bodyPr wrap="square" lIns="0" tIns="0" rIns="0" bIns="0" anchor="t">
            <a:spAutoFit/>
          </a:bodyPr>
          <a:lstStyle/>
          <a:p>
            <a:pPr algn="l">
              <a:spcBef>
                <a:spcPts val="0"/>
              </a:spcBef>
              <a:spcAft>
                <a:spcPts val="0"/>
              </a:spcAft>
            </a:pPr>
            <a:r>
              <a:rPr sz="3000" b="1" i="0">
                <a:solidFill>
                  <a:srgbClr val="E4E4E4"/>
                </a:solidFill>
                <a:latin typeface="Inter"/>
              </a:rPr>
              <a:t>Start with the student. Expand into the institution.</a:t>
            </a:r>
          </a:p>
        </p:txBody>
      </p:sp>
      <p:sp>
        <p:nvSpPr>
          <p:cNvPr id="8" name="TextBox 7"/>
          <p:cNvSpPr txBox="1"/>
          <p:nvPr/>
        </p:nvSpPr>
        <p:spPr>
          <a:xfrm>
            <a:off x="594360" y="1691640"/>
            <a:ext cx="9692640" cy="384048"/>
          </a:xfrm>
          <a:prstGeom prst="rect">
            <a:avLst/>
          </a:prstGeom>
          <a:noFill/>
        </p:spPr>
        <p:txBody>
          <a:bodyPr wrap="square" lIns="0" tIns="0" rIns="0" bIns="0" anchor="t">
            <a:spAutoFit/>
          </a:bodyPr>
          <a:lstStyle/>
          <a:p>
            <a:pPr algn="l">
              <a:spcBef>
                <a:spcPts val="0"/>
              </a:spcBef>
              <a:spcAft>
                <a:spcPts val="0"/>
              </a:spcAft>
            </a:pPr>
            <a:r>
              <a:rPr sz="1400" b="0" i="0">
                <a:solidFill>
                  <a:srgbClr val="9C9C9C"/>
                </a:solidFill>
                <a:latin typeface="Inter"/>
              </a:rPr>
              <a:t>A focused wedge with a natural platform expansion.</a:t>
            </a:r>
          </a:p>
        </p:txBody>
      </p:sp>
      <p:sp>
        <p:nvSpPr>
          <p:cNvPr id="9" name="Rectangle 8"/>
          <p:cNvSpPr/>
          <p:nvPr/>
        </p:nvSpPr>
        <p:spPr>
          <a:xfrm>
            <a:off x="4892040" y="1828800"/>
            <a:ext cx="2377440" cy="566928"/>
          </a:xfrm>
          <a:prstGeom prst="rect">
            <a:avLst/>
          </a:prstGeom>
          <a:solidFill>
            <a:srgbClr val="ABC4FF"/>
          </a:solidFill>
          <a:ln w="12700">
            <a:solidFill>
              <a:srgbClr val="ABC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01768" y="1986795"/>
            <a:ext cx="2157984" cy="246221"/>
          </a:xfrm>
          <a:prstGeom prst="rect">
            <a:avLst/>
          </a:prstGeom>
          <a:noFill/>
        </p:spPr>
        <p:txBody>
          <a:bodyPr wrap="square" lIns="0" tIns="0" rIns="0" bIns="0" anchor="ctr">
            <a:spAutoFit/>
          </a:bodyPr>
          <a:lstStyle/>
          <a:p>
            <a:pPr algn="ctr">
              <a:spcBef>
                <a:spcPts val="0"/>
              </a:spcBef>
              <a:spcAft>
                <a:spcPts val="0"/>
              </a:spcAft>
            </a:pPr>
            <a:r>
              <a:rPr sz="1600" b="1" i="0" dirty="0">
                <a:solidFill>
                  <a:srgbClr val="141414"/>
                </a:solidFill>
                <a:latin typeface="Inter"/>
              </a:rPr>
              <a:t>AVENIRE</a:t>
            </a:r>
          </a:p>
        </p:txBody>
      </p:sp>
      <p:cxnSp>
        <p:nvCxnSpPr>
          <p:cNvPr id="11" name="Connector 10"/>
          <p:cNvCxnSpPr/>
          <p:nvPr/>
        </p:nvCxnSpPr>
        <p:spPr>
          <a:xfrm>
            <a:off x="6080760" y="2414016"/>
            <a:ext cx="0" cy="374904"/>
          </a:xfrm>
          <a:prstGeom prst="line">
            <a:avLst/>
          </a:prstGeom>
          <a:ln w="22860">
            <a:solidFill>
              <a:srgbClr val="ABC4F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3520440" y="2788920"/>
            <a:ext cx="2560320" cy="457200"/>
          </a:xfrm>
          <a:prstGeom prst="line">
            <a:avLst/>
          </a:prstGeom>
          <a:ln w="22860">
            <a:solidFill>
              <a:srgbClr val="ABC4F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80760" y="2788920"/>
            <a:ext cx="2560320" cy="457200"/>
          </a:xfrm>
          <a:prstGeom prst="line">
            <a:avLst/>
          </a:prstGeom>
          <a:ln w="22860">
            <a:solidFill>
              <a:srgbClr val="78C4D5"/>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240280" y="3246120"/>
            <a:ext cx="2377440" cy="566928"/>
          </a:xfrm>
          <a:prstGeom prst="rect">
            <a:avLst/>
          </a:prstGeom>
          <a:solidFill>
            <a:srgbClr val="1D1D1D"/>
          </a:solidFill>
          <a:ln w="12700">
            <a:solidFill>
              <a:srgbClr val="ABC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b="1" dirty="0">
                <a:solidFill>
                  <a:srgbClr val="E4E4E4"/>
                </a:solidFill>
                <a:latin typeface="Inter"/>
              </a:rPr>
              <a:t>Students</a:t>
            </a:r>
          </a:p>
        </p:txBody>
      </p:sp>
      <p:sp>
        <p:nvSpPr>
          <p:cNvPr id="18" name="Rectangle 17"/>
          <p:cNvSpPr/>
          <p:nvPr/>
        </p:nvSpPr>
        <p:spPr>
          <a:xfrm>
            <a:off x="7543800" y="3246120"/>
            <a:ext cx="2651760" cy="566928"/>
          </a:xfrm>
          <a:prstGeom prst="rect">
            <a:avLst/>
          </a:prstGeom>
          <a:solidFill>
            <a:srgbClr val="1D1D1D"/>
          </a:solidFill>
          <a:ln w="12700">
            <a:solidFill>
              <a:srgbClr val="78C4D5"/>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r>
              <a:rPr lang="en-US" sz="1500" b="1" dirty="0">
                <a:solidFill>
                  <a:srgbClr val="E4E4E4"/>
                </a:solidFill>
                <a:latin typeface="Inter"/>
              </a:rPr>
              <a:t>Institutions</a:t>
            </a:r>
          </a:p>
        </p:txBody>
      </p:sp>
      <p:cxnSp>
        <p:nvCxnSpPr>
          <p:cNvPr id="20" name="Connector 19"/>
          <p:cNvCxnSpPr/>
          <p:nvPr/>
        </p:nvCxnSpPr>
        <p:spPr>
          <a:xfrm>
            <a:off x="3429000" y="3840480"/>
            <a:ext cx="0" cy="502920"/>
          </a:xfrm>
          <a:prstGeom prst="line">
            <a:avLst/>
          </a:prstGeom>
          <a:ln w="20320">
            <a:solidFill>
              <a:srgbClr val="ABC4FF"/>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869680" y="3840480"/>
            <a:ext cx="0" cy="502920"/>
          </a:xfrm>
          <a:prstGeom prst="line">
            <a:avLst/>
          </a:prstGeom>
          <a:ln w="20320">
            <a:solidFill>
              <a:srgbClr val="78C4D5"/>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7543800" y="4370832"/>
            <a:ext cx="2651760" cy="658368"/>
          </a:xfrm>
          <a:prstGeom prst="rect">
            <a:avLst/>
          </a:prstGeom>
          <a:solidFill>
            <a:srgbClr val="1D1D1D"/>
          </a:solidFill>
          <a:ln w="12700">
            <a:solidFill>
              <a:srgbClr val="78C4D5"/>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r>
              <a:rPr lang="en-US" sz="1500" b="1" dirty="0">
                <a:solidFill>
                  <a:srgbClr val="E4E4E4"/>
                </a:solidFill>
                <a:latin typeface="Inter"/>
              </a:rPr>
              <a:t>Universities
&amp; colleges</a:t>
            </a:r>
          </a:p>
        </p:txBody>
      </p:sp>
      <p:sp>
        <p:nvSpPr>
          <p:cNvPr id="27" name="Rectangle 26"/>
          <p:cNvSpPr/>
          <p:nvPr/>
        </p:nvSpPr>
        <p:spPr>
          <a:xfrm>
            <a:off x="2240280" y="4343400"/>
            <a:ext cx="2377440" cy="548640"/>
          </a:xfrm>
          <a:prstGeom prst="rect">
            <a:avLst/>
          </a:prstGeom>
          <a:solidFill>
            <a:srgbClr val="222222"/>
          </a:solidFill>
          <a:ln w="12700">
            <a:solidFill>
              <a:srgbClr val="A99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dirty="0">
                <a:solidFill>
                  <a:srgbClr val="E4E4E4"/>
                </a:solidFill>
                <a:latin typeface="Inter"/>
              </a:rPr>
              <a:t>Self-directed
</a:t>
            </a:r>
            <a:r>
              <a:rPr lang="en-US" sz="1500" b="1" dirty="0">
                <a:solidFill>
                  <a:srgbClr val="E4E4E4"/>
                </a:solidFill>
                <a:latin typeface="Inter"/>
              </a:rPr>
              <a:t>learning</a:t>
            </a:r>
          </a:p>
        </p:txBody>
      </p:sp>
      <p:cxnSp>
        <p:nvCxnSpPr>
          <p:cNvPr id="33" name="Connector 32"/>
          <p:cNvCxnSpPr/>
          <p:nvPr/>
        </p:nvCxnSpPr>
        <p:spPr>
          <a:xfrm>
            <a:off x="594360" y="6464808"/>
            <a:ext cx="11002975"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94360" y="6574536"/>
            <a:ext cx="3474720" cy="146304"/>
          </a:xfrm>
          <a:prstGeom prst="rect">
            <a:avLst/>
          </a:prstGeom>
          <a:noFill/>
        </p:spPr>
        <p:txBody>
          <a:bodyPr wrap="square" lIns="0" tIns="0" rIns="0" bIns="0" anchor="t">
            <a:spAutoFit/>
          </a:bodyPr>
          <a:lstStyle/>
          <a:p>
            <a:pPr algn="l">
              <a:spcBef>
                <a:spcPts val="0"/>
              </a:spcBef>
              <a:spcAft>
                <a:spcPts val="0"/>
              </a:spcAft>
            </a:pPr>
            <a:r>
              <a:rPr sz="850" b="0" i="0">
                <a:solidFill>
                  <a:srgbClr val="6E6E6E"/>
                </a:solidFill>
                <a:latin typeface="Cascadia Mono"/>
              </a:rPr>
              <a:t>Avenire / learning that remembers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3"/>
          <a:stretch>
            <a:fillRect/>
          </a:stretch>
        </p:blipFill>
        <p:spPr>
          <a:xfrm>
            <a:off x="594360" y="256032"/>
            <a:ext cx="210312" cy="210312"/>
          </a:xfrm>
          <a:prstGeom prst="rect">
            <a:avLst/>
          </a:prstGeom>
        </p:spPr>
      </p:pic>
      <p:sp>
        <p:nvSpPr>
          <p:cNvPr id="4" name="TextBox 3"/>
          <p:cNvSpPr txBox="1"/>
          <p:nvPr/>
        </p:nvSpPr>
        <p:spPr>
          <a:xfrm>
            <a:off x="877824" y="237744"/>
            <a:ext cx="822960" cy="237744"/>
          </a:xfrm>
          <a:prstGeom prst="rect">
            <a:avLst/>
          </a:prstGeom>
          <a:noFill/>
        </p:spPr>
        <p:txBody>
          <a:bodyPr wrap="square" lIns="0" tIns="0" rIns="0" bIns="0" anchor="ctr">
            <a:spAutoFit/>
          </a:bodyPr>
          <a:lstStyle/>
          <a:p>
            <a:pPr algn="l">
              <a:spcBef>
                <a:spcPts val="0"/>
              </a:spcBef>
              <a:spcAft>
                <a:spcPts val="0"/>
              </a:spcAft>
            </a:pPr>
            <a:r>
              <a:rPr sz="1100" b="1" i="0">
                <a:solidFill>
                  <a:srgbClr val="E4E4E4"/>
                </a:solidFill>
                <a:latin typeface="Inter"/>
              </a:rPr>
              <a:t>Avenire</a:t>
            </a:r>
          </a:p>
        </p:txBody>
      </p:sp>
      <p:sp>
        <p:nvSpPr>
          <p:cNvPr id="5" name="TextBox 4"/>
          <p:cNvSpPr txBox="1"/>
          <p:nvPr/>
        </p:nvSpPr>
        <p:spPr>
          <a:xfrm>
            <a:off x="11277295" y="265176"/>
            <a:ext cx="320040" cy="182880"/>
          </a:xfrm>
          <a:prstGeom prst="rect">
            <a:avLst/>
          </a:prstGeom>
          <a:noFill/>
        </p:spPr>
        <p:txBody>
          <a:bodyPr wrap="square" lIns="0" tIns="0" rIns="0" bIns="0" anchor="t">
            <a:spAutoFit/>
          </a:bodyPr>
          <a:lstStyle/>
          <a:p>
            <a:pPr algn="r">
              <a:spcBef>
                <a:spcPts val="0"/>
              </a:spcBef>
              <a:spcAft>
                <a:spcPts val="0"/>
              </a:spcAft>
            </a:pPr>
            <a:r>
              <a:rPr sz="900" b="0" i="0">
                <a:solidFill>
                  <a:srgbClr val="6E6E6E"/>
                </a:solidFill>
                <a:latin typeface="Cascadia Mono"/>
              </a:rPr>
              <a:t>10</a:t>
            </a:r>
          </a:p>
        </p:txBody>
      </p:sp>
      <p:sp>
        <p:nvSpPr>
          <p:cNvPr id="6" name="TextBox 5"/>
          <p:cNvSpPr txBox="1"/>
          <p:nvPr/>
        </p:nvSpPr>
        <p:spPr>
          <a:xfrm>
            <a:off x="594360" y="749808"/>
            <a:ext cx="5303520" cy="201168"/>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MARKET SIZING</a:t>
            </a:r>
          </a:p>
        </p:txBody>
      </p:sp>
      <p:sp>
        <p:nvSpPr>
          <p:cNvPr id="7" name="TextBox 6"/>
          <p:cNvSpPr txBox="1"/>
          <p:nvPr/>
        </p:nvSpPr>
        <p:spPr>
          <a:xfrm>
            <a:off x="594360" y="1005840"/>
            <a:ext cx="10789920" cy="640080"/>
          </a:xfrm>
          <a:prstGeom prst="rect">
            <a:avLst/>
          </a:prstGeom>
          <a:noFill/>
        </p:spPr>
        <p:txBody>
          <a:bodyPr wrap="square" lIns="0" tIns="0" rIns="0" bIns="0" anchor="t">
            <a:spAutoFit/>
          </a:bodyPr>
          <a:lstStyle/>
          <a:p>
            <a:pPr algn="l">
              <a:spcBef>
                <a:spcPts val="0"/>
              </a:spcBef>
              <a:spcAft>
                <a:spcPts val="0"/>
              </a:spcAft>
            </a:pPr>
            <a:r>
              <a:rPr sz="3000" b="1" i="0">
                <a:solidFill>
                  <a:srgbClr val="E4E4E4"/>
                </a:solidFill>
                <a:latin typeface="Inter"/>
              </a:rPr>
              <a:t>Rough math beats a blank slide.</a:t>
            </a:r>
          </a:p>
        </p:txBody>
      </p:sp>
      <p:sp>
        <p:nvSpPr>
          <p:cNvPr id="8" name="TextBox 7"/>
          <p:cNvSpPr txBox="1"/>
          <p:nvPr/>
        </p:nvSpPr>
        <p:spPr>
          <a:xfrm>
            <a:off x="594360" y="1691640"/>
            <a:ext cx="9692640" cy="384048"/>
          </a:xfrm>
          <a:prstGeom prst="rect">
            <a:avLst/>
          </a:prstGeom>
          <a:noFill/>
        </p:spPr>
        <p:txBody>
          <a:bodyPr wrap="square" lIns="0" tIns="0" rIns="0" bIns="0" anchor="t">
            <a:spAutoFit/>
          </a:bodyPr>
          <a:lstStyle/>
          <a:p>
            <a:pPr algn="l">
              <a:spcBef>
                <a:spcPts val="0"/>
              </a:spcBef>
              <a:spcAft>
                <a:spcPts val="0"/>
              </a:spcAft>
            </a:pPr>
            <a:r>
              <a:rPr sz="1400" b="0" i="0">
                <a:solidFill>
                  <a:srgbClr val="9C9C9C"/>
                </a:solidFill>
                <a:latin typeface="Inter"/>
              </a:rPr>
              <a:t>Order-of-magnitude — enough to plan a wedge, not a market study.</a:t>
            </a:r>
          </a:p>
        </p:txBody>
      </p:sp>
      <p:sp>
        <p:nvSpPr>
          <p:cNvPr id="9" name="TextBox 8"/>
          <p:cNvSpPr txBox="1"/>
          <p:nvPr/>
        </p:nvSpPr>
        <p:spPr>
          <a:xfrm>
            <a:off x="868680" y="2441448"/>
            <a:ext cx="914400" cy="182880"/>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TAM</a:t>
            </a:r>
          </a:p>
        </p:txBody>
      </p:sp>
      <p:sp>
        <p:nvSpPr>
          <p:cNvPr id="10" name="TextBox 9"/>
          <p:cNvSpPr txBox="1"/>
          <p:nvPr/>
        </p:nvSpPr>
        <p:spPr>
          <a:xfrm>
            <a:off x="868680" y="2679191"/>
            <a:ext cx="4937760" cy="228600"/>
          </a:xfrm>
          <a:prstGeom prst="rect">
            <a:avLst/>
          </a:prstGeom>
          <a:noFill/>
        </p:spPr>
        <p:txBody>
          <a:bodyPr wrap="square" lIns="0" tIns="0" rIns="0" bIns="0" anchor="t">
            <a:spAutoFit/>
          </a:bodyPr>
          <a:lstStyle/>
          <a:p>
            <a:pPr algn="l">
              <a:spcBef>
                <a:spcPts val="0"/>
              </a:spcBef>
              <a:spcAft>
                <a:spcPts val="0"/>
              </a:spcAft>
            </a:pPr>
            <a:r>
              <a:rPr sz="1500" b="1" i="0">
                <a:solidFill>
                  <a:srgbClr val="E4E4E4"/>
                </a:solidFill>
                <a:latin typeface="Inter"/>
              </a:rPr>
              <a:t>Global self-directed learners</a:t>
            </a:r>
          </a:p>
        </p:txBody>
      </p:sp>
      <p:sp>
        <p:nvSpPr>
          <p:cNvPr id="11" name="TextBox 10"/>
          <p:cNvSpPr txBox="1"/>
          <p:nvPr/>
        </p:nvSpPr>
        <p:spPr>
          <a:xfrm>
            <a:off x="868680" y="2990087"/>
            <a:ext cx="4937760" cy="274320"/>
          </a:xfrm>
          <a:prstGeom prst="rect">
            <a:avLst/>
          </a:prstGeom>
          <a:noFill/>
        </p:spPr>
        <p:txBody>
          <a:bodyPr wrap="square" lIns="0" tIns="0" rIns="0" bIns="0" anchor="t">
            <a:spAutoFit/>
          </a:bodyPr>
          <a:lstStyle/>
          <a:p>
            <a:pPr algn="l">
              <a:spcBef>
                <a:spcPts val="0"/>
              </a:spcBef>
              <a:spcAft>
                <a:spcPts val="0"/>
              </a:spcAft>
            </a:pPr>
            <a:r>
              <a:rPr sz="1050" b="0" i="0">
                <a:solidFill>
                  <a:srgbClr val="9C9C9C"/>
                </a:solidFill>
                <a:latin typeface="Inter"/>
              </a:rPr>
              <a:t>Learners studying on their own, worldwide.</a:t>
            </a:r>
          </a:p>
        </p:txBody>
      </p:sp>
      <p:sp>
        <p:nvSpPr>
          <p:cNvPr id="12" name="Rounded Rectangle 11"/>
          <p:cNvSpPr/>
          <p:nvPr/>
        </p:nvSpPr>
        <p:spPr>
          <a:xfrm>
            <a:off x="6309360" y="2587752"/>
            <a:ext cx="4206240" cy="365760"/>
          </a:xfrm>
          <a:prstGeom prst="round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309360" y="2587752"/>
            <a:ext cx="4206240" cy="365760"/>
          </a:xfrm>
          <a:prstGeom prst="roundRect">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698480" y="2587752"/>
            <a:ext cx="914400" cy="274320"/>
          </a:xfrm>
          <a:prstGeom prst="rect">
            <a:avLst/>
          </a:prstGeom>
          <a:noFill/>
        </p:spPr>
        <p:txBody>
          <a:bodyPr wrap="square" lIns="0" tIns="0" rIns="0" bIns="0" anchor="t">
            <a:spAutoFit/>
          </a:bodyPr>
          <a:lstStyle/>
          <a:p>
            <a:pPr algn="r">
              <a:spcBef>
                <a:spcPts val="0"/>
              </a:spcBef>
              <a:spcAft>
                <a:spcPts val="0"/>
              </a:spcAft>
            </a:pPr>
            <a:r>
              <a:rPr sz="1500" b="1" i="0">
                <a:solidFill>
                  <a:srgbClr val="ABC4FF"/>
                </a:solidFill>
                <a:latin typeface="Inter"/>
              </a:rPr>
              <a:t>1B+</a:t>
            </a:r>
          </a:p>
        </p:txBody>
      </p:sp>
      <p:sp>
        <p:nvSpPr>
          <p:cNvPr id="15" name="TextBox 14"/>
          <p:cNvSpPr txBox="1"/>
          <p:nvPr/>
        </p:nvSpPr>
        <p:spPr>
          <a:xfrm>
            <a:off x="868680" y="3401568"/>
            <a:ext cx="914400" cy="182880"/>
          </a:xfrm>
          <a:prstGeom prst="rect">
            <a:avLst/>
          </a:prstGeom>
          <a:noFill/>
        </p:spPr>
        <p:txBody>
          <a:bodyPr wrap="square" lIns="0" tIns="0" rIns="0" bIns="0" anchor="t">
            <a:spAutoFit/>
          </a:bodyPr>
          <a:lstStyle/>
          <a:p>
            <a:pPr algn="l">
              <a:spcBef>
                <a:spcPts val="0"/>
              </a:spcBef>
              <a:spcAft>
                <a:spcPts val="0"/>
              </a:spcAft>
            </a:pPr>
            <a:r>
              <a:rPr sz="1000" b="1" i="0">
                <a:solidFill>
                  <a:srgbClr val="78C4D5"/>
                </a:solidFill>
                <a:latin typeface="Cascadia Mono"/>
              </a:rPr>
              <a:t>SAM</a:t>
            </a:r>
          </a:p>
        </p:txBody>
      </p:sp>
      <p:sp>
        <p:nvSpPr>
          <p:cNvPr id="16" name="TextBox 15"/>
          <p:cNvSpPr txBox="1"/>
          <p:nvPr/>
        </p:nvSpPr>
        <p:spPr>
          <a:xfrm>
            <a:off x="868680" y="3639311"/>
            <a:ext cx="4937760" cy="228600"/>
          </a:xfrm>
          <a:prstGeom prst="rect">
            <a:avLst/>
          </a:prstGeom>
          <a:noFill/>
        </p:spPr>
        <p:txBody>
          <a:bodyPr wrap="square" lIns="0" tIns="0" rIns="0" bIns="0" anchor="t">
            <a:spAutoFit/>
          </a:bodyPr>
          <a:lstStyle/>
          <a:p>
            <a:pPr algn="l">
              <a:spcBef>
                <a:spcPts val="0"/>
              </a:spcBef>
              <a:spcAft>
                <a:spcPts val="0"/>
              </a:spcAft>
            </a:pPr>
            <a:r>
              <a:rPr sz="1500" b="1" i="0">
                <a:solidFill>
                  <a:srgbClr val="E4E4E4"/>
                </a:solidFill>
                <a:latin typeface="Inter"/>
              </a:rPr>
              <a:t>India — college students using AI</a:t>
            </a:r>
          </a:p>
        </p:txBody>
      </p:sp>
      <p:sp>
        <p:nvSpPr>
          <p:cNvPr id="17" name="TextBox 16"/>
          <p:cNvSpPr txBox="1"/>
          <p:nvPr/>
        </p:nvSpPr>
        <p:spPr>
          <a:xfrm>
            <a:off x="868680" y="3950207"/>
            <a:ext cx="4937760" cy="274320"/>
          </a:xfrm>
          <a:prstGeom prst="rect">
            <a:avLst/>
          </a:prstGeom>
          <a:noFill/>
        </p:spPr>
        <p:txBody>
          <a:bodyPr wrap="square" lIns="0" tIns="0" rIns="0" bIns="0" anchor="t">
            <a:spAutoFit/>
          </a:bodyPr>
          <a:lstStyle/>
          <a:p>
            <a:pPr algn="l">
              <a:spcBef>
                <a:spcPts val="0"/>
              </a:spcBef>
              <a:spcAft>
                <a:spcPts val="0"/>
              </a:spcAft>
            </a:pPr>
            <a:r>
              <a:rPr sz="1050" b="0" i="0">
                <a:solidFill>
                  <a:srgbClr val="9C9C9C"/>
                </a:solidFill>
                <a:latin typeface="Inter"/>
              </a:rPr>
              <a:t>≈40M college students · ~15% already study with AI.</a:t>
            </a:r>
          </a:p>
        </p:txBody>
      </p:sp>
      <p:sp>
        <p:nvSpPr>
          <p:cNvPr id="18" name="Rounded Rectangle 17"/>
          <p:cNvSpPr/>
          <p:nvPr/>
        </p:nvSpPr>
        <p:spPr>
          <a:xfrm>
            <a:off x="6309360" y="3547872"/>
            <a:ext cx="4206240" cy="365760"/>
          </a:xfrm>
          <a:prstGeom prst="round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309360" y="3547872"/>
            <a:ext cx="1472184" cy="365760"/>
          </a:xfrm>
          <a:prstGeom prst="roundRect">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698480" y="3547872"/>
            <a:ext cx="914400" cy="274320"/>
          </a:xfrm>
          <a:prstGeom prst="rect">
            <a:avLst/>
          </a:prstGeom>
          <a:noFill/>
        </p:spPr>
        <p:txBody>
          <a:bodyPr wrap="square" lIns="0" tIns="0" rIns="0" bIns="0" anchor="t">
            <a:spAutoFit/>
          </a:bodyPr>
          <a:lstStyle/>
          <a:p>
            <a:pPr algn="r">
              <a:spcBef>
                <a:spcPts val="0"/>
              </a:spcBef>
              <a:spcAft>
                <a:spcPts val="0"/>
              </a:spcAft>
            </a:pPr>
            <a:r>
              <a:rPr sz="1500" b="1" i="0">
                <a:solidFill>
                  <a:srgbClr val="78C4D5"/>
                </a:solidFill>
                <a:latin typeface="Inter"/>
              </a:rPr>
              <a:t>≈6M</a:t>
            </a:r>
          </a:p>
        </p:txBody>
      </p:sp>
      <p:sp>
        <p:nvSpPr>
          <p:cNvPr id="21" name="TextBox 20"/>
          <p:cNvSpPr txBox="1"/>
          <p:nvPr/>
        </p:nvSpPr>
        <p:spPr>
          <a:xfrm>
            <a:off x="868680" y="4361688"/>
            <a:ext cx="914400" cy="182880"/>
          </a:xfrm>
          <a:prstGeom prst="rect">
            <a:avLst/>
          </a:prstGeom>
          <a:noFill/>
        </p:spPr>
        <p:txBody>
          <a:bodyPr wrap="square" lIns="0" tIns="0" rIns="0" bIns="0" anchor="t">
            <a:spAutoFit/>
          </a:bodyPr>
          <a:lstStyle/>
          <a:p>
            <a:pPr algn="l">
              <a:spcBef>
                <a:spcPts val="0"/>
              </a:spcBef>
              <a:spcAft>
                <a:spcPts val="0"/>
              </a:spcAft>
            </a:pPr>
            <a:r>
              <a:rPr sz="1000" b="1" i="0">
                <a:solidFill>
                  <a:srgbClr val="F0A873"/>
                </a:solidFill>
                <a:latin typeface="Cascadia Mono"/>
              </a:rPr>
              <a:t>SOM</a:t>
            </a:r>
          </a:p>
        </p:txBody>
      </p:sp>
      <p:sp>
        <p:nvSpPr>
          <p:cNvPr id="22" name="TextBox 21"/>
          <p:cNvSpPr txBox="1"/>
          <p:nvPr/>
        </p:nvSpPr>
        <p:spPr>
          <a:xfrm>
            <a:off x="868680" y="4599432"/>
            <a:ext cx="4937760" cy="228600"/>
          </a:xfrm>
          <a:prstGeom prst="rect">
            <a:avLst/>
          </a:prstGeom>
          <a:noFill/>
        </p:spPr>
        <p:txBody>
          <a:bodyPr wrap="square" lIns="0" tIns="0" rIns="0" bIns="0" anchor="t">
            <a:spAutoFit/>
          </a:bodyPr>
          <a:lstStyle/>
          <a:p>
            <a:pPr algn="l">
              <a:spcBef>
                <a:spcPts val="0"/>
              </a:spcBef>
              <a:spcAft>
                <a:spcPts val="0"/>
              </a:spcAft>
            </a:pPr>
            <a:r>
              <a:rPr sz="1500" b="1" i="0">
                <a:solidFill>
                  <a:srgbClr val="E4E4E4"/>
                </a:solidFill>
                <a:latin typeface="Inter"/>
              </a:rPr>
              <a:t>Reachable in year one</a:t>
            </a:r>
          </a:p>
        </p:txBody>
      </p:sp>
      <p:sp>
        <p:nvSpPr>
          <p:cNvPr id="23" name="TextBox 22"/>
          <p:cNvSpPr txBox="1"/>
          <p:nvPr/>
        </p:nvSpPr>
        <p:spPr>
          <a:xfrm>
            <a:off x="868680" y="4910328"/>
            <a:ext cx="4937760" cy="274320"/>
          </a:xfrm>
          <a:prstGeom prst="rect">
            <a:avLst/>
          </a:prstGeom>
          <a:noFill/>
        </p:spPr>
        <p:txBody>
          <a:bodyPr wrap="square" lIns="0" tIns="0" rIns="0" bIns="0" anchor="t">
            <a:spAutoFit/>
          </a:bodyPr>
          <a:lstStyle/>
          <a:p>
            <a:pPr algn="l">
              <a:spcBef>
                <a:spcPts val="0"/>
              </a:spcBef>
              <a:spcAft>
                <a:spcPts val="0"/>
              </a:spcAft>
            </a:pPr>
            <a:r>
              <a:rPr sz="1050" b="0" i="0">
                <a:solidFill>
                  <a:srgbClr val="9C9C9C"/>
                </a:solidFill>
                <a:latin typeface="Inter"/>
              </a:rPr>
              <a:t>BITS · Symbiosis · waitlist → first engaged cohort.</a:t>
            </a:r>
          </a:p>
        </p:txBody>
      </p:sp>
      <p:sp>
        <p:nvSpPr>
          <p:cNvPr id="24" name="Rounded Rectangle 23"/>
          <p:cNvSpPr/>
          <p:nvPr/>
        </p:nvSpPr>
        <p:spPr>
          <a:xfrm>
            <a:off x="6309360" y="4507992"/>
            <a:ext cx="4206240" cy="365760"/>
          </a:xfrm>
          <a:prstGeom prst="round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309360" y="4507992"/>
            <a:ext cx="504748" cy="365760"/>
          </a:xfrm>
          <a:prstGeom prst="roundRect">
            <a:avLst/>
          </a:prstGeom>
          <a:solidFill>
            <a:srgbClr val="F0A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698480" y="4507992"/>
            <a:ext cx="914400" cy="274320"/>
          </a:xfrm>
          <a:prstGeom prst="rect">
            <a:avLst/>
          </a:prstGeom>
          <a:noFill/>
        </p:spPr>
        <p:txBody>
          <a:bodyPr wrap="square" lIns="0" tIns="0" rIns="0" bIns="0" anchor="t">
            <a:spAutoFit/>
          </a:bodyPr>
          <a:lstStyle/>
          <a:p>
            <a:pPr algn="r">
              <a:spcBef>
                <a:spcPts val="0"/>
              </a:spcBef>
              <a:spcAft>
                <a:spcPts val="0"/>
              </a:spcAft>
            </a:pPr>
            <a:r>
              <a:rPr sz="1500" b="1" i="0">
                <a:solidFill>
                  <a:srgbClr val="F0A873"/>
                </a:solidFill>
                <a:latin typeface="Inter"/>
              </a:rPr>
              <a:t>10K+</a:t>
            </a:r>
          </a:p>
        </p:txBody>
      </p:sp>
      <p:cxnSp>
        <p:nvCxnSpPr>
          <p:cNvPr id="28" name="Connector 27"/>
          <p:cNvCxnSpPr/>
          <p:nvPr/>
        </p:nvCxnSpPr>
        <p:spPr>
          <a:xfrm>
            <a:off x="594360" y="6464808"/>
            <a:ext cx="11002975"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94360" y="6574536"/>
            <a:ext cx="3474720" cy="146304"/>
          </a:xfrm>
          <a:prstGeom prst="rect">
            <a:avLst/>
          </a:prstGeom>
          <a:noFill/>
        </p:spPr>
        <p:txBody>
          <a:bodyPr wrap="square" lIns="0" tIns="0" rIns="0" bIns="0" anchor="t">
            <a:spAutoFit/>
          </a:bodyPr>
          <a:lstStyle/>
          <a:p>
            <a:pPr algn="l">
              <a:spcBef>
                <a:spcPts val="0"/>
              </a:spcBef>
              <a:spcAft>
                <a:spcPts val="0"/>
              </a:spcAft>
            </a:pPr>
            <a:r>
              <a:rPr sz="850" b="0" i="0">
                <a:solidFill>
                  <a:srgbClr val="6E6E6E"/>
                </a:solidFill>
                <a:latin typeface="Cascadia Mono"/>
              </a:rPr>
              <a:t>Avenire / learning that remembers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3"/>
          <a:stretch>
            <a:fillRect/>
          </a:stretch>
        </p:blipFill>
        <p:spPr>
          <a:xfrm>
            <a:off x="594360" y="256032"/>
            <a:ext cx="210312" cy="210312"/>
          </a:xfrm>
          <a:prstGeom prst="rect">
            <a:avLst/>
          </a:prstGeom>
        </p:spPr>
      </p:pic>
      <p:sp>
        <p:nvSpPr>
          <p:cNvPr id="4" name="TextBox 3"/>
          <p:cNvSpPr txBox="1"/>
          <p:nvPr/>
        </p:nvSpPr>
        <p:spPr>
          <a:xfrm>
            <a:off x="877824" y="237744"/>
            <a:ext cx="822960" cy="237744"/>
          </a:xfrm>
          <a:prstGeom prst="rect">
            <a:avLst/>
          </a:prstGeom>
          <a:noFill/>
        </p:spPr>
        <p:txBody>
          <a:bodyPr wrap="square" lIns="0" tIns="0" rIns="0" bIns="0" anchor="ctr">
            <a:spAutoFit/>
          </a:bodyPr>
          <a:lstStyle/>
          <a:p>
            <a:pPr algn="l">
              <a:spcBef>
                <a:spcPts val="0"/>
              </a:spcBef>
              <a:spcAft>
                <a:spcPts val="0"/>
              </a:spcAft>
            </a:pPr>
            <a:r>
              <a:rPr sz="1100" b="1" i="0">
                <a:solidFill>
                  <a:srgbClr val="E4E4E4"/>
                </a:solidFill>
                <a:latin typeface="Inter"/>
              </a:rPr>
              <a:t>Avenire</a:t>
            </a:r>
          </a:p>
        </p:txBody>
      </p:sp>
      <p:sp>
        <p:nvSpPr>
          <p:cNvPr id="5" name="TextBox 4"/>
          <p:cNvSpPr txBox="1"/>
          <p:nvPr/>
        </p:nvSpPr>
        <p:spPr>
          <a:xfrm>
            <a:off x="11277295" y="265176"/>
            <a:ext cx="320040" cy="182880"/>
          </a:xfrm>
          <a:prstGeom prst="rect">
            <a:avLst/>
          </a:prstGeom>
          <a:noFill/>
        </p:spPr>
        <p:txBody>
          <a:bodyPr wrap="square" lIns="0" tIns="0" rIns="0" bIns="0" anchor="t">
            <a:spAutoFit/>
          </a:bodyPr>
          <a:lstStyle/>
          <a:p>
            <a:pPr algn="r">
              <a:spcBef>
                <a:spcPts val="0"/>
              </a:spcBef>
              <a:spcAft>
                <a:spcPts val="0"/>
              </a:spcAft>
            </a:pPr>
            <a:r>
              <a:rPr sz="900" b="0" i="0">
                <a:solidFill>
                  <a:srgbClr val="6E6E6E"/>
                </a:solidFill>
                <a:latin typeface="Cascadia Mono"/>
              </a:rPr>
              <a:t>11</a:t>
            </a:r>
          </a:p>
        </p:txBody>
      </p:sp>
      <p:sp>
        <p:nvSpPr>
          <p:cNvPr id="6" name="TextBox 5"/>
          <p:cNvSpPr txBox="1"/>
          <p:nvPr/>
        </p:nvSpPr>
        <p:spPr>
          <a:xfrm>
            <a:off x="594360" y="749808"/>
            <a:ext cx="5303520" cy="201168"/>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BUSINESS MODEL</a:t>
            </a:r>
          </a:p>
        </p:txBody>
      </p:sp>
      <p:sp>
        <p:nvSpPr>
          <p:cNvPr id="7" name="TextBox 6"/>
          <p:cNvSpPr txBox="1"/>
          <p:nvPr/>
        </p:nvSpPr>
        <p:spPr>
          <a:xfrm>
            <a:off x="594360" y="1005840"/>
            <a:ext cx="10789920" cy="640080"/>
          </a:xfrm>
          <a:prstGeom prst="rect">
            <a:avLst/>
          </a:prstGeom>
          <a:noFill/>
        </p:spPr>
        <p:txBody>
          <a:bodyPr wrap="square" lIns="0" tIns="0" rIns="0" bIns="0" anchor="t">
            <a:spAutoFit/>
          </a:bodyPr>
          <a:lstStyle/>
          <a:p>
            <a:pPr algn="l">
              <a:spcBef>
                <a:spcPts val="0"/>
              </a:spcBef>
              <a:spcAft>
                <a:spcPts val="0"/>
              </a:spcAft>
            </a:pPr>
            <a:r>
              <a:rPr sz="3000" b="1" i="0">
                <a:solidFill>
                  <a:srgbClr val="E4E4E4"/>
                </a:solidFill>
                <a:latin typeface="Inter"/>
              </a:rPr>
              <a:t>Simple, usage-based pricing.</a:t>
            </a:r>
          </a:p>
        </p:txBody>
      </p:sp>
      <p:sp>
        <p:nvSpPr>
          <p:cNvPr id="8" name="TextBox 7"/>
          <p:cNvSpPr txBox="1"/>
          <p:nvPr/>
        </p:nvSpPr>
        <p:spPr>
          <a:xfrm>
            <a:off x="594360" y="1691640"/>
            <a:ext cx="9692640" cy="384048"/>
          </a:xfrm>
          <a:prstGeom prst="rect">
            <a:avLst/>
          </a:prstGeom>
          <a:noFill/>
        </p:spPr>
        <p:txBody>
          <a:bodyPr wrap="square" lIns="0" tIns="0" rIns="0" bIns="0" anchor="t">
            <a:spAutoFit/>
          </a:bodyPr>
          <a:lstStyle/>
          <a:p>
            <a:pPr algn="l">
              <a:spcBef>
                <a:spcPts val="0"/>
              </a:spcBef>
              <a:spcAft>
                <a:spcPts val="0"/>
              </a:spcAft>
            </a:pPr>
            <a:r>
              <a:rPr sz="1400" b="0" i="0">
                <a:solidFill>
                  <a:srgbClr val="9C9C9C"/>
                </a:solidFill>
                <a:latin typeface="Inter"/>
              </a:rPr>
              <a:t>A current hypothesis designed to reduce adoption friction and learn what students will pay for.</a:t>
            </a:r>
          </a:p>
        </p:txBody>
      </p:sp>
      <p:cxnSp>
        <p:nvCxnSpPr>
          <p:cNvPr id="9" name="Connector 8"/>
          <p:cNvCxnSpPr/>
          <p:nvPr/>
        </p:nvCxnSpPr>
        <p:spPr>
          <a:xfrm>
            <a:off x="777240" y="2148840"/>
            <a:ext cx="2651760" cy="0"/>
          </a:xfrm>
          <a:prstGeom prst="line">
            <a:avLst/>
          </a:prstGeom>
          <a:ln w="25400">
            <a:solidFill>
              <a:srgbClr val="ABC4FF"/>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77240" y="2359152"/>
            <a:ext cx="2194560" cy="274320"/>
          </a:xfrm>
          <a:prstGeom prst="rect">
            <a:avLst/>
          </a:prstGeom>
          <a:noFill/>
        </p:spPr>
        <p:txBody>
          <a:bodyPr wrap="square" lIns="0" tIns="0" rIns="0" bIns="0" anchor="t">
            <a:spAutoFit/>
          </a:bodyPr>
          <a:lstStyle/>
          <a:p>
            <a:pPr algn="l">
              <a:spcBef>
                <a:spcPts val="0"/>
              </a:spcBef>
              <a:spcAft>
                <a:spcPts val="0"/>
              </a:spcAft>
            </a:pPr>
            <a:r>
              <a:rPr sz="2000" b="1" i="0">
                <a:solidFill>
                  <a:srgbClr val="E4E4E4"/>
                </a:solidFill>
                <a:latin typeface="Inter"/>
              </a:rPr>
              <a:t>Access</a:t>
            </a:r>
          </a:p>
        </p:txBody>
      </p:sp>
      <p:sp>
        <p:nvSpPr>
          <p:cNvPr id="11" name="TextBox 10"/>
          <p:cNvSpPr txBox="1"/>
          <p:nvPr/>
        </p:nvSpPr>
        <p:spPr>
          <a:xfrm>
            <a:off x="777240" y="2816352"/>
            <a:ext cx="2194560" cy="411480"/>
          </a:xfrm>
          <a:prstGeom prst="rect">
            <a:avLst/>
          </a:prstGeom>
          <a:noFill/>
        </p:spPr>
        <p:txBody>
          <a:bodyPr wrap="square" lIns="0" tIns="0" rIns="0" bIns="0" anchor="ctr">
            <a:spAutoFit/>
          </a:bodyPr>
          <a:lstStyle/>
          <a:p>
            <a:pPr algn="l">
              <a:spcBef>
                <a:spcPts val="0"/>
              </a:spcBef>
              <a:spcAft>
                <a:spcPts val="0"/>
              </a:spcAft>
            </a:pPr>
            <a:r>
              <a:rPr sz="2800" b="1" i="0">
                <a:solidFill>
                  <a:srgbClr val="ABC4FF"/>
                </a:solidFill>
                <a:latin typeface="Inter"/>
              </a:rPr>
              <a:t>₹0</a:t>
            </a:r>
          </a:p>
        </p:txBody>
      </p:sp>
      <p:sp>
        <p:nvSpPr>
          <p:cNvPr id="12" name="TextBox 11"/>
          <p:cNvSpPr txBox="1"/>
          <p:nvPr/>
        </p:nvSpPr>
        <p:spPr>
          <a:xfrm>
            <a:off x="777240" y="3337560"/>
            <a:ext cx="2651760" cy="274320"/>
          </a:xfrm>
          <a:prstGeom prst="rect">
            <a:avLst/>
          </a:prstGeom>
          <a:noFill/>
        </p:spPr>
        <p:txBody>
          <a:bodyPr wrap="square" lIns="0" tIns="0" rIns="0" bIns="0" anchor="t">
            <a:spAutoFit/>
          </a:bodyPr>
          <a:lstStyle/>
          <a:p>
            <a:pPr algn="l">
              <a:spcBef>
                <a:spcPts val="0"/>
              </a:spcBef>
              <a:spcAft>
                <a:spcPts val="0"/>
              </a:spcAft>
            </a:pPr>
            <a:r>
              <a:rPr sz="1100" b="0" i="0">
                <a:solidFill>
                  <a:srgbClr val="9C9C9C"/>
                </a:solidFill>
                <a:latin typeface="Inter"/>
              </a:rPr>
              <a:t>For students getting started.</a:t>
            </a:r>
          </a:p>
        </p:txBody>
      </p:sp>
      <p:sp>
        <p:nvSpPr>
          <p:cNvPr id="13" name="Oval 12"/>
          <p:cNvSpPr/>
          <p:nvPr/>
        </p:nvSpPr>
        <p:spPr>
          <a:xfrm>
            <a:off x="777240" y="4014215"/>
            <a:ext cx="100584" cy="100584"/>
          </a:xfrm>
          <a:prstGeom prst="ellipse">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05840" y="3977639"/>
            <a:ext cx="2423160" cy="182880"/>
          </a:xfrm>
          <a:prstGeom prst="rect">
            <a:avLst/>
          </a:prstGeom>
          <a:noFill/>
        </p:spPr>
        <p:txBody>
          <a:bodyPr wrap="square" lIns="0" tIns="0" rIns="0" bIns="0" anchor="ctr">
            <a:spAutoFit/>
          </a:bodyPr>
          <a:lstStyle/>
          <a:p>
            <a:pPr algn="l">
              <a:spcBef>
                <a:spcPts val="0"/>
              </a:spcBef>
              <a:spcAft>
                <a:spcPts val="0"/>
              </a:spcAft>
            </a:pPr>
            <a:r>
              <a:rPr sz="1050" b="0" i="0" dirty="0">
                <a:solidFill>
                  <a:srgbClr val="E4E4E4"/>
                </a:solidFill>
                <a:latin typeface="Inter"/>
              </a:rPr>
              <a:t>330 Apollo credits</a:t>
            </a:r>
          </a:p>
        </p:txBody>
      </p:sp>
      <p:sp>
        <p:nvSpPr>
          <p:cNvPr id="15" name="Oval 14"/>
          <p:cNvSpPr/>
          <p:nvPr/>
        </p:nvSpPr>
        <p:spPr>
          <a:xfrm>
            <a:off x="777240" y="4343400"/>
            <a:ext cx="100584" cy="100584"/>
          </a:xfrm>
          <a:prstGeom prst="ellipse">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05840" y="4306824"/>
            <a:ext cx="2423160" cy="182880"/>
          </a:xfrm>
          <a:prstGeom prst="rect">
            <a:avLst/>
          </a:prstGeom>
          <a:noFill/>
        </p:spPr>
        <p:txBody>
          <a:bodyPr wrap="square" lIns="0" tIns="0" rIns="0" bIns="0" anchor="ctr">
            <a:spAutoFit/>
          </a:bodyPr>
          <a:lstStyle/>
          <a:p>
            <a:pPr algn="l">
              <a:spcBef>
                <a:spcPts val="0"/>
              </a:spcBef>
              <a:spcAft>
                <a:spcPts val="0"/>
              </a:spcAft>
            </a:pPr>
            <a:r>
              <a:rPr sz="1050" b="0" i="0">
                <a:solidFill>
                  <a:srgbClr val="E4E4E4"/>
                </a:solidFill>
                <a:latin typeface="Inter"/>
              </a:rPr>
              <a:t>2 GB storage</a:t>
            </a:r>
          </a:p>
        </p:txBody>
      </p:sp>
      <p:sp>
        <p:nvSpPr>
          <p:cNvPr id="17" name="Oval 16"/>
          <p:cNvSpPr/>
          <p:nvPr/>
        </p:nvSpPr>
        <p:spPr>
          <a:xfrm>
            <a:off x="777240" y="4672583"/>
            <a:ext cx="100584" cy="100584"/>
          </a:xfrm>
          <a:prstGeom prst="ellipse">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05840" y="4636007"/>
            <a:ext cx="2423160" cy="182880"/>
          </a:xfrm>
          <a:prstGeom prst="rect">
            <a:avLst/>
          </a:prstGeom>
          <a:noFill/>
        </p:spPr>
        <p:txBody>
          <a:bodyPr wrap="square" lIns="0" tIns="0" rIns="0" bIns="0" anchor="ctr">
            <a:spAutoFit/>
          </a:bodyPr>
          <a:lstStyle/>
          <a:p>
            <a:pPr algn="l">
              <a:spcBef>
                <a:spcPts val="0"/>
              </a:spcBef>
              <a:spcAft>
                <a:spcPts val="0"/>
              </a:spcAft>
            </a:pPr>
            <a:r>
              <a:rPr sz="1050" b="0" i="0">
                <a:solidFill>
                  <a:srgbClr val="E4E4E4"/>
                </a:solidFill>
                <a:latin typeface="Inter"/>
              </a:rPr>
              <a:t>AI tutor</a:t>
            </a:r>
          </a:p>
        </p:txBody>
      </p:sp>
      <p:sp>
        <p:nvSpPr>
          <p:cNvPr id="19" name="Oval 18"/>
          <p:cNvSpPr/>
          <p:nvPr/>
        </p:nvSpPr>
        <p:spPr>
          <a:xfrm>
            <a:off x="777240" y="5001768"/>
            <a:ext cx="100584" cy="100584"/>
          </a:xfrm>
          <a:prstGeom prst="ellipse">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05840" y="4965192"/>
            <a:ext cx="2423160" cy="182880"/>
          </a:xfrm>
          <a:prstGeom prst="rect">
            <a:avLst/>
          </a:prstGeom>
          <a:noFill/>
        </p:spPr>
        <p:txBody>
          <a:bodyPr wrap="square" lIns="0" tIns="0" rIns="0" bIns="0" anchor="ctr">
            <a:spAutoFit/>
          </a:bodyPr>
          <a:lstStyle/>
          <a:p>
            <a:pPr algn="l">
              <a:spcBef>
                <a:spcPts val="0"/>
              </a:spcBef>
              <a:spcAft>
                <a:spcPts val="0"/>
              </a:spcAft>
            </a:pPr>
            <a:r>
              <a:rPr sz="1050" b="0" i="0">
                <a:solidFill>
                  <a:srgbClr val="E4E4E4"/>
                </a:solidFill>
                <a:latin typeface="Inter"/>
              </a:rPr>
              <a:t>Interactive concepts</a:t>
            </a:r>
          </a:p>
        </p:txBody>
      </p:sp>
      <p:sp>
        <p:nvSpPr>
          <p:cNvPr id="21" name="Oval 20"/>
          <p:cNvSpPr/>
          <p:nvPr/>
        </p:nvSpPr>
        <p:spPr>
          <a:xfrm>
            <a:off x="777240" y="5330951"/>
            <a:ext cx="100584" cy="100584"/>
          </a:xfrm>
          <a:prstGeom prst="ellipse">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05840" y="5294375"/>
            <a:ext cx="2423160" cy="182880"/>
          </a:xfrm>
          <a:prstGeom prst="rect">
            <a:avLst/>
          </a:prstGeom>
          <a:noFill/>
        </p:spPr>
        <p:txBody>
          <a:bodyPr wrap="square" lIns="0" tIns="0" rIns="0" bIns="0" anchor="ctr">
            <a:spAutoFit/>
          </a:bodyPr>
          <a:lstStyle/>
          <a:p>
            <a:pPr algn="l">
              <a:spcBef>
                <a:spcPts val="0"/>
              </a:spcBef>
              <a:spcAft>
                <a:spcPts val="0"/>
              </a:spcAft>
            </a:pPr>
            <a:r>
              <a:rPr sz="1050" b="0" i="0">
                <a:solidFill>
                  <a:srgbClr val="E4E4E4"/>
                </a:solidFill>
                <a:latin typeface="Inter"/>
              </a:rPr>
              <a:t>Flashcards</a:t>
            </a:r>
          </a:p>
        </p:txBody>
      </p:sp>
      <p:cxnSp>
        <p:nvCxnSpPr>
          <p:cNvPr id="23" name="Connector 22"/>
          <p:cNvCxnSpPr/>
          <p:nvPr/>
        </p:nvCxnSpPr>
        <p:spPr>
          <a:xfrm>
            <a:off x="3904487" y="1874519"/>
            <a:ext cx="0" cy="3474721"/>
          </a:xfrm>
          <a:prstGeom prst="line">
            <a:avLst/>
          </a:prstGeom>
          <a:ln w="12700">
            <a:solidFill>
              <a:srgbClr val="34343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160520" y="2148840"/>
            <a:ext cx="2651759" cy="0"/>
          </a:xfrm>
          <a:prstGeom prst="line">
            <a:avLst/>
          </a:prstGeom>
          <a:ln w="25400">
            <a:solidFill>
              <a:srgbClr val="78C4D5"/>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160520" y="2359152"/>
            <a:ext cx="2194560" cy="274320"/>
          </a:xfrm>
          <a:prstGeom prst="rect">
            <a:avLst/>
          </a:prstGeom>
          <a:noFill/>
        </p:spPr>
        <p:txBody>
          <a:bodyPr wrap="square" lIns="0" tIns="0" rIns="0" bIns="0" anchor="t">
            <a:spAutoFit/>
          </a:bodyPr>
          <a:lstStyle/>
          <a:p>
            <a:pPr algn="l">
              <a:spcBef>
                <a:spcPts val="0"/>
              </a:spcBef>
              <a:spcAft>
                <a:spcPts val="0"/>
              </a:spcAft>
            </a:pPr>
            <a:r>
              <a:rPr sz="2000" b="1" i="0">
                <a:solidFill>
                  <a:srgbClr val="E4E4E4"/>
                </a:solidFill>
                <a:latin typeface="Inter"/>
              </a:rPr>
              <a:t>Core</a:t>
            </a:r>
          </a:p>
        </p:txBody>
      </p:sp>
      <p:sp>
        <p:nvSpPr>
          <p:cNvPr id="26" name="TextBox 25"/>
          <p:cNvSpPr txBox="1"/>
          <p:nvPr/>
        </p:nvSpPr>
        <p:spPr>
          <a:xfrm>
            <a:off x="4160520" y="2816352"/>
            <a:ext cx="2194560" cy="411480"/>
          </a:xfrm>
          <a:prstGeom prst="rect">
            <a:avLst/>
          </a:prstGeom>
          <a:noFill/>
        </p:spPr>
        <p:txBody>
          <a:bodyPr wrap="square" lIns="0" tIns="0" rIns="0" bIns="0" anchor="ctr">
            <a:spAutoFit/>
          </a:bodyPr>
          <a:lstStyle/>
          <a:p>
            <a:pPr algn="l">
              <a:spcBef>
                <a:spcPts val="0"/>
              </a:spcBef>
              <a:spcAft>
                <a:spcPts val="0"/>
              </a:spcAft>
            </a:pPr>
            <a:r>
              <a:rPr sz="2800" b="1" i="0">
                <a:solidFill>
                  <a:srgbClr val="78C4D5"/>
                </a:solidFill>
                <a:latin typeface="Inter"/>
              </a:rPr>
              <a:t>₹450</a:t>
            </a:r>
          </a:p>
        </p:txBody>
      </p:sp>
      <p:sp>
        <p:nvSpPr>
          <p:cNvPr id="27" name="TextBox 26"/>
          <p:cNvSpPr txBox="1"/>
          <p:nvPr/>
        </p:nvSpPr>
        <p:spPr>
          <a:xfrm>
            <a:off x="4160520" y="3337560"/>
            <a:ext cx="2651760" cy="274320"/>
          </a:xfrm>
          <a:prstGeom prst="rect">
            <a:avLst/>
          </a:prstGeom>
          <a:noFill/>
        </p:spPr>
        <p:txBody>
          <a:bodyPr wrap="square" lIns="0" tIns="0" rIns="0" bIns="0" anchor="t">
            <a:spAutoFit/>
          </a:bodyPr>
          <a:lstStyle/>
          <a:p>
            <a:pPr algn="l">
              <a:spcBef>
                <a:spcPts val="0"/>
              </a:spcBef>
              <a:spcAft>
                <a:spcPts val="0"/>
              </a:spcAft>
            </a:pPr>
            <a:r>
              <a:rPr sz="1100" b="0" i="0">
                <a:solidFill>
                  <a:srgbClr val="9C9C9C"/>
                </a:solidFill>
                <a:latin typeface="Inter"/>
              </a:rPr>
              <a:t>For daily study.</a:t>
            </a:r>
          </a:p>
        </p:txBody>
      </p:sp>
      <p:sp>
        <p:nvSpPr>
          <p:cNvPr id="28" name="Oval 27"/>
          <p:cNvSpPr/>
          <p:nvPr/>
        </p:nvSpPr>
        <p:spPr>
          <a:xfrm>
            <a:off x="4160520" y="4014215"/>
            <a:ext cx="100584" cy="100584"/>
          </a:xfrm>
          <a:prstGeom prst="ellipse">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389120" y="3977639"/>
            <a:ext cx="2423160" cy="182880"/>
          </a:xfrm>
          <a:prstGeom prst="rect">
            <a:avLst/>
          </a:prstGeom>
          <a:noFill/>
        </p:spPr>
        <p:txBody>
          <a:bodyPr wrap="square" lIns="0" tIns="0" rIns="0" bIns="0" anchor="ctr">
            <a:spAutoFit/>
          </a:bodyPr>
          <a:lstStyle/>
          <a:p>
            <a:pPr algn="l">
              <a:spcBef>
                <a:spcPts val="0"/>
              </a:spcBef>
              <a:spcAft>
                <a:spcPts val="0"/>
              </a:spcAft>
            </a:pPr>
            <a:r>
              <a:rPr sz="1050" b="0" i="0">
                <a:solidFill>
                  <a:srgbClr val="E4E4E4"/>
                </a:solidFill>
                <a:latin typeface="Inter"/>
              </a:rPr>
              <a:t>1,880 Apollo credits</a:t>
            </a:r>
          </a:p>
        </p:txBody>
      </p:sp>
      <p:sp>
        <p:nvSpPr>
          <p:cNvPr id="30" name="Oval 29"/>
          <p:cNvSpPr/>
          <p:nvPr/>
        </p:nvSpPr>
        <p:spPr>
          <a:xfrm>
            <a:off x="4160520" y="4343400"/>
            <a:ext cx="100584" cy="100584"/>
          </a:xfrm>
          <a:prstGeom prst="ellipse">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389120" y="4306824"/>
            <a:ext cx="2423160" cy="182880"/>
          </a:xfrm>
          <a:prstGeom prst="rect">
            <a:avLst/>
          </a:prstGeom>
          <a:noFill/>
        </p:spPr>
        <p:txBody>
          <a:bodyPr wrap="square" lIns="0" tIns="0" rIns="0" bIns="0" anchor="ctr">
            <a:spAutoFit/>
          </a:bodyPr>
          <a:lstStyle/>
          <a:p>
            <a:pPr algn="l">
              <a:spcBef>
                <a:spcPts val="0"/>
              </a:spcBef>
              <a:spcAft>
                <a:spcPts val="0"/>
              </a:spcAft>
            </a:pPr>
            <a:r>
              <a:rPr sz="1050" b="0" i="0">
                <a:solidFill>
                  <a:srgbClr val="E4E4E4"/>
                </a:solidFill>
                <a:latin typeface="Inter"/>
              </a:rPr>
              <a:t>15 GB storage</a:t>
            </a:r>
          </a:p>
        </p:txBody>
      </p:sp>
      <p:sp>
        <p:nvSpPr>
          <p:cNvPr id="32" name="Oval 31"/>
          <p:cNvSpPr/>
          <p:nvPr/>
        </p:nvSpPr>
        <p:spPr>
          <a:xfrm>
            <a:off x="4160520" y="4672583"/>
            <a:ext cx="100584" cy="100584"/>
          </a:xfrm>
          <a:prstGeom prst="ellipse">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389120" y="4636007"/>
            <a:ext cx="2423160" cy="182880"/>
          </a:xfrm>
          <a:prstGeom prst="rect">
            <a:avLst/>
          </a:prstGeom>
          <a:noFill/>
        </p:spPr>
        <p:txBody>
          <a:bodyPr wrap="square" lIns="0" tIns="0" rIns="0" bIns="0" anchor="ctr">
            <a:spAutoFit/>
          </a:bodyPr>
          <a:lstStyle/>
          <a:p>
            <a:pPr algn="l">
              <a:spcBef>
                <a:spcPts val="0"/>
              </a:spcBef>
              <a:spcAft>
                <a:spcPts val="0"/>
              </a:spcAft>
            </a:pPr>
            <a:r>
              <a:rPr sz="1050" b="0" i="0">
                <a:solidFill>
                  <a:srgbClr val="E4E4E4"/>
                </a:solidFill>
                <a:latin typeface="Inter"/>
              </a:rPr>
              <a:t>Priority response</a:t>
            </a:r>
          </a:p>
        </p:txBody>
      </p:sp>
      <p:sp>
        <p:nvSpPr>
          <p:cNvPr id="34" name="Oval 33"/>
          <p:cNvSpPr/>
          <p:nvPr/>
        </p:nvSpPr>
        <p:spPr>
          <a:xfrm>
            <a:off x="4160520" y="5001768"/>
            <a:ext cx="100584" cy="100584"/>
          </a:xfrm>
          <a:prstGeom prst="ellipse">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389120" y="4965192"/>
            <a:ext cx="2423160" cy="182880"/>
          </a:xfrm>
          <a:prstGeom prst="rect">
            <a:avLst/>
          </a:prstGeom>
          <a:noFill/>
        </p:spPr>
        <p:txBody>
          <a:bodyPr wrap="square" lIns="0" tIns="0" rIns="0" bIns="0" anchor="ctr">
            <a:spAutoFit/>
          </a:bodyPr>
          <a:lstStyle/>
          <a:p>
            <a:pPr algn="l">
              <a:spcBef>
                <a:spcPts val="0"/>
              </a:spcBef>
              <a:spcAft>
                <a:spcPts val="0"/>
              </a:spcAft>
            </a:pPr>
            <a:r>
              <a:rPr sz="1050" b="0" i="0">
                <a:solidFill>
                  <a:srgbClr val="E4E4E4"/>
                </a:solidFill>
                <a:latin typeface="Inter"/>
              </a:rPr>
              <a:t>Everything in Access</a:t>
            </a:r>
          </a:p>
        </p:txBody>
      </p:sp>
      <p:cxnSp>
        <p:nvCxnSpPr>
          <p:cNvPr id="36" name="Connector 35"/>
          <p:cNvCxnSpPr/>
          <p:nvPr/>
        </p:nvCxnSpPr>
        <p:spPr>
          <a:xfrm>
            <a:off x="7287768" y="1874519"/>
            <a:ext cx="0" cy="3474721"/>
          </a:xfrm>
          <a:prstGeom prst="line">
            <a:avLst/>
          </a:prstGeom>
          <a:ln w="12700">
            <a:solidFill>
              <a:srgbClr val="34343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543800" y="2148840"/>
            <a:ext cx="2651760" cy="0"/>
          </a:xfrm>
          <a:prstGeom prst="line">
            <a:avLst/>
          </a:prstGeom>
          <a:ln w="25400">
            <a:solidFill>
              <a:srgbClr val="F0A873"/>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543800" y="2359152"/>
            <a:ext cx="2194560" cy="274320"/>
          </a:xfrm>
          <a:prstGeom prst="rect">
            <a:avLst/>
          </a:prstGeom>
          <a:noFill/>
        </p:spPr>
        <p:txBody>
          <a:bodyPr wrap="square" lIns="0" tIns="0" rIns="0" bIns="0" anchor="t">
            <a:spAutoFit/>
          </a:bodyPr>
          <a:lstStyle/>
          <a:p>
            <a:pPr algn="l">
              <a:spcBef>
                <a:spcPts val="0"/>
              </a:spcBef>
              <a:spcAft>
                <a:spcPts val="0"/>
              </a:spcAft>
            </a:pPr>
            <a:r>
              <a:rPr sz="2000" b="1" i="0">
                <a:solidFill>
                  <a:srgbClr val="E4E4E4"/>
                </a:solidFill>
                <a:latin typeface="Inter"/>
              </a:rPr>
              <a:t>Scholar</a:t>
            </a:r>
          </a:p>
        </p:txBody>
      </p:sp>
      <p:sp>
        <p:nvSpPr>
          <p:cNvPr id="39" name="TextBox 38"/>
          <p:cNvSpPr txBox="1"/>
          <p:nvPr/>
        </p:nvSpPr>
        <p:spPr>
          <a:xfrm>
            <a:off x="7543800" y="2816352"/>
            <a:ext cx="2194560" cy="411480"/>
          </a:xfrm>
          <a:prstGeom prst="rect">
            <a:avLst/>
          </a:prstGeom>
          <a:noFill/>
        </p:spPr>
        <p:txBody>
          <a:bodyPr wrap="square" lIns="0" tIns="0" rIns="0" bIns="0" anchor="ctr">
            <a:spAutoFit/>
          </a:bodyPr>
          <a:lstStyle/>
          <a:p>
            <a:pPr algn="l">
              <a:spcBef>
                <a:spcPts val="0"/>
              </a:spcBef>
              <a:spcAft>
                <a:spcPts val="0"/>
              </a:spcAft>
            </a:pPr>
            <a:r>
              <a:rPr sz="2800" b="1" i="0">
                <a:solidFill>
                  <a:srgbClr val="F0A873"/>
                </a:solidFill>
                <a:latin typeface="Inter"/>
              </a:rPr>
              <a:t>₹1,350</a:t>
            </a:r>
          </a:p>
        </p:txBody>
      </p:sp>
      <p:sp>
        <p:nvSpPr>
          <p:cNvPr id="40" name="TextBox 39"/>
          <p:cNvSpPr txBox="1"/>
          <p:nvPr/>
        </p:nvSpPr>
        <p:spPr>
          <a:xfrm>
            <a:off x="7543800" y="3337560"/>
            <a:ext cx="2651760" cy="274320"/>
          </a:xfrm>
          <a:prstGeom prst="rect">
            <a:avLst/>
          </a:prstGeom>
          <a:noFill/>
        </p:spPr>
        <p:txBody>
          <a:bodyPr wrap="square" lIns="0" tIns="0" rIns="0" bIns="0" anchor="t">
            <a:spAutoFit/>
          </a:bodyPr>
          <a:lstStyle/>
          <a:p>
            <a:pPr algn="l">
              <a:spcBef>
                <a:spcPts val="0"/>
              </a:spcBef>
              <a:spcAft>
                <a:spcPts val="0"/>
              </a:spcAft>
            </a:pPr>
            <a:r>
              <a:rPr sz="1100" b="0" i="0">
                <a:solidFill>
                  <a:srgbClr val="9C9C9C"/>
                </a:solidFill>
                <a:latin typeface="Inter"/>
              </a:rPr>
              <a:t>For research-heavy work.</a:t>
            </a:r>
          </a:p>
        </p:txBody>
      </p:sp>
      <p:sp>
        <p:nvSpPr>
          <p:cNvPr id="41" name="Oval 40"/>
          <p:cNvSpPr/>
          <p:nvPr/>
        </p:nvSpPr>
        <p:spPr>
          <a:xfrm>
            <a:off x="7543800" y="4014215"/>
            <a:ext cx="100584" cy="100584"/>
          </a:xfrm>
          <a:prstGeom prst="ellipse">
            <a:avLst/>
          </a:prstGeom>
          <a:solidFill>
            <a:srgbClr val="F0A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772400" y="3977639"/>
            <a:ext cx="2423160" cy="182880"/>
          </a:xfrm>
          <a:prstGeom prst="rect">
            <a:avLst/>
          </a:prstGeom>
          <a:noFill/>
        </p:spPr>
        <p:txBody>
          <a:bodyPr wrap="square" lIns="0" tIns="0" rIns="0" bIns="0" anchor="ctr">
            <a:spAutoFit/>
          </a:bodyPr>
          <a:lstStyle/>
          <a:p>
            <a:pPr algn="l">
              <a:spcBef>
                <a:spcPts val="0"/>
              </a:spcBef>
              <a:spcAft>
                <a:spcPts val="0"/>
              </a:spcAft>
            </a:pPr>
            <a:r>
              <a:rPr sz="1050" b="0" i="0">
                <a:solidFill>
                  <a:srgbClr val="E4E4E4"/>
                </a:solidFill>
                <a:latin typeface="Inter"/>
              </a:rPr>
              <a:t>6,680 Apollo credits</a:t>
            </a:r>
          </a:p>
        </p:txBody>
      </p:sp>
      <p:sp>
        <p:nvSpPr>
          <p:cNvPr id="43" name="Oval 42"/>
          <p:cNvSpPr/>
          <p:nvPr/>
        </p:nvSpPr>
        <p:spPr>
          <a:xfrm>
            <a:off x="7543800" y="4343400"/>
            <a:ext cx="100584" cy="100584"/>
          </a:xfrm>
          <a:prstGeom prst="ellipse">
            <a:avLst/>
          </a:prstGeom>
          <a:solidFill>
            <a:srgbClr val="F0A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772400" y="4306824"/>
            <a:ext cx="2423160" cy="182880"/>
          </a:xfrm>
          <a:prstGeom prst="rect">
            <a:avLst/>
          </a:prstGeom>
          <a:noFill/>
        </p:spPr>
        <p:txBody>
          <a:bodyPr wrap="square" lIns="0" tIns="0" rIns="0" bIns="0" anchor="ctr">
            <a:spAutoFit/>
          </a:bodyPr>
          <a:lstStyle/>
          <a:p>
            <a:pPr algn="l">
              <a:spcBef>
                <a:spcPts val="0"/>
              </a:spcBef>
              <a:spcAft>
                <a:spcPts val="0"/>
              </a:spcAft>
            </a:pPr>
            <a:r>
              <a:rPr sz="1050" b="0" i="0">
                <a:solidFill>
                  <a:srgbClr val="E4E4E4"/>
                </a:solidFill>
                <a:latin typeface="Inter"/>
              </a:rPr>
              <a:t>50 GB storage</a:t>
            </a:r>
          </a:p>
        </p:txBody>
      </p:sp>
      <p:sp>
        <p:nvSpPr>
          <p:cNvPr id="45" name="Oval 44"/>
          <p:cNvSpPr/>
          <p:nvPr/>
        </p:nvSpPr>
        <p:spPr>
          <a:xfrm>
            <a:off x="7543800" y="4672583"/>
            <a:ext cx="100584" cy="100584"/>
          </a:xfrm>
          <a:prstGeom prst="ellipse">
            <a:avLst/>
          </a:prstGeom>
          <a:solidFill>
            <a:srgbClr val="F0A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772400" y="4636007"/>
            <a:ext cx="2423160" cy="182880"/>
          </a:xfrm>
          <a:prstGeom prst="rect">
            <a:avLst/>
          </a:prstGeom>
          <a:noFill/>
        </p:spPr>
        <p:txBody>
          <a:bodyPr wrap="square" lIns="0" tIns="0" rIns="0" bIns="0" anchor="ctr">
            <a:spAutoFit/>
          </a:bodyPr>
          <a:lstStyle/>
          <a:p>
            <a:pPr algn="l">
              <a:spcBef>
                <a:spcPts val="0"/>
              </a:spcBef>
              <a:spcAft>
                <a:spcPts val="0"/>
              </a:spcAft>
            </a:pPr>
            <a:r>
              <a:rPr sz="1050" b="0" i="0">
                <a:solidFill>
                  <a:srgbClr val="E4E4E4"/>
                </a:solidFill>
                <a:latin typeface="Inter"/>
              </a:rPr>
              <a:t>Mastery tracking</a:t>
            </a:r>
          </a:p>
        </p:txBody>
      </p:sp>
      <p:sp>
        <p:nvSpPr>
          <p:cNvPr id="47" name="Oval 46"/>
          <p:cNvSpPr/>
          <p:nvPr/>
        </p:nvSpPr>
        <p:spPr>
          <a:xfrm>
            <a:off x="7543800" y="5001768"/>
            <a:ext cx="100584" cy="100584"/>
          </a:xfrm>
          <a:prstGeom prst="ellipse">
            <a:avLst/>
          </a:prstGeom>
          <a:solidFill>
            <a:srgbClr val="F0A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772400" y="4965192"/>
            <a:ext cx="2423160" cy="182880"/>
          </a:xfrm>
          <a:prstGeom prst="rect">
            <a:avLst/>
          </a:prstGeom>
          <a:noFill/>
        </p:spPr>
        <p:txBody>
          <a:bodyPr wrap="square" lIns="0" tIns="0" rIns="0" bIns="0" anchor="ctr">
            <a:spAutoFit/>
          </a:bodyPr>
          <a:lstStyle/>
          <a:p>
            <a:pPr algn="l">
              <a:spcBef>
                <a:spcPts val="0"/>
              </a:spcBef>
              <a:spcAft>
                <a:spcPts val="0"/>
              </a:spcAft>
            </a:pPr>
            <a:r>
              <a:rPr sz="1050" b="0" i="0">
                <a:solidFill>
                  <a:srgbClr val="E4E4E4"/>
                </a:solidFill>
                <a:latin typeface="Inter"/>
              </a:rPr>
              <a:t>Custom study plans</a:t>
            </a:r>
          </a:p>
        </p:txBody>
      </p:sp>
      <p:sp>
        <p:nvSpPr>
          <p:cNvPr id="49" name="Oval 48"/>
          <p:cNvSpPr/>
          <p:nvPr/>
        </p:nvSpPr>
        <p:spPr>
          <a:xfrm>
            <a:off x="7543800" y="5330951"/>
            <a:ext cx="100584" cy="100584"/>
          </a:xfrm>
          <a:prstGeom prst="ellipse">
            <a:avLst/>
          </a:prstGeom>
          <a:solidFill>
            <a:srgbClr val="F0A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772400" y="5294375"/>
            <a:ext cx="2423160" cy="182880"/>
          </a:xfrm>
          <a:prstGeom prst="rect">
            <a:avLst/>
          </a:prstGeom>
          <a:noFill/>
        </p:spPr>
        <p:txBody>
          <a:bodyPr wrap="square" lIns="0" tIns="0" rIns="0" bIns="0" anchor="ctr">
            <a:spAutoFit/>
          </a:bodyPr>
          <a:lstStyle/>
          <a:p>
            <a:pPr algn="l">
              <a:spcBef>
                <a:spcPts val="0"/>
              </a:spcBef>
              <a:spcAft>
                <a:spcPts val="0"/>
              </a:spcAft>
            </a:pPr>
            <a:r>
              <a:rPr sz="1050" b="0" i="0">
                <a:solidFill>
                  <a:srgbClr val="E4E4E4"/>
                </a:solidFill>
                <a:latin typeface="Inter"/>
              </a:rPr>
              <a:t>Experimental features</a:t>
            </a:r>
          </a:p>
        </p:txBody>
      </p:sp>
      <p:cxnSp>
        <p:nvCxnSpPr>
          <p:cNvPr id="51" name="Connector 50"/>
          <p:cNvCxnSpPr/>
          <p:nvPr/>
        </p:nvCxnSpPr>
        <p:spPr>
          <a:xfrm>
            <a:off x="777240" y="5623560"/>
            <a:ext cx="10607040" cy="0"/>
          </a:xfrm>
          <a:prstGeom prst="line">
            <a:avLst/>
          </a:prstGeom>
          <a:ln w="15240">
            <a:solidFill>
              <a:srgbClr val="A99AD1"/>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777240" y="5806440"/>
            <a:ext cx="1143000" cy="182880"/>
          </a:xfrm>
          <a:prstGeom prst="rect">
            <a:avLst/>
          </a:prstGeom>
          <a:noFill/>
        </p:spPr>
        <p:txBody>
          <a:bodyPr wrap="square" lIns="0" tIns="0" rIns="0" bIns="0" anchor="t">
            <a:spAutoFit/>
          </a:bodyPr>
          <a:lstStyle/>
          <a:p>
            <a:pPr algn="l">
              <a:spcBef>
                <a:spcPts val="0"/>
              </a:spcBef>
              <a:spcAft>
                <a:spcPts val="0"/>
              </a:spcAft>
            </a:pPr>
            <a:r>
              <a:rPr sz="1000" b="1" i="0">
                <a:solidFill>
                  <a:srgbClr val="A99AD1"/>
                </a:solidFill>
                <a:latin typeface="Cascadia Mono"/>
              </a:rPr>
              <a:t>Coming next</a:t>
            </a:r>
          </a:p>
        </p:txBody>
      </p:sp>
      <p:sp>
        <p:nvSpPr>
          <p:cNvPr id="53" name="TextBox 52"/>
          <p:cNvSpPr txBox="1"/>
          <p:nvPr/>
        </p:nvSpPr>
        <p:spPr>
          <a:xfrm>
            <a:off x="2057400" y="5779008"/>
            <a:ext cx="9235440" cy="256032"/>
          </a:xfrm>
          <a:prstGeom prst="rect">
            <a:avLst/>
          </a:prstGeom>
          <a:noFill/>
        </p:spPr>
        <p:txBody>
          <a:bodyPr wrap="square" lIns="0" tIns="0" rIns="0" bIns="0" anchor="t">
            <a:spAutoFit/>
          </a:bodyPr>
          <a:lstStyle/>
          <a:p>
            <a:pPr algn="l">
              <a:spcBef>
                <a:spcPts val="0"/>
              </a:spcBef>
              <a:spcAft>
                <a:spcPts val="0"/>
              </a:spcAft>
            </a:pPr>
            <a:r>
              <a:rPr sz="1100" b="0" i="0">
                <a:solidFill>
                  <a:srgbClr val="E4E4E4"/>
                </a:solidFill>
                <a:latin typeface="Inter"/>
              </a:rPr>
              <a:t>Institutional / Enterprise — university workspaces, educator tools and deployment across institutional knowledge.</a:t>
            </a:r>
          </a:p>
        </p:txBody>
      </p:sp>
      <p:cxnSp>
        <p:nvCxnSpPr>
          <p:cNvPr id="54" name="Connector 53"/>
          <p:cNvCxnSpPr/>
          <p:nvPr/>
        </p:nvCxnSpPr>
        <p:spPr>
          <a:xfrm>
            <a:off x="594360" y="6464808"/>
            <a:ext cx="11002975"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594360" y="6574536"/>
            <a:ext cx="3474720" cy="146304"/>
          </a:xfrm>
          <a:prstGeom prst="rect">
            <a:avLst/>
          </a:prstGeom>
          <a:noFill/>
        </p:spPr>
        <p:txBody>
          <a:bodyPr wrap="square" lIns="0" tIns="0" rIns="0" bIns="0" anchor="t">
            <a:spAutoFit/>
          </a:bodyPr>
          <a:lstStyle/>
          <a:p>
            <a:pPr algn="l">
              <a:spcBef>
                <a:spcPts val="0"/>
              </a:spcBef>
              <a:spcAft>
                <a:spcPts val="0"/>
              </a:spcAft>
            </a:pPr>
            <a:r>
              <a:rPr sz="850" b="0" i="0">
                <a:solidFill>
                  <a:srgbClr val="6E6E6E"/>
                </a:solidFill>
                <a:latin typeface="Cascadia Mono"/>
              </a:rPr>
              <a:t>Avenire / learning that remembers</a:t>
            </a:r>
          </a:p>
        </p:txBody>
      </p:sp>
      <p:sp>
        <p:nvSpPr>
          <p:cNvPr id="56" name="TextBox 55"/>
          <p:cNvSpPr txBox="1"/>
          <p:nvPr/>
        </p:nvSpPr>
        <p:spPr>
          <a:xfrm>
            <a:off x="777240" y="6108192"/>
            <a:ext cx="10698480" cy="164592"/>
          </a:xfrm>
          <a:prstGeom prst="rect">
            <a:avLst/>
          </a:prstGeom>
          <a:noFill/>
        </p:spPr>
        <p:txBody>
          <a:bodyPr wrap="square" lIns="0" tIns="0" rIns="0" bIns="0" anchor="t">
            <a:spAutoFit/>
          </a:bodyPr>
          <a:lstStyle/>
          <a:p>
            <a:pPr algn="l">
              <a:spcBef>
                <a:spcPts val="0"/>
              </a:spcBef>
              <a:spcAft>
                <a:spcPts val="0"/>
              </a:spcAft>
            </a:pPr>
            <a:r>
              <a:rPr sz="850" b="0" i="0" dirty="0">
                <a:solidFill>
                  <a:srgbClr val="6E6E6E"/>
                </a:solidFill>
                <a:latin typeface="Cascadia Mono"/>
              </a:rPr>
              <a:t>Unit economics (illustrative): ~₹200 COGS · ~₹600 paid ARPU · ~₹400 blended revenue per active student · month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3"/>
          <a:stretch>
            <a:fillRect/>
          </a:stretch>
        </p:blipFill>
        <p:spPr>
          <a:xfrm>
            <a:off x="594360" y="256032"/>
            <a:ext cx="210312" cy="210312"/>
          </a:xfrm>
          <a:prstGeom prst="rect">
            <a:avLst/>
          </a:prstGeom>
        </p:spPr>
      </p:pic>
      <p:sp>
        <p:nvSpPr>
          <p:cNvPr id="4" name="TextBox 3"/>
          <p:cNvSpPr txBox="1"/>
          <p:nvPr/>
        </p:nvSpPr>
        <p:spPr>
          <a:xfrm>
            <a:off x="877824" y="237744"/>
            <a:ext cx="822960" cy="237744"/>
          </a:xfrm>
          <a:prstGeom prst="rect">
            <a:avLst/>
          </a:prstGeom>
          <a:noFill/>
        </p:spPr>
        <p:txBody>
          <a:bodyPr wrap="square" lIns="0" tIns="0" rIns="0" bIns="0" anchor="ctr">
            <a:spAutoFit/>
          </a:bodyPr>
          <a:lstStyle/>
          <a:p>
            <a:pPr algn="l">
              <a:spcBef>
                <a:spcPts val="0"/>
              </a:spcBef>
              <a:spcAft>
                <a:spcPts val="0"/>
              </a:spcAft>
            </a:pPr>
            <a:r>
              <a:rPr sz="1100" b="1" i="0">
                <a:solidFill>
                  <a:srgbClr val="E4E4E4"/>
                </a:solidFill>
                <a:latin typeface="Inter"/>
              </a:rPr>
              <a:t>Avenire</a:t>
            </a:r>
          </a:p>
        </p:txBody>
      </p:sp>
      <p:sp>
        <p:nvSpPr>
          <p:cNvPr id="5" name="TextBox 4"/>
          <p:cNvSpPr txBox="1"/>
          <p:nvPr/>
        </p:nvSpPr>
        <p:spPr>
          <a:xfrm>
            <a:off x="11277295" y="265176"/>
            <a:ext cx="320040" cy="182880"/>
          </a:xfrm>
          <a:prstGeom prst="rect">
            <a:avLst/>
          </a:prstGeom>
          <a:noFill/>
        </p:spPr>
        <p:txBody>
          <a:bodyPr wrap="square" lIns="0" tIns="0" rIns="0" bIns="0" anchor="t">
            <a:spAutoFit/>
          </a:bodyPr>
          <a:lstStyle/>
          <a:p>
            <a:pPr algn="r">
              <a:spcBef>
                <a:spcPts val="0"/>
              </a:spcBef>
              <a:spcAft>
                <a:spcPts val="0"/>
              </a:spcAft>
            </a:pPr>
            <a:r>
              <a:rPr sz="900" b="0" i="0">
                <a:solidFill>
                  <a:srgbClr val="6E6E6E"/>
                </a:solidFill>
                <a:latin typeface="Cascadia Mono"/>
              </a:rPr>
              <a:t>12</a:t>
            </a:r>
          </a:p>
        </p:txBody>
      </p:sp>
      <p:sp>
        <p:nvSpPr>
          <p:cNvPr id="6" name="TextBox 5"/>
          <p:cNvSpPr txBox="1"/>
          <p:nvPr/>
        </p:nvSpPr>
        <p:spPr>
          <a:xfrm>
            <a:off x="594360" y="749808"/>
            <a:ext cx="5303520" cy="201168"/>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TRACTION</a:t>
            </a:r>
          </a:p>
        </p:txBody>
      </p:sp>
      <p:sp>
        <p:nvSpPr>
          <p:cNvPr id="7" name="TextBox 6"/>
          <p:cNvSpPr txBox="1"/>
          <p:nvPr/>
        </p:nvSpPr>
        <p:spPr>
          <a:xfrm>
            <a:off x="594360" y="1005840"/>
            <a:ext cx="10789920" cy="640080"/>
          </a:xfrm>
          <a:prstGeom prst="rect">
            <a:avLst/>
          </a:prstGeom>
          <a:noFill/>
        </p:spPr>
        <p:txBody>
          <a:bodyPr wrap="square" lIns="0" tIns="0" rIns="0" bIns="0" anchor="t">
            <a:spAutoFit/>
          </a:bodyPr>
          <a:lstStyle/>
          <a:p>
            <a:pPr algn="l">
              <a:spcBef>
                <a:spcPts val="0"/>
              </a:spcBef>
              <a:spcAft>
                <a:spcPts val="0"/>
              </a:spcAft>
            </a:pPr>
            <a:r>
              <a:rPr sz="3000" b="1" i="0">
                <a:solidFill>
                  <a:srgbClr val="E4E4E4"/>
                </a:solidFill>
                <a:latin typeface="Inter"/>
              </a:rPr>
              <a:t>Early validation.</a:t>
            </a:r>
          </a:p>
        </p:txBody>
      </p:sp>
      <p:sp>
        <p:nvSpPr>
          <p:cNvPr id="8" name="TextBox 7"/>
          <p:cNvSpPr txBox="1"/>
          <p:nvPr/>
        </p:nvSpPr>
        <p:spPr>
          <a:xfrm>
            <a:off x="594360" y="1691640"/>
            <a:ext cx="9692640" cy="384048"/>
          </a:xfrm>
          <a:prstGeom prst="rect">
            <a:avLst/>
          </a:prstGeom>
          <a:noFill/>
        </p:spPr>
        <p:txBody>
          <a:bodyPr wrap="square" lIns="0" tIns="0" rIns="0" bIns="0" anchor="t">
            <a:spAutoFit/>
          </a:bodyPr>
          <a:lstStyle/>
          <a:p>
            <a:pPr algn="l">
              <a:spcBef>
                <a:spcPts val="0"/>
              </a:spcBef>
              <a:spcAft>
                <a:spcPts val="0"/>
              </a:spcAft>
            </a:pPr>
            <a:r>
              <a:rPr sz="1400" b="0" i="0">
                <a:solidFill>
                  <a:srgbClr val="9C9C9C"/>
                </a:solidFill>
                <a:latin typeface="Inter"/>
              </a:rPr>
              <a:t>We are deliberately early — and precise about what is not proven yet.</a:t>
            </a:r>
          </a:p>
        </p:txBody>
      </p:sp>
      <p:sp>
        <p:nvSpPr>
          <p:cNvPr id="10" name="TextBox 9"/>
          <p:cNvSpPr txBox="1"/>
          <p:nvPr/>
        </p:nvSpPr>
        <p:spPr>
          <a:xfrm>
            <a:off x="777240" y="2575364"/>
            <a:ext cx="2286000" cy="822960"/>
          </a:xfrm>
          <a:prstGeom prst="rect">
            <a:avLst/>
          </a:prstGeom>
          <a:noFill/>
        </p:spPr>
        <p:txBody>
          <a:bodyPr wrap="square" lIns="0" tIns="0" rIns="0" bIns="0" anchor="t">
            <a:spAutoFit/>
          </a:bodyPr>
          <a:lstStyle/>
          <a:p>
            <a:pPr algn="l">
              <a:spcBef>
                <a:spcPts val="0"/>
              </a:spcBef>
              <a:spcAft>
                <a:spcPts val="0"/>
              </a:spcAft>
            </a:pPr>
            <a:r>
              <a:rPr sz="5200" b="1" i="0">
                <a:solidFill>
                  <a:srgbClr val="ABC4FF"/>
                </a:solidFill>
                <a:latin typeface="Inter"/>
              </a:rPr>
              <a:t>50+</a:t>
            </a:r>
          </a:p>
        </p:txBody>
      </p:sp>
      <p:sp>
        <p:nvSpPr>
          <p:cNvPr id="11" name="TextBox 10"/>
          <p:cNvSpPr txBox="1"/>
          <p:nvPr/>
        </p:nvSpPr>
        <p:spPr>
          <a:xfrm>
            <a:off x="822960" y="3599492"/>
            <a:ext cx="2651760" cy="274320"/>
          </a:xfrm>
          <a:prstGeom prst="rect">
            <a:avLst/>
          </a:prstGeom>
          <a:noFill/>
        </p:spPr>
        <p:txBody>
          <a:bodyPr wrap="square" lIns="0" tIns="0" rIns="0" bIns="0" anchor="t">
            <a:spAutoFit/>
          </a:bodyPr>
          <a:lstStyle/>
          <a:p>
            <a:pPr algn="l">
              <a:spcBef>
                <a:spcPts val="0"/>
              </a:spcBef>
              <a:spcAft>
                <a:spcPts val="0"/>
              </a:spcAft>
            </a:pPr>
            <a:r>
              <a:rPr sz="1700" b="1" i="0">
                <a:solidFill>
                  <a:srgbClr val="E4E4E4"/>
                </a:solidFill>
                <a:latin typeface="Inter"/>
              </a:rPr>
              <a:t>people on our waitlist</a:t>
            </a:r>
          </a:p>
        </p:txBody>
      </p:sp>
      <p:sp>
        <p:nvSpPr>
          <p:cNvPr id="12" name="TextBox 11"/>
          <p:cNvSpPr txBox="1"/>
          <p:nvPr/>
        </p:nvSpPr>
        <p:spPr>
          <a:xfrm>
            <a:off x="822960" y="4175564"/>
            <a:ext cx="2560320" cy="594360"/>
          </a:xfrm>
          <a:prstGeom prst="rect">
            <a:avLst/>
          </a:prstGeom>
          <a:noFill/>
        </p:spPr>
        <p:txBody>
          <a:bodyPr wrap="square" lIns="0" tIns="0" rIns="0" bIns="0" anchor="t">
            <a:spAutoFit/>
          </a:bodyPr>
          <a:lstStyle/>
          <a:p>
            <a:pPr algn="l">
              <a:spcBef>
                <a:spcPts val="0"/>
              </a:spcBef>
              <a:spcAft>
                <a:spcPts val="0"/>
              </a:spcAft>
            </a:pPr>
            <a:r>
              <a:rPr sz="1100" b="0" i="0">
                <a:solidFill>
                  <a:srgbClr val="9C9C9C"/>
                </a:solidFill>
                <a:latin typeface="Inter"/>
              </a:rPr>
              <a:t>A working product with early interest — before active usage or revenue.</a:t>
            </a:r>
          </a:p>
        </p:txBody>
      </p:sp>
      <p:sp>
        <p:nvSpPr>
          <p:cNvPr id="13" name="TextBox 12"/>
          <p:cNvSpPr txBox="1"/>
          <p:nvPr/>
        </p:nvSpPr>
        <p:spPr>
          <a:xfrm>
            <a:off x="4160520" y="2282756"/>
            <a:ext cx="3108960" cy="228600"/>
          </a:xfrm>
          <a:prstGeom prst="rect">
            <a:avLst/>
          </a:prstGeom>
          <a:noFill/>
        </p:spPr>
        <p:txBody>
          <a:bodyPr wrap="square" lIns="0" tIns="0" rIns="0" bIns="0" anchor="t">
            <a:spAutoFit/>
          </a:bodyPr>
          <a:lstStyle/>
          <a:p>
            <a:pPr algn="l">
              <a:spcBef>
                <a:spcPts val="0"/>
              </a:spcBef>
              <a:spcAft>
                <a:spcPts val="0"/>
              </a:spcAft>
            </a:pPr>
            <a:r>
              <a:rPr sz="1100" b="1" i="0">
                <a:solidFill>
                  <a:srgbClr val="ABC4FF"/>
                </a:solidFill>
                <a:latin typeface="Cascadia Mono"/>
              </a:rPr>
              <a:t>Where we are today</a:t>
            </a:r>
          </a:p>
        </p:txBody>
      </p:sp>
      <p:cxnSp>
        <p:nvCxnSpPr>
          <p:cNvPr id="14" name="Connector 13"/>
          <p:cNvCxnSpPr/>
          <p:nvPr/>
        </p:nvCxnSpPr>
        <p:spPr>
          <a:xfrm>
            <a:off x="4343400" y="3288596"/>
            <a:ext cx="6583680" cy="0"/>
          </a:xfrm>
          <a:prstGeom prst="line">
            <a:avLst/>
          </a:prstGeom>
          <a:ln w="20320">
            <a:solidFill>
              <a:srgbClr val="343434"/>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4526280" y="3105716"/>
            <a:ext cx="365760" cy="365760"/>
          </a:xfrm>
          <a:prstGeom prst="ellipse">
            <a:avLst/>
          </a:prstGeom>
          <a:solidFill>
            <a:srgbClr val="78C4D5"/>
          </a:solidFill>
          <a:ln w="12700">
            <a:solidFill>
              <a:srgbClr val="78C4D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141414"/>
                </a:solidFill>
              </a:rPr>
              <a:t>1</a:t>
            </a:r>
            <a:endParaRPr dirty="0">
              <a:solidFill>
                <a:srgbClr val="141414"/>
              </a:solidFill>
            </a:endParaRPr>
          </a:p>
        </p:txBody>
      </p:sp>
      <p:sp>
        <p:nvSpPr>
          <p:cNvPr id="17" name="TextBox 16"/>
          <p:cNvSpPr txBox="1"/>
          <p:nvPr/>
        </p:nvSpPr>
        <p:spPr>
          <a:xfrm>
            <a:off x="4114800" y="3745796"/>
            <a:ext cx="1188720" cy="182880"/>
          </a:xfrm>
          <a:prstGeom prst="rect">
            <a:avLst/>
          </a:prstGeom>
          <a:noFill/>
        </p:spPr>
        <p:txBody>
          <a:bodyPr wrap="square" lIns="0" tIns="0" rIns="0" bIns="0" anchor="t">
            <a:spAutoFit/>
          </a:bodyPr>
          <a:lstStyle/>
          <a:p>
            <a:pPr algn="ctr">
              <a:spcBef>
                <a:spcPts val="0"/>
              </a:spcBef>
              <a:spcAft>
                <a:spcPts val="0"/>
              </a:spcAft>
            </a:pPr>
            <a:r>
              <a:rPr sz="1100" b="1" i="0">
                <a:solidFill>
                  <a:srgbClr val="E4E4E4"/>
                </a:solidFill>
                <a:latin typeface="Inter"/>
              </a:rPr>
              <a:t>Product</a:t>
            </a:r>
          </a:p>
        </p:txBody>
      </p:sp>
      <p:sp>
        <p:nvSpPr>
          <p:cNvPr id="18" name="TextBox 17"/>
          <p:cNvSpPr txBox="1"/>
          <p:nvPr/>
        </p:nvSpPr>
        <p:spPr>
          <a:xfrm>
            <a:off x="3977640" y="4056692"/>
            <a:ext cx="1463040" cy="182880"/>
          </a:xfrm>
          <a:prstGeom prst="rect">
            <a:avLst/>
          </a:prstGeom>
          <a:noFill/>
        </p:spPr>
        <p:txBody>
          <a:bodyPr wrap="square" lIns="0" tIns="0" rIns="0" bIns="0" anchor="t">
            <a:spAutoFit/>
          </a:bodyPr>
          <a:lstStyle/>
          <a:p>
            <a:pPr algn="ctr">
              <a:spcBef>
                <a:spcPts val="0"/>
              </a:spcBef>
              <a:spcAft>
                <a:spcPts val="0"/>
              </a:spcAft>
            </a:pPr>
            <a:r>
              <a:rPr sz="1000" b="1" i="0">
                <a:solidFill>
                  <a:srgbClr val="78C4D5"/>
                </a:solidFill>
                <a:latin typeface="Inter"/>
              </a:rPr>
              <a:t>Working</a:t>
            </a:r>
          </a:p>
        </p:txBody>
      </p:sp>
      <p:sp>
        <p:nvSpPr>
          <p:cNvPr id="19" name="Oval 18"/>
          <p:cNvSpPr/>
          <p:nvPr/>
        </p:nvSpPr>
        <p:spPr>
          <a:xfrm>
            <a:off x="6446520" y="3105716"/>
            <a:ext cx="365760" cy="365760"/>
          </a:xfrm>
          <a:prstGeom prst="ellipse">
            <a:avLst/>
          </a:prstGeom>
          <a:solidFill>
            <a:srgbClr val="ABC4FF"/>
          </a:solidFill>
          <a:ln w="12700">
            <a:solidFill>
              <a:srgbClr val="ABC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141414"/>
                </a:solidFill>
              </a:rPr>
              <a:t>2</a:t>
            </a:r>
            <a:endParaRPr dirty="0">
              <a:solidFill>
                <a:srgbClr val="141414"/>
              </a:solidFill>
            </a:endParaRPr>
          </a:p>
        </p:txBody>
      </p:sp>
      <p:sp>
        <p:nvSpPr>
          <p:cNvPr id="21" name="TextBox 20"/>
          <p:cNvSpPr txBox="1"/>
          <p:nvPr/>
        </p:nvSpPr>
        <p:spPr>
          <a:xfrm>
            <a:off x="6035040" y="3745796"/>
            <a:ext cx="1188720" cy="182880"/>
          </a:xfrm>
          <a:prstGeom prst="rect">
            <a:avLst/>
          </a:prstGeom>
          <a:noFill/>
        </p:spPr>
        <p:txBody>
          <a:bodyPr wrap="square" lIns="0" tIns="0" rIns="0" bIns="0" anchor="t">
            <a:spAutoFit/>
          </a:bodyPr>
          <a:lstStyle/>
          <a:p>
            <a:pPr algn="ctr">
              <a:spcBef>
                <a:spcPts val="0"/>
              </a:spcBef>
              <a:spcAft>
                <a:spcPts val="0"/>
              </a:spcAft>
            </a:pPr>
            <a:r>
              <a:rPr sz="1100" b="1" i="0">
                <a:solidFill>
                  <a:srgbClr val="E4E4E4"/>
                </a:solidFill>
                <a:latin typeface="Inter"/>
              </a:rPr>
              <a:t>Waitlist</a:t>
            </a:r>
          </a:p>
        </p:txBody>
      </p:sp>
      <p:sp>
        <p:nvSpPr>
          <p:cNvPr id="22" name="TextBox 21"/>
          <p:cNvSpPr txBox="1"/>
          <p:nvPr/>
        </p:nvSpPr>
        <p:spPr>
          <a:xfrm>
            <a:off x="5897880" y="4056692"/>
            <a:ext cx="1463040" cy="182880"/>
          </a:xfrm>
          <a:prstGeom prst="rect">
            <a:avLst/>
          </a:prstGeom>
          <a:noFill/>
        </p:spPr>
        <p:txBody>
          <a:bodyPr wrap="square" lIns="0" tIns="0" rIns="0" bIns="0" anchor="t">
            <a:spAutoFit/>
          </a:bodyPr>
          <a:lstStyle/>
          <a:p>
            <a:pPr algn="ctr">
              <a:spcBef>
                <a:spcPts val="0"/>
              </a:spcBef>
              <a:spcAft>
                <a:spcPts val="0"/>
              </a:spcAft>
            </a:pPr>
            <a:r>
              <a:rPr sz="1000" b="1" i="0">
                <a:solidFill>
                  <a:srgbClr val="ABC4FF"/>
                </a:solidFill>
                <a:latin typeface="Inter"/>
              </a:rPr>
              <a:t>50+</a:t>
            </a:r>
          </a:p>
        </p:txBody>
      </p:sp>
      <p:sp>
        <p:nvSpPr>
          <p:cNvPr id="23" name="Oval 22"/>
          <p:cNvSpPr/>
          <p:nvPr/>
        </p:nvSpPr>
        <p:spPr>
          <a:xfrm>
            <a:off x="8366760" y="3105716"/>
            <a:ext cx="365760" cy="365760"/>
          </a:xfrm>
          <a:prstGeom prst="ellipse">
            <a:avLst/>
          </a:prstGeom>
          <a:solidFill>
            <a:srgbClr val="9C9C9C"/>
          </a:solidFill>
          <a:ln w="12700">
            <a:solidFill>
              <a:srgbClr val="34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141414"/>
                </a:solidFill>
              </a:rPr>
              <a:t>3</a:t>
            </a:r>
            <a:endParaRPr dirty="0">
              <a:solidFill>
                <a:srgbClr val="141414"/>
              </a:solidFill>
            </a:endParaRPr>
          </a:p>
        </p:txBody>
      </p:sp>
      <p:sp>
        <p:nvSpPr>
          <p:cNvPr id="25" name="TextBox 24"/>
          <p:cNvSpPr txBox="1"/>
          <p:nvPr/>
        </p:nvSpPr>
        <p:spPr>
          <a:xfrm>
            <a:off x="7955280" y="3745796"/>
            <a:ext cx="1188720" cy="182880"/>
          </a:xfrm>
          <a:prstGeom prst="rect">
            <a:avLst/>
          </a:prstGeom>
          <a:noFill/>
        </p:spPr>
        <p:txBody>
          <a:bodyPr wrap="square" lIns="0" tIns="0" rIns="0" bIns="0" anchor="t">
            <a:spAutoFit/>
          </a:bodyPr>
          <a:lstStyle/>
          <a:p>
            <a:pPr algn="ctr">
              <a:spcBef>
                <a:spcPts val="0"/>
              </a:spcBef>
              <a:spcAft>
                <a:spcPts val="0"/>
              </a:spcAft>
            </a:pPr>
            <a:r>
              <a:rPr sz="1100" b="1" i="0">
                <a:solidFill>
                  <a:srgbClr val="E4E4E4"/>
                </a:solidFill>
                <a:latin typeface="Inter"/>
              </a:rPr>
              <a:t>Active users</a:t>
            </a:r>
          </a:p>
        </p:txBody>
      </p:sp>
      <p:sp>
        <p:nvSpPr>
          <p:cNvPr id="26" name="TextBox 25"/>
          <p:cNvSpPr txBox="1"/>
          <p:nvPr/>
        </p:nvSpPr>
        <p:spPr>
          <a:xfrm>
            <a:off x="7818120" y="4056692"/>
            <a:ext cx="1463040" cy="182880"/>
          </a:xfrm>
          <a:prstGeom prst="rect">
            <a:avLst/>
          </a:prstGeom>
          <a:noFill/>
        </p:spPr>
        <p:txBody>
          <a:bodyPr wrap="square" lIns="0" tIns="0" rIns="0" bIns="0" anchor="t">
            <a:spAutoFit/>
          </a:bodyPr>
          <a:lstStyle/>
          <a:p>
            <a:pPr algn="ctr">
              <a:spcBef>
                <a:spcPts val="0"/>
              </a:spcBef>
              <a:spcAft>
                <a:spcPts val="0"/>
              </a:spcAft>
            </a:pPr>
            <a:r>
              <a:rPr sz="1000" b="1" i="0">
                <a:solidFill>
                  <a:srgbClr val="9C9C9C"/>
                </a:solidFill>
                <a:latin typeface="Inter"/>
              </a:rPr>
              <a:t>Pre-launch</a:t>
            </a:r>
          </a:p>
        </p:txBody>
      </p:sp>
      <p:sp>
        <p:nvSpPr>
          <p:cNvPr id="27" name="Oval 26"/>
          <p:cNvSpPr/>
          <p:nvPr/>
        </p:nvSpPr>
        <p:spPr>
          <a:xfrm>
            <a:off x="10287000" y="3105716"/>
            <a:ext cx="365760" cy="365760"/>
          </a:xfrm>
          <a:prstGeom prst="ellipse">
            <a:avLst/>
          </a:prstGeom>
          <a:solidFill>
            <a:srgbClr val="9C9C9C"/>
          </a:solidFill>
          <a:ln w="12700">
            <a:solidFill>
              <a:srgbClr val="34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141414"/>
                </a:solidFill>
              </a:rPr>
              <a:t>4</a:t>
            </a:r>
          </a:p>
        </p:txBody>
      </p:sp>
      <p:sp>
        <p:nvSpPr>
          <p:cNvPr id="29" name="TextBox 28"/>
          <p:cNvSpPr txBox="1"/>
          <p:nvPr/>
        </p:nvSpPr>
        <p:spPr>
          <a:xfrm>
            <a:off x="9875520" y="3745796"/>
            <a:ext cx="1188720" cy="182880"/>
          </a:xfrm>
          <a:prstGeom prst="rect">
            <a:avLst/>
          </a:prstGeom>
          <a:noFill/>
        </p:spPr>
        <p:txBody>
          <a:bodyPr wrap="square" lIns="0" tIns="0" rIns="0" bIns="0" anchor="t">
            <a:spAutoFit/>
          </a:bodyPr>
          <a:lstStyle/>
          <a:p>
            <a:pPr algn="ctr">
              <a:spcBef>
                <a:spcPts val="0"/>
              </a:spcBef>
              <a:spcAft>
                <a:spcPts val="0"/>
              </a:spcAft>
            </a:pPr>
            <a:r>
              <a:rPr sz="1100" b="1" i="0">
                <a:solidFill>
                  <a:srgbClr val="E4E4E4"/>
                </a:solidFill>
                <a:latin typeface="Inter"/>
              </a:rPr>
              <a:t>Revenue</a:t>
            </a:r>
          </a:p>
        </p:txBody>
      </p:sp>
      <p:sp>
        <p:nvSpPr>
          <p:cNvPr id="30" name="TextBox 29"/>
          <p:cNvSpPr txBox="1"/>
          <p:nvPr/>
        </p:nvSpPr>
        <p:spPr>
          <a:xfrm>
            <a:off x="9738360" y="4056692"/>
            <a:ext cx="1463040" cy="182880"/>
          </a:xfrm>
          <a:prstGeom prst="rect">
            <a:avLst/>
          </a:prstGeom>
          <a:noFill/>
        </p:spPr>
        <p:txBody>
          <a:bodyPr wrap="square" lIns="0" tIns="0" rIns="0" bIns="0" anchor="t">
            <a:spAutoFit/>
          </a:bodyPr>
          <a:lstStyle/>
          <a:p>
            <a:pPr algn="ctr">
              <a:spcBef>
                <a:spcPts val="0"/>
              </a:spcBef>
              <a:spcAft>
                <a:spcPts val="0"/>
              </a:spcAft>
            </a:pPr>
            <a:r>
              <a:rPr sz="1000" b="1" i="0">
                <a:solidFill>
                  <a:srgbClr val="9C9C9C"/>
                </a:solidFill>
                <a:latin typeface="Inter"/>
              </a:rPr>
              <a:t>Pre-revenue</a:t>
            </a:r>
          </a:p>
        </p:txBody>
      </p:sp>
      <p:cxnSp>
        <p:nvCxnSpPr>
          <p:cNvPr id="31" name="Connector 30"/>
          <p:cNvCxnSpPr/>
          <p:nvPr/>
        </p:nvCxnSpPr>
        <p:spPr>
          <a:xfrm>
            <a:off x="4160520" y="5272844"/>
            <a:ext cx="6858000" cy="0"/>
          </a:xfrm>
          <a:prstGeom prst="line">
            <a:avLst/>
          </a:prstGeom>
          <a:ln w="12700">
            <a:solidFill>
              <a:srgbClr val="343434"/>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4160520" y="5501444"/>
            <a:ext cx="2468880" cy="182880"/>
          </a:xfrm>
          <a:prstGeom prst="rect">
            <a:avLst/>
          </a:prstGeom>
          <a:noFill/>
        </p:spPr>
        <p:txBody>
          <a:bodyPr wrap="square" lIns="0" tIns="0" rIns="0" bIns="0" anchor="t">
            <a:spAutoFit/>
          </a:bodyPr>
          <a:lstStyle/>
          <a:p>
            <a:pPr algn="l">
              <a:spcBef>
                <a:spcPts val="0"/>
              </a:spcBef>
              <a:spcAft>
                <a:spcPts val="0"/>
              </a:spcAft>
            </a:pPr>
            <a:r>
              <a:rPr sz="1000" b="0" i="0">
                <a:solidFill>
                  <a:srgbClr val="9C9C9C"/>
                </a:solidFill>
                <a:latin typeface="Cascadia Mono"/>
              </a:rPr>
              <a:t>What we're validating next</a:t>
            </a:r>
          </a:p>
        </p:txBody>
      </p:sp>
      <p:sp>
        <p:nvSpPr>
          <p:cNvPr id="33" name="TextBox 32"/>
          <p:cNvSpPr txBox="1"/>
          <p:nvPr/>
        </p:nvSpPr>
        <p:spPr>
          <a:xfrm>
            <a:off x="6629400" y="5455724"/>
            <a:ext cx="4389120" cy="256032"/>
          </a:xfrm>
          <a:prstGeom prst="rect">
            <a:avLst/>
          </a:prstGeom>
          <a:noFill/>
        </p:spPr>
        <p:txBody>
          <a:bodyPr wrap="square" lIns="0" tIns="0" rIns="0" bIns="0" anchor="t">
            <a:spAutoFit/>
          </a:bodyPr>
          <a:lstStyle/>
          <a:p>
            <a:pPr algn="ctr">
              <a:spcBef>
                <a:spcPts val="0"/>
              </a:spcBef>
              <a:spcAft>
                <a:spcPts val="0"/>
              </a:spcAft>
            </a:pPr>
            <a:r>
              <a:rPr sz="1100" b="1" i="0">
                <a:solidFill>
                  <a:srgbClr val="E4E4E4"/>
                </a:solidFill>
                <a:latin typeface="Inter"/>
              </a:rPr>
              <a:t>Activation  ·  Retention  ·  Willingness to pay  ·  Institutional pilots</a:t>
            </a:r>
          </a:p>
        </p:txBody>
      </p:sp>
      <p:cxnSp>
        <p:nvCxnSpPr>
          <p:cNvPr id="34" name="Connector 33"/>
          <p:cNvCxnSpPr/>
          <p:nvPr/>
        </p:nvCxnSpPr>
        <p:spPr>
          <a:xfrm>
            <a:off x="594360" y="6464808"/>
            <a:ext cx="11002975"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94360" y="6574536"/>
            <a:ext cx="3474720" cy="146304"/>
          </a:xfrm>
          <a:prstGeom prst="rect">
            <a:avLst/>
          </a:prstGeom>
          <a:noFill/>
        </p:spPr>
        <p:txBody>
          <a:bodyPr wrap="square" lIns="0" tIns="0" rIns="0" bIns="0" anchor="t">
            <a:spAutoFit/>
          </a:bodyPr>
          <a:lstStyle/>
          <a:p>
            <a:pPr algn="l">
              <a:spcBef>
                <a:spcPts val="0"/>
              </a:spcBef>
              <a:spcAft>
                <a:spcPts val="0"/>
              </a:spcAft>
            </a:pPr>
            <a:r>
              <a:rPr sz="850" b="0" i="0">
                <a:solidFill>
                  <a:srgbClr val="6E6E6E"/>
                </a:solidFill>
                <a:latin typeface="Cascadia Mono"/>
              </a:rPr>
              <a:t>Avenire / learning that remembers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venire-logo-full.png"/>
          <p:cNvPicPr>
            <a:picLocks noChangeAspect="1"/>
          </p:cNvPicPr>
          <p:nvPr/>
        </p:nvPicPr>
        <p:blipFill>
          <a:blip r:embed="rId3"/>
          <a:stretch>
            <a:fillRect/>
          </a:stretch>
        </p:blipFill>
        <p:spPr>
          <a:xfrm>
            <a:off x="594360" y="256032"/>
            <a:ext cx="210312" cy="210312"/>
          </a:xfrm>
          <a:prstGeom prst="rect">
            <a:avLst/>
          </a:prstGeom>
        </p:spPr>
      </p:pic>
      <p:sp>
        <p:nvSpPr>
          <p:cNvPr id="4" name="TextBox 3"/>
          <p:cNvSpPr txBox="1"/>
          <p:nvPr/>
        </p:nvSpPr>
        <p:spPr>
          <a:xfrm>
            <a:off x="877824" y="237744"/>
            <a:ext cx="822960" cy="237744"/>
          </a:xfrm>
          <a:prstGeom prst="rect">
            <a:avLst/>
          </a:prstGeom>
          <a:noFill/>
        </p:spPr>
        <p:txBody>
          <a:bodyPr wrap="square" lIns="0" tIns="0" rIns="0" bIns="0" anchor="ctr">
            <a:spAutoFit/>
          </a:bodyPr>
          <a:lstStyle/>
          <a:p>
            <a:pPr algn="l">
              <a:spcBef>
                <a:spcPts val="0"/>
              </a:spcBef>
              <a:spcAft>
                <a:spcPts val="0"/>
              </a:spcAft>
            </a:pPr>
            <a:r>
              <a:rPr sz="1100" b="1" i="0">
                <a:solidFill>
                  <a:srgbClr val="E4E4E4"/>
                </a:solidFill>
                <a:latin typeface="Inter"/>
              </a:rPr>
              <a:t>Avenire</a:t>
            </a:r>
          </a:p>
        </p:txBody>
      </p:sp>
      <p:sp>
        <p:nvSpPr>
          <p:cNvPr id="5" name="TextBox 4"/>
          <p:cNvSpPr txBox="1"/>
          <p:nvPr/>
        </p:nvSpPr>
        <p:spPr>
          <a:xfrm>
            <a:off x="11277295" y="265176"/>
            <a:ext cx="320040" cy="182880"/>
          </a:xfrm>
          <a:prstGeom prst="rect">
            <a:avLst/>
          </a:prstGeom>
          <a:noFill/>
        </p:spPr>
        <p:txBody>
          <a:bodyPr wrap="square" lIns="0" tIns="0" rIns="0" bIns="0" anchor="t">
            <a:spAutoFit/>
          </a:bodyPr>
          <a:lstStyle/>
          <a:p>
            <a:pPr algn="r">
              <a:spcBef>
                <a:spcPts val="0"/>
              </a:spcBef>
              <a:spcAft>
                <a:spcPts val="0"/>
              </a:spcAft>
            </a:pPr>
            <a:r>
              <a:rPr sz="900" b="0" i="0">
                <a:solidFill>
                  <a:srgbClr val="6E6E6E"/>
                </a:solidFill>
                <a:latin typeface="Cascadia Mono"/>
              </a:rPr>
              <a:t>13</a:t>
            </a:r>
          </a:p>
        </p:txBody>
      </p:sp>
      <p:sp>
        <p:nvSpPr>
          <p:cNvPr id="6" name="TextBox 5"/>
          <p:cNvSpPr txBox="1"/>
          <p:nvPr/>
        </p:nvSpPr>
        <p:spPr>
          <a:xfrm>
            <a:off x="594360" y="749808"/>
            <a:ext cx="5303520" cy="201168"/>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ROADMAP</a:t>
            </a:r>
          </a:p>
        </p:txBody>
      </p:sp>
      <p:sp>
        <p:nvSpPr>
          <p:cNvPr id="7" name="TextBox 6"/>
          <p:cNvSpPr txBox="1"/>
          <p:nvPr/>
        </p:nvSpPr>
        <p:spPr>
          <a:xfrm>
            <a:off x="594360" y="1005840"/>
            <a:ext cx="10789920" cy="640080"/>
          </a:xfrm>
          <a:prstGeom prst="rect">
            <a:avLst/>
          </a:prstGeom>
          <a:noFill/>
        </p:spPr>
        <p:txBody>
          <a:bodyPr wrap="square" lIns="0" tIns="0" rIns="0" bIns="0" anchor="t">
            <a:spAutoFit/>
          </a:bodyPr>
          <a:lstStyle/>
          <a:p>
            <a:pPr algn="l">
              <a:spcBef>
                <a:spcPts val="0"/>
              </a:spcBef>
              <a:spcAft>
                <a:spcPts val="0"/>
              </a:spcAft>
            </a:pPr>
            <a:r>
              <a:rPr sz="3000" b="1" i="0">
                <a:solidFill>
                  <a:srgbClr val="E4E4E4"/>
                </a:solidFill>
                <a:latin typeface="Inter"/>
              </a:rPr>
              <a:t>From AI study tool to learning system.</a:t>
            </a:r>
          </a:p>
        </p:txBody>
      </p:sp>
      <p:sp>
        <p:nvSpPr>
          <p:cNvPr id="8" name="TextBox 7"/>
          <p:cNvSpPr txBox="1"/>
          <p:nvPr/>
        </p:nvSpPr>
        <p:spPr>
          <a:xfrm>
            <a:off x="594360" y="1691640"/>
            <a:ext cx="9692640" cy="384048"/>
          </a:xfrm>
          <a:prstGeom prst="rect">
            <a:avLst/>
          </a:prstGeom>
          <a:noFill/>
        </p:spPr>
        <p:txBody>
          <a:bodyPr wrap="square" lIns="0" tIns="0" rIns="0" bIns="0" anchor="t">
            <a:spAutoFit/>
          </a:bodyPr>
          <a:lstStyle/>
          <a:p>
            <a:pPr algn="l">
              <a:spcBef>
                <a:spcPts val="0"/>
              </a:spcBef>
              <a:spcAft>
                <a:spcPts val="0"/>
              </a:spcAft>
            </a:pPr>
            <a:r>
              <a:rPr sz="1400" b="0" i="0">
                <a:solidFill>
                  <a:srgbClr val="9C9C9C"/>
                </a:solidFill>
                <a:latin typeface="Inter"/>
              </a:rPr>
              <a:t>Prove the loop first. Deepen personalization. Then expand into institutions.</a:t>
            </a:r>
          </a:p>
        </p:txBody>
      </p:sp>
      <p:cxnSp>
        <p:nvCxnSpPr>
          <p:cNvPr id="10" name="Connector 9"/>
          <p:cNvCxnSpPr>
            <a:cxnSpLocks/>
          </p:cNvCxnSpPr>
          <p:nvPr/>
        </p:nvCxnSpPr>
        <p:spPr>
          <a:xfrm>
            <a:off x="1005840" y="2386584"/>
            <a:ext cx="749808" cy="0"/>
          </a:xfrm>
          <a:prstGeom prst="line">
            <a:avLst/>
          </a:prstGeom>
          <a:ln w="12700">
            <a:solidFill>
              <a:srgbClr val="ABC4F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005840" y="2139696"/>
            <a:ext cx="749808" cy="164592"/>
          </a:xfrm>
          <a:prstGeom prst="rect">
            <a:avLst/>
          </a:prstGeom>
          <a:noFill/>
        </p:spPr>
        <p:txBody>
          <a:bodyPr wrap="square" lIns="0" tIns="0" rIns="0" bIns="0" anchor="t">
            <a:spAutoFit/>
          </a:bodyPr>
          <a:lstStyle/>
          <a:p>
            <a:pPr algn="ctr">
              <a:spcBef>
                <a:spcPts val="0"/>
              </a:spcBef>
              <a:spcAft>
                <a:spcPts val="0"/>
              </a:spcAft>
            </a:pPr>
            <a:r>
              <a:rPr sz="800" b="1" i="0">
                <a:solidFill>
                  <a:srgbClr val="ABC4FF"/>
                </a:solidFill>
                <a:latin typeface="Cascadia Mono"/>
              </a:rPr>
              <a:t>NOW</a:t>
            </a:r>
          </a:p>
        </p:txBody>
      </p:sp>
      <p:sp>
        <p:nvSpPr>
          <p:cNvPr id="12" name="TextBox 11"/>
          <p:cNvSpPr txBox="1"/>
          <p:nvPr/>
        </p:nvSpPr>
        <p:spPr>
          <a:xfrm>
            <a:off x="1005840" y="2651760"/>
            <a:ext cx="2651760" cy="320040"/>
          </a:xfrm>
          <a:prstGeom prst="rect">
            <a:avLst/>
          </a:prstGeom>
          <a:noFill/>
        </p:spPr>
        <p:txBody>
          <a:bodyPr wrap="square" lIns="0" tIns="0" rIns="0" bIns="0" anchor="t">
            <a:spAutoFit/>
          </a:bodyPr>
          <a:lstStyle/>
          <a:p>
            <a:pPr algn="l">
              <a:spcBef>
                <a:spcPts val="0"/>
              </a:spcBef>
              <a:spcAft>
                <a:spcPts val="0"/>
              </a:spcAft>
            </a:pPr>
            <a:r>
              <a:rPr sz="1700" b="1" i="0">
                <a:solidFill>
                  <a:srgbClr val="E4E4E4"/>
                </a:solidFill>
                <a:latin typeface="Inter"/>
              </a:rPr>
              <a:t>Build the learning loop</a:t>
            </a:r>
          </a:p>
        </p:txBody>
      </p:sp>
      <p:grpSp>
        <p:nvGrpSpPr>
          <p:cNvPr id="21" name="Group 20">
            <a:extLst>
              <a:ext uri="{FF2B5EF4-FFF2-40B4-BE49-F238E27FC236}">
                <a16:creationId xmlns:a16="http://schemas.microsoft.com/office/drawing/2014/main" id="{003D3ABF-BAAB-637A-9871-6EC9FB93B92E}"/>
              </a:ext>
            </a:extLst>
          </p:cNvPr>
          <p:cNvGrpSpPr/>
          <p:nvPr/>
        </p:nvGrpSpPr>
        <p:grpSpPr>
          <a:xfrm>
            <a:off x="1005840" y="3246120"/>
            <a:ext cx="2706624" cy="182880"/>
            <a:chOff x="1051560" y="3246120"/>
            <a:chExt cx="2706624" cy="182880"/>
          </a:xfrm>
        </p:grpSpPr>
        <p:sp>
          <p:nvSpPr>
            <p:cNvPr id="13" name="Oval 12"/>
            <p:cNvSpPr/>
            <p:nvPr/>
          </p:nvSpPr>
          <p:spPr>
            <a:xfrm>
              <a:off x="1051560" y="3278124"/>
              <a:ext cx="118872" cy="118872"/>
            </a:xfrm>
            <a:prstGeom prst="ellipse">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89304" y="3246120"/>
              <a:ext cx="2468880" cy="182880"/>
            </a:xfrm>
            <a:prstGeom prst="rect">
              <a:avLst/>
            </a:prstGeom>
            <a:noFill/>
          </p:spPr>
          <p:txBody>
            <a:bodyPr wrap="square" lIns="0" tIns="0" rIns="0" bIns="0" anchor="t">
              <a:spAutoFit/>
            </a:bodyPr>
            <a:lstStyle/>
            <a:p>
              <a:pPr algn="l">
                <a:spcBef>
                  <a:spcPts val="0"/>
                </a:spcBef>
                <a:spcAft>
                  <a:spcPts val="0"/>
                </a:spcAft>
              </a:pPr>
              <a:r>
                <a:rPr sz="1100" b="0" i="0" dirty="0">
                  <a:solidFill>
                    <a:srgbClr val="9C9C9C"/>
                  </a:solidFill>
                  <a:latin typeface="Inter"/>
                </a:rPr>
                <a:t>Launch</a:t>
              </a:r>
            </a:p>
          </p:txBody>
        </p:sp>
      </p:grpSp>
      <p:grpSp>
        <p:nvGrpSpPr>
          <p:cNvPr id="22" name="Group 21">
            <a:extLst>
              <a:ext uri="{FF2B5EF4-FFF2-40B4-BE49-F238E27FC236}">
                <a16:creationId xmlns:a16="http://schemas.microsoft.com/office/drawing/2014/main" id="{F876F6CD-EBE1-FA38-DDF6-9388A20D757C}"/>
              </a:ext>
            </a:extLst>
          </p:cNvPr>
          <p:cNvGrpSpPr/>
          <p:nvPr/>
        </p:nvGrpSpPr>
        <p:grpSpPr>
          <a:xfrm>
            <a:off x="1005840" y="3651885"/>
            <a:ext cx="2706624" cy="182880"/>
            <a:chOff x="1051560" y="3685031"/>
            <a:chExt cx="2706624" cy="182880"/>
          </a:xfrm>
        </p:grpSpPr>
        <p:sp>
          <p:nvSpPr>
            <p:cNvPr id="15" name="Oval 14"/>
            <p:cNvSpPr/>
            <p:nvPr/>
          </p:nvSpPr>
          <p:spPr>
            <a:xfrm>
              <a:off x="1051560" y="3717035"/>
              <a:ext cx="118872" cy="118872"/>
            </a:xfrm>
            <a:prstGeom prst="ellipse">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289304" y="3685031"/>
              <a:ext cx="2468880" cy="182880"/>
            </a:xfrm>
            <a:prstGeom prst="rect">
              <a:avLst/>
            </a:prstGeom>
            <a:noFill/>
          </p:spPr>
          <p:txBody>
            <a:bodyPr wrap="square" lIns="0" tIns="0" rIns="0" bIns="0" anchor="t">
              <a:spAutoFit/>
            </a:bodyPr>
            <a:lstStyle/>
            <a:p>
              <a:pPr algn="l">
                <a:spcBef>
                  <a:spcPts val="0"/>
                </a:spcBef>
                <a:spcAft>
                  <a:spcPts val="0"/>
                </a:spcAft>
              </a:pPr>
              <a:r>
                <a:rPr sz="1100" b="0" i="0" dirty="0">
                  <a:solidFill>
                    <a:srgbClr val="9C9C9C"/>
                  </a:solidFill>
                  <a:latin typeface="Inter"/>
                </a:rPr>
                <a:t>Acquire first users</a:t>
              </a:r>
            </a:p>
          </p:txBody>
        </p:sp>
      </p:grpSp>
      <p:grpSp>
        <p:nvGrpSpPr>
          <p:cNvPr id="24" name="Group 23">
            <a:extLst>
              <a:ext uri="{FF2B5EF4-FFF2-40B4-BE49-F238E27FC236}">
                <a16:creationId xmlns:a16="http://schemas.microsoft.com/office/drawing/2014/main" id="{57AC0179-18BF-F549-A195-082244F47145}"/>
              </a:ext>
            </a:extLst>
          </p:cNvPr>
          <p:cNvGrpSpPr/>
          <p:nvPr/>
        </p:nvGrpSpPr>
        <p:grpSpPr>
          <a:xfrm>
            <a:off x="1005840" y="4057650"/>
            <a:ext cx="2706624" cy="182880"/>
            <a:chOff x="1051560" y="4123944"/>
            <a:chExt cx="2706624" cy="182880"/>
          </a:xfrm>
        </p:grpSpPr>
        <p:sp>
          <p:nvSpPr>
            <p:cNvPr id="17" name="Oval 16"/>
            <p:cNvSpPr/>
            <p:nvPr/>
          </p:nvSpPr>
          <p:spPr>
            <a:xfrm>
              <a:off x="1051560" y="4155948"/>
              <a:ext cx="118872" cy="118872"/>
            </a:xfrm>
            <a:prstGeom prst="ellipse">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289304" y="4123944"/>
              <a:ext cx="2468880" cy="182880"/>
            </a:xfrm>
            <a:prstGeom prst="rect">
              <a:avLst/>
            </a:prstGeom>
            <a:noFill/>
          </p:spPr>
          <p:txBody>
            <a:bodyPr wrap="square" lIns="0" tIns="0" rIns="0" bIns="0" anchor="t">
              <a:spAutoFit/>
            </a:bodyPr>
            <a:lstStyle/>
            <a:p>
              <a:pPr algn="l">
                <a:spcBef>
                  <a:spcPts val="0"/>
                </a:spcBef>
                <a:spcAft>
                  <a:spcPts val="0"/>
                </a:spcAft>
              </a:pPr>
              <a:r>
                <a:rPr sz="1100" b="0" i="0" dirty="0">
                  <a:solidFill>
                    <a:srgbClr val="9C9C9C"/>
                  </a:solidFill>
                  <a:latin typeface="Inter"/>
                </a:rPr>
                <a:t>Measure retention</a:t>
              </a:r>
            </a:p>
          </p:txBody>
        </p:sp>
      </p:grpSp>
      <p:grpSp>
        <p:nvGrpSpPr>
          <p:cNvPr id="36" name="Group 35">
            <a:extLst>
              <a:ext uri="{FF2B5EF4-FFF2-40B4-BE49-F238E27FC236}">
                <a16:creationId xmlns:a16="http://schemas.microsoft.com/office/drawing/2014/main" id="{C726CB6D-A69B-1CB0-C885-CA3384EA89DA}"/>
              </a:ext>
            </a:extLst>
          </p:cNvPr>
          <p:cNvGrpSpPr/>
          <p:nvPr/>
        </p:nvGrpSpPr>
        <p:grpSpPr>
          <a:xfrm>
            <a:off x="1005840" y="4463415"/>
            <a:ext cx="2706624" cy="182880"/>
            <a:chOff x="1051560" y="4562856"/>
            <a:chExt cx="2706624" cy="182880"/>
          </a:xfrm>
        </p:grpSpPr>
        <p:sp>
          <p:nvSpPr>
            <p:cNvPr id="19" name="Oval 18"/>
            <p:cNvSpPr/>
            <p:nvPr/>
          </p:nvSpPr>
          <p:spPr>
            <a:xfrm>
              <a:off x="1051560" y="4594860"/>
              <a:ext cx="118872" cy="118872"/>
            </a:xfrm>
            <a:prstGeom prst="ellipse">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289304" y="4562856"/>
              <a:ext cx="2468880" cy="182880"/>
            </a:xfrm>
            <a:prstGeom prst="rect">
              <a:avLst/>
            </a:prstGeom>
            <a:noFill/>
          </p:spPr>
          <p:txBody>
            <a:bodyPr wrap="square" lIns="0" tIns="0" rIns="0" bIns="0" anchor="t">
              <a:spAutoFit/>
            </a:bodyPr>
            <a:lstStyle/>
            <a:p>
              <a:pPr algn="l">
                <a:spcBef>
                  <a:spcPts val="0"/>
                </a:spcBef>
                <a:spcAft>
                  <a:spcPts val="0"/>
                </a:spcAft>
              </a:pPr>
              <a:r>
                <a:rPr sz="1100" b="0" i="0" dirty="0">
                  <a:solidFill>
                    <a:srgbClr val="9C9C9C"/>
                  </a:solidFill>
                  <a:latin typeface="Inter"/>
                </a:rPr>
                <a:t>Improve core workflows</a:t>
              </a:r>
            </a:p>
          </p:txBody>
        </p:sp>
      </p:grpSp>
      <p:cxnSp>
        <p:nvCxnSpPr>
          <p:cNvPr id="23" name="Connector 22"/>
          <p:cNvCxnSpPr>
            <a:cxnSpLocks/>
          </p:cNvCxnSpPr>
          <p:nvPr/>
        </p:nvCxnSpPr>
        <p:spPr>
          <a:xfrm>
            <a:off x="4297680" y="2118167"/>
            <a:ext cx="0" cy="3349945"/>
          </a:xfrm>
          <a:prstGeom prst="line">
            <a:avLst/>
          </a:prstGeom>
          <a:ln w="12700">
            <a:solidFill>
              <a:srgbClr val="34343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828032" y="2386584"/>
            <a:ext cx="749808" cy="0"/>
          </a:xfrm>
          <a:prstGeom prst="line">
            <a:avLst/>
          </a:prstGeom>
          <a:ln w="12700">
            <a:solidFill>
              <a:srgbClr val="78C4D5"/>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828032" y="2139696"/>
            <a:ext cx="749808" cy="164592"/>
          </a:xfrm>
          <a:prstGeom prst="rect">
            <a:avLst/>
          </a:prstGeom>
          <a:noFill/>
        </p:spPr>
        <p:txBody>
          <a:bodyPr wrap="square" lIns="0" tIns="0" rIns="0" bIns="0" anchor="t">
            <a:spAutoFit/>
          </a:bodyPr>
          <a:lstStyle/>
          <a:p>
            <a:pPr algn="ctr">
              <a:spcBef>
                <a:spcPts val="0"/>
              </a:spcBef>
              <a:spcAft>
                <a:spcPts val="0"/>
              </a:spcAft>
            </a:pPr>
            <a:r>
              <a:rPr sz="800" b="1" i="0">
                <a:solidFill>
                  <a:srgbClr val="78C4D5"/>
                </a:solidFill>
                <a:latin typeface="Cascadia Mono"/>
              </a:rPr>
              <a:t>NEXT</a:t>
            </a:r>
          </a:p>
        </p:txBody>
      </p:sp>
      <p:sp>
        <p:nvSpPr>
          <p:cNvPr id="27" name="TextBox 26"/>
          <p:cNvSpPr txBox="1"/>
          <p:nvPr/>
        </p:nvSpPr>
        <p:spPr>
          <a:xfrm>
            <a:off x="4828032" y="2651760"/>
            <a:ext cx="2651760" cy="320040"/>
          </a:xfrm>
          <a:prstGeom prst="rect">
            <a:avLst/>
          </a:prstGeom>
          <a:noFill/>
        </p:spPr>
        <p:txBody>
          <a:bodyPr wrap="square" lIns="0" tIns="0" rIns="0" bIns="0" anchor="t">
            <a:spAutoFit/>
          </a:bodyPr>
          <a:lstStyle/>
          <a:p>
            <a:pPr algn="l">
              <a:spcBef>
                <a:spcPts val="0"/>
              </a:spcBef>
              <a:spcAft>
                <a:spcPts val="0"/>
              </a:spcAft>
            </a:pPr>
            <a:r>
              <a:rPr sz="1700" b="1" i="0">
                <a:solidFill>
                  <a:srgbClr val="E4E4E4"/>
                </a:solidFill>
                <a:latin typeface="Inter"/>
              </a:rPr>
              <a:t>Personalize learning</a:t>
            </a:r>
          </a:p>
        </p:txBody>
      </p:sp>
      <p:grpSp>
        <p:nvGrpSpPr>
          <p:cNvPr id="39" name="Group 38">
            <a:extLst>
              <a:ext uri="{FF2B5EF4-FFF2-40B4-BE49-F238E27FC236}">
                <a16:creationId xmlns:a16="http://schemas.microsoft.com/office/drawing/2014/main" id="{F0562A58-C17B-2765-470F-F865F8799070}"/>
              </a:ext>
            </a:extLst>
          </p:cNvPr>
          <p:cNvGrpSpPr/>
          <p:nvPr/>
        </p:nvGrpSpPr>
        <p:grpSpPr>
          <a:xfrm>
            <a:off x="4840225" y="3246120"/>
            <a:ext cx="2706624" cy="182880"/>
            <a:chOff x="4846320" y="3246120"/>
            <a:chExt cx="2706624" cy="182880"/>
          </a:xfrm>
        </p:grpSpPr>
        <p:sp>
          <p:nvSpPr>
            <p:cNvPr id="28" name="Oval 27"/>
            <p:cNvSpPr/>
            <p:nvPr/>
          </p:nvSpPr>
          <p:spPr>
            <a:xfrm>
              <a:off x="4846320" y="3278124"/>
              <a:ext cx="118872" cy="118872"/>
            </a:xfrm>
            <a:prstGeom prst="ellipse">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84064" y="3246120"/>
              <a:ext cx="2468880" cy="182880"/>
            </a:xfrm>
            <a:prstGeom prst="rect">
              <a:avLst/>
            </a:prstGeom>
            <a:noFill/>
          </p:spPr>
          <p:txBody>
            <a:bodyPr wrap="square" lIns="0" tIns="0" rIns="0" bIns="0" anchor="t">
              <a:spAutoFit/>
            </a:bodyPr>
            <a:lstStyle/>
            <a:p>
              <a:pPr algn="l">
                <a:spcBef>
                  <a:spcPts val="0"/>
                </a:spcBef>
                <a:spcAft>
                  <a:spcPts val="0"/>
                </a:spcAft>
              </a:pPr>
              <a:r>
                <a:rPr sz="1100" b="0" i="0" dirty="0">
                  <a:solidFill>
                    <a:srgbClr val="9C9C9C"/>
                  </a:solidFill>
                  <a:latin typeface="Inter"/>
                </a:rPr>
                <a:t>Better long-term memory</a:t>
              </a:r>
            </a:p>
          </p:txBody>
        </p:sp>
      </p:grpSp>
      <p:grpSp>
        <p:nvGrpSpPr>
          <p:cNvPr id="55" name="Group 54">
            <a:extLst>
              <a:ext uri="{FF2B5EF4-FFF2-40B4-BE49-F238E27FC236}">
                <a16:creationId xmlns:a16="http://schemas.microsoft.com/office/drawing/2014/main" id="{ECB48300-CE9D-AD94-7CDD-30DDD9829624}"/>
              </a:ext>
            </a:extLst>
          </p:cNvPr>
          <p:cNvGrpSpPr/>
          <p:nvPr/>
        </p:nvGrpSpPr>
        <p:grpSpPr>
          <a:xfrm>
            <a:off x="4843273" y="3685032"/>
            <a:ext cx="2706624" cy="182880"/>
            <a:chOff x="4846320" y="3685031"/>
            <a:chExt cx="2706624" cy="182880"/>
          </a:xfrm>
        </p:grpSpPr>
        <p:sp>
          <p:nvSpPr>
            <p:cNvPr id="30" name="Oval 29"/>
            <p:cNvSpPr/>
            <p:nvPr/>
          </p:nvSpPr>
          <p:spPr>
            <a:xfrm>
              <a:off x="4846320" y="3717035"/>
              <a:ext cx="118872" cy="118872"/>
            </a:xfrm>
            <a:prstGeom prst="ellipse">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84064" y="3685031"/>
              <a:ext cx="2468880" cy="182880"/>
            </a:xfrm>
            <a:prstGeom prst="rect">
              <a:avLst/>
            </a:prstGeom>
            <a:noFill/>
          </p:spPr>
          <p:txBody>
            <a:bodyPr wrap="square" lIns="0" tIns="0" rIns="0" bIns="0" anchor="t">
              <a:spAutoFit/>
            </a:bodyPr>
            <a:lstStyle/>
            <a:p>
              <a:pPr algn="l">
                <a:spcBef>
                  <a:spcPts val="0"/>
                </a:spcBef>
                <a:spcAft>
                  <a:spcPts val="0"/>
                </a:spcAft>
              </a:pPr>
              <a:r>
                <a:rPr sz="1100" b="0" i="0" dirty="0">
                  <a:solidFill>
                    <a:srgbClr val="9C9C9C"/>
                  </a:solidFill>
                  <a:latin typeface="Inter"/>
                </a:rPr>
                <a:t>Mastery tracking</a:t>
              </a:r>
            </a:p>
          </p:txBody>
        </p:sp>
      </p:grpSp>
      <p:grpSp>
        <p:nvGrpSpPr>
          <p:cNvPr id="37" name="Group 36">
            <a:extLst>
              <a:ext uri="{FF2B5EF4-FFF2-40B4-BE49-F238E27FC236}">
                <a16:creationId xmlns:a16="http://schemas.microsoft.com/office/drawing/2014/main" id="{1334B6E0-3E38-3F51-DAEE-F81684300771}"/>
              </a:ext>
            </a:extLst>
          </p:cNvPr>
          <p:cNvGrpSpPr/>
          <p:nvPr/>
        </p:nvGrpSpPr>
        <p:grpSpPr>
          <a:xfrm>
            <a:off x="1005840" y="4869180"/>
            <a:ext cx="2706624" cy="182880"/>
            <a:chOff x="1067728" y="4869180"/>
            <a:chExt cx="2706624" cy="182880"/>
          </a:xfrm>
        </p:grpSpPr>
        <p:sp>
          <p:nvSpPr>
            <p:cNvPr id="32" name="Oval 31"/>
            <p:cNvSpPr/>
            <p:nvPr/>
          </p:nvSpPr>
          <p:spPr>
            <a:xfrm>
              <a:off x="1067728" y="4901184"/>
              <a:ext cx="118872" cy="118872"/>
            </a:xfrm>
            <a:prstGeom prst="ellipse">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305472" y="4869180"/>
              <a:ext cx="2468880" cy="182880"/>
            </a:xfrm>
            <a:prstGeom prst="rect">
              <a:avLst/>
            </a:prstGeom>
            <a:noFill/>
          </p:spPr>
          <p:txBody>
            <a:bodyPr wrap="square" lIns="0" tIns="0" rIns="0" bIns="0" anchor="t">
              <a:spAutoFit/>
            </a:bodyPr>
            <a:lstStyle/>
            <a:p>
              <a:pPr algn="l">
                <a:spcBef>
                  <a:spcPts val="0"/>
                </a:spcBef>
                <a:spcAft>
                  <a:spcPts val="0"/>
                </a:spcAft>
              </a:pPr>
              <a:r>
                <a:rPr sz="1100" b="0" i="0" dirty="0">
                  <a:solidFill>
                    <a:srgbClr val="9C9C9C"/>
                  </a:solidFill>
                  <a:latin typeface="Inter"/>
                </a:rPr>
                <a:t>Spaced repetition</a:t>
              </a:r>
            </a:p>
          </p:txBody>
        </p:sp>
      </p:grpSp>
      <p:grpSp>
        <p:nvGrpSpPr>
          <p:cNvPr id="56" name="Group 55">
            <a:extLst>
              <a:ext uri="{FF2B5EF4-FFF2-40B4-BE49-F238E27FC236}">
                <a16:creationId xmlns:a16="http://schemas.microsoft.com/office/drawing/2014/main" id="{9A1C3D36-1F02-2057-8C08-09B7FEB5DE0E}"/>
              </a:ext>
            </a:extLst>
          </p:cNvPr>
          <p:cNvGrpSpPr/>
          <p:nvPr/>
        </p:nvGrpSpPr>
        <p:grpSpPr>
          <a:xfrm>
            <a:off x="4846320" y="4562856"/>
            <a:ext cx="2706624" cy="182880"/>
            <a:chOff x="4846320" y="4562856"/>
            <a:chExt cx="2706624" cy="182880"/>
          </a:xfrm>
        </p:grpSpPr>
        <p:sp>
          <p:nvSpPr>
            <p:cNvPr id="34" name="Oval 33"/>
            <p:cNvSpPr/>
            <p:nvPr/>
          </p:nvSpPr>
          <p:spPr>
            <a:xfrm>
              <a:off x="4846320" y="4594860"/>
              <a:ext cx="118872" cy="118872"/>
            </a:xfrm>
            <a:prstGeom prst="ellipse">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84064" y="4562856"/>
              <a:ext cx="2468880" cy="182880"/>
            </a:xfrm>
            <a:prstGeom prst="rect">
              <a:avLst/>
            </a:prstGeom>
            <a:noFill/>
          </p:spPr>
          <p:txBody>
            <a:bodyPr wrap="square" lIns="0" tIns="0" rIns="0" bIns="0" anchor="t">
              <a:spAutoFit/>
            </a:bodyPr>
            <a:lstStyle/>
            <a:p>
              <a:pPr algn="l">
                <a:spcBef>
                  <a:spcPts val="0"/>
                </a:spcBef>
                <a:spcAft>
                  <a:spcPts val="0"/>
                </a:spcAft>
              </a:pPr>
              <a:r>
                <a:rPr sz="1100" b="0" i="0" dirty="0">
                  <a:solidFill>
                    <a:srgbClr val="9C9C9C"/>
                  </a:solidFill>
                  <a:latin typeface="Inter"/>
                </a:rPr>
                <a:t>Personalized study plans</a:t>
              </a:r>
            </a:p>
          </p:txBody>
        </p:sp>
      </p:grpSp>
      <p:cxnSp>
        <p:nvCxnSpPr>
          <p:cNvPr id="38" name="Connector 37"/>
          <p:cNvCxnSpPr>
            <a:cxnSpLocks/>
          </p:cNvCxnSpPr>
          <p:nvPr/>
        </p:nvCxnSpPr>
        <p:spPr>
          <a:xfrm>
            <a:off x="8092440" y="2129742"/>
            <a:ext cx="0" cy="3338370"/>
          </a:xfrm>
          <a:prstGeom prst="line">
            <a:avLst/>
          </a:prstGeom>
          <a:ln w="12700">
            <a:solidFill>
              <a:srgbClr val="343434"/>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622792" y="2386584"/>
            <a:ext cx="749808" cy="0"/>
          </a:xfrm>
          <a:prstGeom prst="line">
            <a:avLst/>
          </a:prstGeom>
          <a:ln w="12700">
            <a:solidFill>
              <a:srgbClr val="A99AD1"/>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8622792" y="2139696"/>
            <a:ext cx="749808" cy="164592"/>
          </a:xfrm>
          <a:prstGeom prst="rect">
            <a:avLst/>
          </a:prstGeom>
          <a:noFill/>
        </p:spPr>
        <p:txBody>
          <a:bodyPr wrap="square" lIns="0" tIns="0" rIns="0" bIns="0" anchor="t">
            <a:spAutoFit/>
          </a:bodyPr>
          <a:lstStyle/>
          <a:p>
            <a:pPr algn="ctr">
              <a:spcBef>
                <a:spcPts val="0"/>
              </a:spcBef>
              <a:spcAft>
                <a:spcPts val="0"/>
              </a:spcAft>
            </a:pPr>
            <a:r>
              <a:rPr sz="800" b="1" i="0">
                <a:solidFill>
                  <a:srgbClr val="A99AD1"/>
                </a:solidFill>
                <a:latin typeface="Cascadia Mono"/>
              </a:rPr>
              <a:t>THEN</a:t>
            </a:r>
          </a:p>
        </p:txBody>
      </p:sp>
      <p:sp>
        <p:nvSpPr>
          <p:cNvPr id="42" name="TextBox 41"/>
          <p:cNvSpPr txBox="1"/>
          <p:nvPr/>
        </p:nvSpPr>
        <p:spPr>
          <a:xfrm>
            <a:off x="8622792" y="2651760"/>
            <a:ext cx="2651760" cy="320040"/>
          </a:xfrm>
          <a:prstGeom prst="rect">
            <a:avLst/>
          </a:prstGeom>
          <a:noFill/>
        </p:spPr>
        <p:txBody>
          <a:bodyPr wrap="square" lIns="0" tIns="0" rIns="0" bIns="0" anchor="t">
            <a:spAutoFit/>
          </a:bodyPr>
          <a:lstStyle/>
          <a:p>
            <a:pPr algn="l">
              <a:spcBef>
                <a:spcPts val="0"/>
              </a:spcBef>
              <a:spcAft>
                <a:spcPts val="0"/>
              </a:spcAft>
            </a:pPr>
            <a:r>
              <a:rPr sz="1700" b="1" i="0">
                <a:solidFill>
                  <a:srgbClr val="E4E4E4"/>
                </a:solidFill>
                <a:latin typeface="Inter"/>
              </a:rPr>
              <a:t>Institutional learning</a:t>
            </a:r>
          </a:p>
        </p:txBody>
      </p:sp>
      <p:sp>
        <p:nvSpPr>
          <p:cNvPr id="43" name="Oval 42"/>
          <p:cNvSpPr/>
          <p:nvPr/>
        </p:nvSpPr>
        <p:spPr>
          <a:xfrm>
            <a:off x="8641080" y="3300984"/>
            <a:ext cx="118872" cy="118872"/>
          </a:xfrm>
          <a:prstGeom prst="ellipse">
            <a:avLst/>
          </a:prstGeom>
          <a:solidFill>
            <a:srgbClr val="A99A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878824" y="3246120"/>
            <a:ext cx="2468880" cy="182880"/>
          </a:xfrm>
          <a:prstGeom prst="rect">
            <a:avLst/>
          </a:prstGeom>
          <a:noFill/>
        </p:spPr>
        <p:txBody>
          <a:bodyPr wrap="square" lIns="0" tIns="0" rIns="0" bIns="0" anchor="t">
            <a:spAutoFit/>
          </a:bodyPr>
          <a:lstStyle/>
          <a:p>
            <a:pPr algn="l">
              <a:spcBef>
                <a:spcPts val="0"/>
              </a:spcBef>
              <a:spcAft>
                <a:spcPts val="0"/>
              </a:spcAft>
            </a:pPr>
            <a:r>
              <a:rPr sz="1100" b="0" i="0">
                <a:solidFill>
                  <a:srgbClr val="9C9C9C"/>
                </a:solidFill>
                <a:latin typeface="Inter"/>
              </a:rPr>
              <a:t>University workspaces</a:t>
            </a:r>
          </a:p>
        </p:txBody>
      </p:sp>
      <p:sp>
        <p:nvSpPr>
          <p:cNvPr id="45" name="Oval 44"/>
          <p:cNvSpPr/>
          <p:nvPr/>
        </p:nvSpPr>
        <p:spPr>
          <a:xfrm>
            <a:off x="8641080" y="3739895"/>
            <a:ext cx="118872" cy="118872"/>
          </a:xfrm>
          <a:prstGeom prst="ellipse">
            <a:avLst/>
          </a:prstGeom>
          <a:solidFill>
            <a:srgbClr val="A99A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878824" y="3685031"/>
            <a:ext cx="2468880" cy="182880"/>
          </a:xfrm>
          <a:prstGeom prst="rect">
            <a:avLst/>
          </a:prstGeom>
          <a:noFill/>
        </p:spPr>
        <p:txBody>
          <a:bodyPr wrap="square" lIns="0" tIns="0" rIns="0" bIns="0" anchor="t">
            <a:spAutoFit/>
          </a:bodyPr>
          <a:lstStyle/>
          <a:p>
            <a:pPr algn="l">
              <a:spcBef>
                <a:spcPts val="0"/>
              </a:spcBef>
              <a:spcAft>
                <a:spcPts val="0"/>
              </a:spcAft>
            </a:pPr>
            <a:r>
              <a:rPr sz="1100" b="0" i="0">
                <a:solidFill>
                  <a:srgbClr val="9C9C9C"/>
                </a:solidFill>
                <a:latin typeface="Inter"/>
              </a:rPr>
              <a:t>Institutional knowledge</a:t>
            </a:r>
          </a:p>
        </p:txBody>
      </p:sp>
      <p:sp>
        <p:nvSpPr>
          <p:cNvPr id="47" name="Oval 46"/>
          <p:cNvSpPr/>
          <p:nvPr/>
        </p:nvSpPr>
        <p:spPr>
          <a:xfrm>
            <a:off x="8641080" y="4178807"/>
            <a:ext cx="118872" cy="118872"/>
          </a:xfrm>
          <a:prstGeom prst="ellipse">
            <a:avLst/>
          </a:prstGeom>
          <a:solidFill>
            <a:srgbClr val="A99A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878824" y="4123944"/>
            <a:ext cx="2468880" cy="182880"/>
          </a:xfrm>
          <a:prstGeom prst="rect">
            <a:avLst/>
          </a:prstGeom>
          <a:noFill/>
        </p:spPr>
        <p:txBody>
          <a:bodyPr wrap="square" lIns="0" tIns="0" rIns="0" bIns="0" anchor="t">
            <a:spAutoFit/>
          </a:bodyPr>
          <a:lstStyle/>
          <a:p>
            <a:pPr algn="l">
              <a:spcBef>
                <a:spcPts val="0"/>
              </a:spcBef>
              <a:spcAft>
                <a:spcPts val="0"/>
              </a:spcAft>
            </a:pPr>
            <a:r>
              <a:rPr sz="1100" b="0" i="0">
                <a:solidFill>
                  <a:srgbClr val="9C9C9C"/>
                </a:solidFill>
                <a:latin typeface="Inter"/>
              </a:rPr>
              <a:t>Admin / educator tools</a:t>
            </a:r>
          </a:p>
        </p:txBody>
      </p:sp>
      <p:sp>
        <p:nvSpPr>
          <p:cNvPr id="49" name="Oval 48"/>
          <p:cNvSpPr/>
          <p:nvPr/>
        </p:nvSpPr>
        <p:spPr>
          <a:xfrm>
            <a:off x="8641080" y="4617720"/>
            <a:ext cx="118872" cy="118872"/>
          </a:xfrm>
          <a:prstGeom prst="ellipse">
            <a:avLst/>
          </a:prstGeom>
          <a:solidFill>
            <a:srgbClr val="A99A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878824" y="4562856"/>
            <a:ext cx="2468880" cy="182880"/>
          </a:xfrm>
          <a:prstGeom prst="rect">
            <a:avLst/>
          </a:prstGeom>
          <a:noFill/>
        </p:spPr>
        <p:txBody>
          <a:bodyPr wrap="square" lIns="0" tIns="0" rIns="0" bIns="0" anchor="t">
            <a:spAutoFit/>
          </a:bodyPr>
          <a:lstStyle/>
          <a:p>
            <a:pPr algn="l">
              <a:spcBef>
                <a:spcPts val="0"/>
              </a:spcBef>
              <a:spcAft>
                <a:spcPts val="0"/>
              </a:spcAft>
            </a:pPr>
            <a:r>
              <a:rPr sz="1100" b="0" i="0">
                <a:solidFill>
                  <a:srgbClr val="9C9C9C"/>
                </a:solidFill>
                <a:latin typeface="Inter"/>
              </a:rPr>
              <a:t>Enterprise deployment</a:t>
            </a:r>
          </a:p>
        </p:txBody>
      </p:sp>
      <p:sp>
        <p:nvSpPr>
          <p:cNvPr id="51" name="TextBox 50"/>
          <p:cNvSpPr txBox="1"/>
          <p:nvPr/>
        </p:nvSpPr>
        <p:spPr>
          <a:xfrm>
            <a:off x="594360" y="5806440"/>
            <a:ext cx="10881360" cy="228600"/>
          </a:xfrm>
          <a:prstGeom prst="rect">
            <a:avLst/>
          </a:prstGeom>
          <a:noFill/>
        </p:spPr>
        <p:txBody>
          <a:bodyPr wrap="square" lIns="0" tIns="0" rIns="0" bIns="0" anchor="t">
            <a:spAutoFit/>
          </a:bodyPr>
          <a:lstStyle/>
          <a:p>
            <a:pPr algn="ctr">
              <a:spcBef>
                <a:spcPts val="0"/>
              </a:spcBef>
              <a:spcAft>
                <a:spcPts val="0"/>
              </a:spcAft>
            </a:pPr>
            <a:r>
              <a:rPr sz="1300" b="1" i="0">
                <a:solidFill>
                  <a:srgbClr val="ABC4FF"/>
                </a:solidFill>
                <a:latin typeface="Inter"/>
              </a:rPr>
              <a:t>Now building: misconception diagnosis  ·  Next: spaced repetition + mastery tracking.</a:t>
            </a:r>
          </a:p>
        </p:txBody>
      </p:sp>
      <p:cxnSp>
        <p:nvCxnSpPr>
          <p:cNvPr id="52" name="Connector 51"/>
          <p:cNvCxnSpPr/>
          <p:nvPr/>
        </p:nvCxnSpPr>
        <p:spPr>
          <a:xfrm>
            <a:off x="594360" y="6464808"/>
            <a:ext cx="11002975"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594360" y="6574536"/>
            <a:ext cx="3474720" cy="146304"/>
          </a:xfrm>
          <a:prstGeom prst="rect">
            <a:avLst/>
          </a:prstGeom>
          <a:noFill/>
        </p:spPr>
        <p:txBody>
          <a:bodyPr wrap="square" lIns="0" tIns="0" rIns="0" bIns="0" anchor="t">
            <a:spAutoFit/>
          </a:bodyPr>
          <a:lstStyle/>
          <a:p>
            <a:pPr algn="l">
              <a:spcBef>
                <a:spcPts val="0"/>
              </a:spcBef>
              <a:spcAft>
                <a:spcPts val="0"/>
              </a:spcAft>
            </a:pPr>
            <a:r>
              <a:rPr sz="850" b="0" i="0">
                <a:solidFill>
                  <a:srgbClr val="6E6E6E"/>
                </a:solidFill>
                <a:latin typeface="Cascadia Mono"/>
              </a:rPr>
              <a:t>Avenire / learning that remembers</a:t>
            </a:r>
          </a:p>
        </p:txBody>
      </p:sp>
      <p:sp>
        <p:nvSpPr>
          <p:cNvPr id="54" name="TextBox 53"/>
          <p:cNvSpPr txBox="1"/>
          <p:nvPr/>
        </p:nvSpPr>
        <p:spPr>
          <a:xfrm>
            <a:off x="1005840" y="5314169"/>
            <a:ext cx="2560320" cy="201168"/>
          </a:xfrm>
          <a:prstGeom prst="rect">
            <a:avLst/>
          </a:prstGeom>
          <a:noFill/>
        </p:spPr>
        <p:txBody>
          <a:bodyPr wrap="square" lIns="0" tIns="0" rIns="0" bIns="0" anchor="t">
            <a:spAutoFit/>
          </a:bodyPr>
          <a:lstStyle/>
          <a:p>
            <a:pPr algn="l">
              <a:spcBef>
                <a:spcPts val="0"/>
              </a:spcBef>
              <a:spcAft>
                <a:spcPts val="0"/>
              </a:spcAft>
            </a:pPr>
            <a:r>
              <a:rPr sz="1000" b="1" i="0" dirty="0">
                <a:solidFill>
                  <a:srgbClr val="F0A873"/>
                </a:solidFill>
                <a:latin typeface="Inter"/>
              </a:rPr>
              <a:t>Misconception engine / in build</a:t>
            </a:r>
          </a:p>
        </p:txBody>
      </p:sp>
      <p:grpSp>
        <p:nvGrpSpPr>
          <p:cNvPr id="57" name="Group 56">
            <a:extLst>
              <a:ext uri="{FF2B5EF4-FFF2-40B4-BE49-F238E27FC236}">
                <a16:creationId xmlns:a16="http://schemas.microsoft.com/office/drawing/2014/main" id="{8EED53A4-8C37-7138-021C-66F8007EF3F9}"/>
              </a:ext>
            </a:extLst>
          </p:cNvPr>
          <p:cNvGrpSpPr/>
          <p:nvPr/>
        </p:nvGrpSpPr>
        <p:grpSpPr>
          <a:xfrm>
            <a:off x="4837177" y="4123944"/>
            <a:ext cx="2706624" cy="182880"/>
            <a:chOff x="4846320" y="4562856"/>
            <a:chExt cx="2706624" cy="182880"/>
          </a:xfrm>
        </p:grpSpPr>
        <p:sp>
          <p:nvSpPr>
            <p:cNvPr id="58" name="Oval 57">
              <a:extLst>
                <a:ext uri="{FF2B5EF4-FFF2-40B4-BE49-F238E27FC236}">
                  <a16:creationId xmlns:a16="http://schemas.microsoft.com/office/drawing/2014/main" id="{1F03375A-F9C3-8E95-3C2C-09000AD6ACC6}"/>
                </a:ext>
              </a:extLst>
            </p:cNvPr>
            <p:cNvSpPr/>
            <p:nvPr/>
          </p:nvSpPr>
          <p:spPr>
            <a:xfrm>
              <a:off x="4846320" y="4594860"/>
              <a:ext cx="118872" cy="118872"/>
            </a:xfrm>
            <a:prstGeom prst="ellipse">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venire-logo-full.png"/>
          <p:cNvPicPr>
            <a:picLocks noChangeAspect="1"/>
          </p:cNvPicPr>
          <p:nvPr/>
        </p:nvPicPr>
        <p:blipFill>
          <a:blip r:embed="rId3"/>
          <a:stretch>
            <a:fillRect/>
          </a:stretch>
        </p:blipFill>
        <p:spPr>
          <a:xfrm>
            <a:off x="594360" y="256032"/>
            <a:ext cx="210312" cy="210312"/>
          </a:xfrm>
          <a:prstGeom prst="rect">
            <a:avLst/>
          </a:prstGeom>
        </p:spPr>
      </p:pic>
      <p:sp>
        <p:nvSpPr>
          <p:cNvPr id="4" name="TextBox 3"/>
          <p:cNvSpPr txBox="1"/>
          <p:nvPr/>
        </p:nvSpPr>
        <p:spPr>
          <a:xfrm>
            <a:off x="877824" y="237744"/>
            <a:ext cx="822960" cy="237744"/>
          </a:xfrm>
          <a:prstGeom prst="rect">
            <a:avLst/>
          </a:prstGeom>
          <a:noFill/>
        </p:spPr>
        <p:txBody>
          <a:bodyPr wrap="square" lIns="0" tIns="0" rIns="0" bIns="0" anchor="ctr">
            <a:spAutoFit/>
          </a:bodyPr>
          <a:lstStyle/>
          <a:p>
            <a:pPr algn="l">
              <a:spcBef>
                <a:spcPts val="0"/>
              </a:spcBef>
              <a:spcAft>
                <a:spcPts val="0"/>
              </a:spcAft>
            </a:pPr>
            <a:r>
              <a:rPr sz="1100" b="1" i="0">
                <a:solidFill>
                  <a:srgbClr val="E4E4E4"/>
                </a:solidFill>
                <a:latin typeface="Inter"/>
              </a:rPr>
              <a:t>Avenire</a:t>
            </a:r>
          </a:p>
        </p:txBody>
      </p:sp>
      <p:sp>
        <p:nvSpPr>
          <p:cNvPr id="5" name="TextBox 4"/>
          <p:cNvSpPr txBox="1"/>
          <p:nvPr/>
        </p:nvSpPr>
        <p:spPr>
          <a:xfrm>
            <a:off x="11277295" y="265176"/>
            <a:ext cx="320040" cy="182880"/>
          </a:xfrm>
          <a:prstGeom prst="rect">
            <a:avLst/>
          </a:prstGeom>
          <a:noFill/>
        </p:spPr>
        <p:txBody>
          <a:bodyPr wrap="square" lIns="0" tIns="0" rIns="0" bIns="0" anchor="t">
            <a:spAutoFit/>
          </a:bodyPr>
          <a:lstStyle/>
          <a:p>
            <a:pPr algn="r">
              <a:spcBef>
                <a:spcPts val="0"/>
              </a:spcBef>
              <a:spcAft>
                <a:spcPts val="0"/>
              </a:spcAft>
            </a:pPr>
            <a:r>
              <a:rPr sz="900" b="0" i="0">
                <a:solidFill>
                  <a:srgbClr val="6E6E6E"/>
                </a:solidFill>
                <a:latin typeface="Cascadia Mono"/>
              </a:rPr>
              <a:t>14</a:t>
            </a:r>
          </a:p>
        </p:txBody>
      </p:sp>
      <p:sp>
        <p:nvSpPr>
          <p:cNvPr id="6" name="TextBox 5"/>
          <p:cNvSpPr txBox="1"/>
          <p:nvPr/>
        </p:nvSpPr>
        <p:spPr>
          <a:xfrm>
            <a:off x="594360" y="749808"/>
            <a:ext cx="5303520" cy="201168"/>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WHY AVENIRE</a:t>
            </a:r>
          </a:p>
        </p:txBody>
      </p:sp>
      <p:sp>
        <p:nvSpPr>
          <p:cNvPr id="7" name="TextBox 6"/>
          <p:cNvSpPr txBox="1"/>
          <p:nvPr/>
        </p:nvSpPr>
        <p:spPr>
          <a:xfrm>
            <a:off x="594360" y="1005840"/>
            <a:ext cx="10789920" cy="640080"/>
          </a:xfrm>
          <a:prstGeom prst="rect">
            <a:avLst/>
          </a:prstGeom>
          <a:noFill/>
        </p:spPr>
        <p:txBody>
          <a:bodyPr wrap="square" lIns="0" tIns="0" rIns="0" bIns="0" anchor="t">
            <a:spAutoFit/>
          </a:bodyPr>
          <a:lstStyle/>
          <a:p>
            <a:pPr algn="l">
              <a:spcBef>
                <a:spcPts val="0"/>
              </a:spcBef>
              <a:spcAft>
                <a:spcPts val="0"/>
              </a:spcAft>
            </a:pPr>
            <a:r>
              <a:rPr sz="3000" b="1" i="0">
                <a:solidFill>
                  <a:srgbClr val="E4E4E4"/>
                </a:solidFill>
                <a:latin typeface="Inter"/>
              </a:rPr>
              <a:t>Built from the student's perspective.</a:t>
            </a:r>
          </a:p>
        </p:txBody>
      </p:sp>
      <p:sp>
        <p:nvSpPr>
          <p:cNvPr id="8" name="TextBox 7"/>
          <p:cNvSpPr txBox="1"/>
          <p:nvPr/>
        </p:nvSpPr>
        <p:spPr>
          <a:xfrm>
            <a:off x="594360" y="1691640"/>
            <a:ext cx="9692640" cy="384048"/>
          </a:xfrm>
          <a:prstGeom prst="rect">
            <a:avLst/>
          </a:prstGeom>
          <a:noFill/>
        </p:spPr>
        <p:txBody>
          <a:bodyPr wrap="square" lIns="0" tIns="0" rIns="0" bIns="0" anchor="t">
            <a:spAutoFit/>
          </a:bodyPr>
          <a:lstStyle/>
          <a:p>
            <a:pPr algn="l">
              <a:spcBef>
                <a:spcPts val="0"/>
              </a:spcBef>
              <a:spcAft>
                <a:spcPts val="0"/>
              </a:spcAft>
            </a:pPr>
            <a:r>
              <a:rPr sz="1400" b="0" i="0">
                <a:solidFill>
                  <a:srgbClr val="9C9C9C"/>
                </a:solidFill>
                <a:latin typeface="Inter"/>
              </a:rPr>
              <a:t>The founder is already inside the problem — and has built the product from the ground up.</a:t>
            </a:r>
          </a:p>
        </p:txBody>
      </p:sp>
      <p:sp>
        <p:nvSpPr>
          <p:cNvPr id="10" name="TextBox 9"/>
          <p:cNvSpPr txBox="1"/>
          <p:nvPr/>
        </p:nvSpPr>
        <p:spPr>
          <a:xfrm>
            <a:off x="1051560" y="3246120"/>
            <a:ext cx="2011680" cy="310896"/>
          </a:xfrm>
          <a:prstGeom prst="rect">
            <a:avLst/>
          </a:prstGeom>
          <a:noFill/>
        </p:spPr>
        <p:txBody>
          <a:bodyPr wrap="square" lIns="0" tIns="0" rIns="0" bIns="0" anchor="t">
            <a:spAutoFit/>
          </a:bodyPr>
          <a:lstStyle/>
          <a:p>
            <a:pPr algn="l">
              <a:spcBef>
                <a:spcPts val="0"/>
              </a:spcBef>
              <a:spcAft>
                <a:spcPts val="0"/>
              </a:spcAft>
            </a:pPr>
            <a:r>
              <a:rPr sz="2400" b="1" i="0">
                <a:solidFill>
                  <a:srgbClr val="E4E4E4"/>
                </a:solidFill>
                <a:latin typeface="Inter"/>
              </a:rPr>
              <a:t>Abhiram</a:t>
            </a:r>
          </a:p>
        </p:txBody>
      </p:sp>
      <p:sp>
        <p:nvSpPr>
          <p:cNvPr id="11" name="TextBox 10"/>
          <p:cNvSpPr txBox="1"/>
          <p:nvPr/>
        </p:nvSpPr>
        <p:spPr>
          <a:xfrm>
            <a:off x="1051560" y="3703320"/>
            <a:ext cx="2011680" cy="201168"/>
          </a:xfrm>
          <a:prstGeom prst="rect">
            <a:avLst/>
          </a:prstGeom>
          <a:noFill/>
        </p:spPr>
        <p:txBody>
          <a:bodyPr wrap="square" lIns="0" tIns="0" rIns="0" bIns="0" anchor="t">
            <a:spAutoFit/>
          </a:bodyPr>
          <a:lstStyle/>
          <a:p>
            <a:pPr algn="l">
              <a:spcBef>
                <a:spcPts val="0"/>
              </a:spcBef>
              <a:spcAft>
                <a:spcPts val="0"/>
              </a:spcAft>
            </a:pPr>
            <a:r>
              <a:rPr sz="1300" b="1" i="0">
                <a:solidFill>
                  <a:srgbClr val="ABC4FF"/>
                </a:solidFill>
                <a:latin typeface="Cascadia Mono"/>
              </a:rPr>
              <a:t>Founder</a:t>
            </a:r>
          </a:p>
        </p:txBody>
      </p:sp>
      <p:sp>
        <p:nvSpPr>
          <p:cNvPr id="12" name="TextBox 11"/>
          <p:cNvSpPr txBox="1"/>
          <p:nvPr/>
        </p:nvSpPr>
        <p:spPr>
          <a:xfrm>
            <a:off x="1051560" y="4069080"/>
            <a:ext cx="2148840" cy="219456"/>
          </a:xfrm>
          <a:prstGeom prst="rect">
            <a:avLst/>
          </a:prstGeom>
          <a:noFill/>
        </p:spPr>
        <p:txBody>
          <a:bodyPr wrap="square" lIns="0" tIns="0" rIns="0" bIns="0" anchor="t">
            <a:spAutoFit/>
          </a:bodyPr>
          <a:lstStyle/>
          <a:p>
            <a:pPr algn="l">
              <a:spcBef>
                <a:spcPts val="0"/>
              </a:spcBef>
              <a:spcAft>
                <a:spcPts val="0"/>
              </a:spcAft>
            </a:pPr>
            <a:r>
              <a:rPr sz="1200" b="0" i="0">
                <a:solidFill>
                  <a:srgbClr val="9C9C9C"/>
                </a:solidFill>
                <a:latin typeface="Inter"/>
              </a:rPr>
              <a:t>BITS Pilani, Hyderabad</a:t>
            </a:r>
          </a:p>
        </p:txBody>
      </p:sp>
      <p:cxnSp>
        <p:nvCxnSpPr>
          <p:cNvPr id="13" name="Connector 12"/>
          <p:cNvCxnSpPr/>
          <p:nvPr/>
        </p:nvCxnSpPr>
        <p:spPr>
          <a:xfrm>
            <a:off x="3886200" y="2141317"/>
            <a:ext cx="0" cy="3566160"/>
          </a:xfrm>
          <a:prstGeom prst="line">
            <a:avLst/>
          </a:prstGeom>
          <a:ln w="12700">
            <a:solidFill>
              <a:srgbClr val="343434"/>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4800600" y="2423160"/>
            <a:ext cx="182880" cy="182880"/>
          </a:xfrm>
          <a:prstGeom prst="ellipse">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212080" y="2377440"/>
            <a:ext cx="5394960" cy="219456"/>
          </a:xfrm>
          <a:prstGeom prst="rect">
            <a:avLst/>
          </a:prstGeom>
          <a:noFill/>
        </p:spPr>
        <p:txBody>
          <a:bodyPr wrap="square" lIns="0" tIns="0" rIns="0" bIns="0" anchor="t">
            <a:spAutoFit/>
          </a:bodyPr>
          <a:lstStyle/>
          <a:p>
            <a:pPr algn="l">
              <a:spcBef>
                <a:spcPts val="0"/>
              </a:spcBef>
              <a:spcAft>
                <a:spcPts val="0"/>
              </a:spcAft>
            </a:pPr>
            <a:r>
              <a:rPr sz="1500" b="1" i="0">
                <a:solidFill>
                  <a:srgbClr val="E4E4E4"/>
                </a:solidFill>
                <a:latin typeface="Inter"/>
              </a:rPr>
              <a:t>Building Avenire from the ground up</a:t>
            </a:r>
          </a:p>
        </p:txBody>
      </p:sp>
      <p:sp>
        <p:nvSpPr>
          <p:cNvPr id="16" name="TextBox 15"/>
          <p:cNvSpPr txBox="1"/>
          <p:nvPr/>
        </p:nvSpPr>
        <p:spPr>
          <a:xfrm>
            <a:off x="5212080" y="2670048"/>
            <a:ext cx="5394960" cy="201168"/>
          </a:xfrm>
          <a:prstGeom prst="rect">
            <a:avLst/>
          </a:prstGeom>
          <a:noFill/>
        </p:spPr>
        <p:txBody>
          <a:bodyPr wrap="square" lIns="0" tIns="0" rIns="0" bIns="0" anchor="t">
            <a:spAutoFit/>
          </a:bodyPr>
          <a:lstStyle/>
          <a:p>
            <a:pPr algn="l">
              <a:spcBef>
                <a:spcPts val="0"/>
              </a:spcBef>
              <a:spcAft>
                <a:spcPts val="0"/>
              </a:spcAft>
            </a:pPr>
            <a:r>
              <a:rPr sz="1100" b="0" i="0">
                <a:solidFill>
                  <a:srgbClr val="9C9C9C"/>
                </a:solidFill>
                <a:latin typeface="Inter"/>
              </a:rPr>
              <a:t>Product, systems and learning workflows</a:t>
            </a:r>
          </a:p>
        </p:txBody>
      </p:sp>
      <p:sp>
        <p:nvSpPr>
          <p:cNvPr id="17" name="Oval 16"/>
          <p:cNvSpPr/>
          <p:nvPr/>
        </p:nvSpPr>
        <p:spPr>
          <a:xfrm>
            <a:off x="4800600" y="3264408"/>
            <a:ext cx="182880" cy="182880"/>
          </a:xfrm>
          <a:prstGeom prst="ellipse">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212080" y="3218688"/>
            <a:ext cx="5394960" cy="219456"/>
          </a:xfrm>
          <a:prstGeom prst="rect">
            <a:avLst/>
          </a:prstGeom>
          <a:noFill/>
        </p:spPr>
        <p:txBody>
          <a:bodyPr wrap="square" lIns="0" tIns="0" rIns="0" bIns="0" anchor="t">
            <a:spAutoFit/>
          </a:bodyPr>
          <a:lstStyle/>
          <a:p>
            <a:pPr algn="l">
              <a:spcBef>
                <a:spcPts val="0"/>
              </a:spcBef>
              <a:spcAft>
                <a:spcPts val="0"/>
              </a:spcAft>
            </a:pPr>
            <a:r>
              <a:rPr sz="1500" b="1" i="0">
                <a:solidFill>
                  <a:srgbClr val="E4E4E4"/>
                </a:solidFill>
                <a:latin typeface="Inter"/>
              </a:rPr>
              <a:t>Product + engineering</a:t>
            </a:r>
          </a:p>
        </p:txBody>
      </p:sp>
      <p:sp>
        <p:nvSpPr>
          <p:cNvPr id="19" name="TextBox 18"/>
          <p:cNvSpPr txBox="1"/>
          <p:nvPr/>
        </p:nvSpPr>
        <p:spPr>
          <a:xfrm>
            <a:off x="5212080" y="3511296"/>
            <a:ext cx="5394960" cy="201168"/>
          </a:xfrm>
          <a:prstGeom prst="rect">
            <a:avLst/>
          </a:prstGeom>
          <a:noFill/>
        </p:spPr>
        <p:txBody>
          <a:bodyPr wrap="square" lIns="0" tIns="0" rIns="0" bIns="0" anchor="t">
            <a:spAutoFit/>
          </a:bodyPr>
          <a:lstStyle/>
          <a:p>
            <a:pPr algn="l">
              <a:spcBef>
                <a:spcPts val="0"/>
              </a:spcBef>
              <a:spcAft>
                <a:spcPts val="0"/>
              </a:spcAft>
            </a:pPr>
            <a:r>
              <a:rPr sz="1100" b="0" i="0">
                <a:solidFill>
                  <a:srgbClr val="9C9C9C"/>
                </a:solidFill>
                <a:latin typeface="Inter"/>
              </a:rPr>
              <a:t>A working product, not another prototype</a:t>
            </a:r>
          </a:p>
        </p:txBody>
      </p:sp>
      <p:sp>
        <p:nvSpPr>
          <p:cNvPr id="20" name="Oval 19"/>
          <p:cNvSpPr/>
          <p:nvPr/>
        </p:nvSpPr>
        <p:spPr>
          <a:xfrm>
            <a:off x="4800600" y="4105656"/>
            <a:ext cx="182880" cy="182880"/>
          </a:xfrm>
          <a:prstGeom prst="ellipse">
            <a:avLst/>
          </a:prstGeom>
          <a:solidFill>
            <a:srgbClr val="F0A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212080" y="4059936"/>
            <a:ext cx="5394960" cy="219456"/>
          </a:xfrm>
          <a:prstGeom prst="rect">
            <a:avLst/>
          </a:prstGeom>
          <a:noFill/>
        </p:spPr>
        <p:txBody>
          <a:bodyPr wrap="square" lIns="0" tIns="0" rIns="0" bIns="0" anchor="t">
            <a:spAutoFit/>
          </a:bodyPr>
          <a:lstStyle/>
          <a:p>
            <a:pPr algn="l">
              <a:spcBef>
                <a:spcPts val="0"/>
              </a:spcBef>
              <a:spcAft>
                <a:spcPts val="0"/>
              </a:spcAft>
            </a:pPr>
            <a:r>
              <a:rPr sz="1500" b="1" i="0">
                <a:solidFill>
                  <a:srgbClr val="E4E4E4"/>
                </a:solidFill>
                <a:latin typeface="Inter"/>
              </a:rPr>
              <a:t>Student perspective</a:t>
            </a:r>
          </a:p>
        </p:txBody>
      </p:sp>
      <p:sp>
        <p:nvSpPr>
          <p:cNvPr id="22" name="TextBox 21"/>
          <p:cNvSpPr txBox="1"/>
          <p:nvPr/>
        </p:nvSpPr>
        <p:spPr>
          <a:xfrm>
            <a:off x="5212080" y="4352544"/>
            <a:ext cx="5394960" cy="201168"/>
          </a:xfrm>
          <a:prstGeom prst="rect">
            <a:avLst/>
          </a:prstGeom>
          <a:noFill/>
        </p:spPr>
        <p:txBody>
          <a:bodyPr wrap="square" lIns="0" tIns="0" rIns="0" bIns="0" anchor="t">
            <a:spAutoFit/>
          </a:bodyPr>
          <a:lstStyle/>
          <a:p>
            <a:pPr algn="l">
              <a:spcBef>
                <a:spcPts val="0"/>
              </a:spcBef>
              <a:spcAft>
                <a:spcPts val="0"/>
              </a:spcAft>
            </a:pPr>
            <a:r>
              <a:rPr sz="1100" b="0" i="0">
                <a:solidFill>
                  <a:srgbClr val="9C9C9C"/>
                </a:solidFill>
                <a:latin typeface="Inter"/>
              </a:rPr>
              <a:t>Living the fragmented learning workflow every day</a:t>
            </a:r>
          </a:p>
        </p:txBody>
      </p:sp>
      <p:sp>
        <p:nvSpPr>
          <p:cNvPr id="23" name="TextBox 22"/>
          <p:cNvSpPr txBox="1"/>
          <p:nvPr/>
        </p:nvSpPr>
        <p:spPr>
          <a:xfrm>
            <a:off x="4343400" y="5797296"/>
            <a:ext cx="6949440" cy="228600"/>
          </a:xfrm>
          <a:prstGeom prst="rect">
            <a:avLst/>
          </a:prstGeom>
          <a:noFill/>
        </p:spPr>
        <p:txBody>
          <a:bodyPr wrap="square" lIns="0" tIns="0" rIns="0" bIns="0" anchor="t">
            <a:spAutoFit/>
          </a:bodyPr>
          <a:lstStyle/>
          <a:p>
            <a:pPr algn="ctr">
              <a:spcBef>
                <a:spcPts val="0"/>
              </a:spcBef>
              <a:spcAft>
                <a:spcPts val="0"/>
              </a:spcAft>
            </a:pPr>
            <a:r>
              <a:rPr sz="1300" b="1" i="0">
                <a:solidFill>
                  <a:srgbClr val="ABC4FF"/>
                </a:solidFill>
                <a:latin typeface="Inter"/>
              </a:rPr>
              <a:t>What we need now: turn a working product into repeated student behavior.</a:t>
            </a:r>
          </a:p>
        </p:txBody>
      </p:sp>
      <p:cxnSp>
        <p:nvCxnSpPr>
          <p:cNvPr id="24" name="Connector 23"/>
          <p:cNvCxnSpPr/>
          <p:nvPr/>
        </p:nvCxnSpPr>
        <p:spPr>
          <a:xfrm>
            <a:off x="594360" y="6464808"/>
            <a:ext cx="11002975"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94360" y="6574536"/>
            <a:ext cx="3474720" cy="146304"/>
          </a:xfrm>
          <a:prstGeom prst="rect">
            <a:avLst/>
          </a:prstGeom>
          <a:noFill/>
        </p:spPr>
        <p:txBody>
          <a:bodyPr wrap="square" lIns="0" tIns="0" rIns="0" bIns="0" anchor="t">
            <a:spAutoFit/>
          </a:bodyPr>
          <a:lstStyle/>
          <a:p>
            <a:pPr algn="l">
              <a:spcBef>
                <a:spcPts val="0"/>
              </a:spcBef>
              <a:spcAft>
                <a:spcPts val="0"/>
              </a:spcAft>
            </a:pPr>
            <a:r>
              <a:rPr sz="850" b="0" i="0">
                <a:solidFill>
                  <a:srgbClr val="6E6E6E"/>
                </a:solidFill>
                <a:latin typeface="Cascadia Mono"/>
              </a:rPr>
              <a:t>Avenire / learning that remembers</a:t>
            </a:r>
          </a:p>
        </p:txBody>
      </p:sp>
      <p:sp>
        <p:nvSpPr>
          <p:cNvPr id="26" name="TextBox 25"/>
          <p:cNvSpPr txBox="1"/>
          <p:nvPr/>
        </p:nvSpPr>
        <p:spPr>
          <a:xfrm>
            <a:off x="1051560" y="4434840"/>
            <a:ext cx="2148840" cy="219456"/>
          </a:xfrm>
          <a:prstGeom prst="rect">
            <a:avLst/>
          </a:prstGeom>
          <a:noFill/>
        </p:spPr>
        <p:txBody>
          <a:bodyPr wrap="square" lIns="0" tIns="0" rIns="0" bIns="0" anchor="t">
            <a:spAutoFit/>
          </a:bodyPr>
          <a:lstStyle/>
          <a:p>
            <a:pPr algn="l">
              <a:spcBef>
                <a:spcPts val="0"/>
              </a:spcBef>
              <a:spcAft>
                <a:spcPts val="0"/>
              </a:spcAft>
            </a:pPr>
            <a:r>
              <a:rPr sz="1200" b="0" i="0">
                <a:solidFill>
                  <a:srgbClr val="9C9C9C"/>
                </a:solidFill>
                <a:latin typeface="Inter"/>
              </a:rPr>
              <a:t>Co-founder — Symbiosis University, Pune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venire-logo-full.png"/>
          <p:cNvPicPr>
            <a:picLocks noChangeAspect="1"/>
          </p:cNvPicPr>
          <p:nvPr/>
        </p:nvPicPr>
        <p:blipFill>
          <a:blip r:embed="rId3"/>
          <a:stretch>
            <a:fillRect/>
          </a:stretch>
        </p:blipFill>
        <p:spPr>
          <a:xfrm>
            <a:off x="594360" y="256032"/>
            <a:ext cx="210312" cy="210312"/>
          </a:xfrm>
          <a:prstGeom prst="rect">
            <a:avLst/>
          </a:prstGeom>
        </p:spPr>
      </p:pic>
      <p:sp>
        <p:nvSpPr>
          <p:cNvPr id="4" name="TextBox 3"/>
          <p:cNvSpPr txBox="1"/>
          <p:nvPr/>
        </p:nvSpPr>
        <p:spPr>
          <a:xfrm>
            <a:off x="877824" y="237744"/>
            <a:ext cx="822960" cy="237744"/>
          </a:xfrm>
          <a:prstGeom prst="rect">
            <a:avLst/>
          </a:prstGeom>
          <a:noFill/>
        </p:spPr>
        <p:txBody>
          <a:bodyPr wrap="square" lIns="0" tIns="0" rIns="0" bIns="0" anchor="ctr">
            <a:spAutoFit/>
          </a:bodyPr>
          <a:lstStyle/>
          <a:p>
            <a:pPr algn="l">
              <a:spcBef>
                <a:spcPts val="0"/>
              </a:spcBef>
              <a:spcAft>
                <a:spcPts val="0"/>
              </a:spcAft>
            </a:pPr>
            <a:r>
              <a:rPr sz="1100" b="1" i="0">
                <a:solidFill>
                  <a:srgbClr val="E4E4E4"/>
                </a:solidFill>
                <a:latin typeface="Inter"/>
              </a:rPr>
              <a:t>Avenire</a:t>
            </a:r>
          </a:p>
        </p:txBody>
      </p:sp>
      <p:sp>
        <p:nvSpPr>
          <p:cNvPr id="5" name="TextBox 4"/>
          <p:cNvSpPr txBox="1"/>
          <p:nvPr/>
        </p:nvSpPr>
        <p:spPr>
          <a:xfrm>
            <a:off x="11277295" y="265176"/>
            <a:ext cx="320040" cy="182880"/>
          </a:xfrm>
          <a:prstGeom prst="rect">
            <a:avLst/>
          </a:prstGeom>
          <a:noFill/>
        </p:spPr>
        <p:txBody>
          <a:bodyPr wrap="square" lIns="0" tIns="0" rIns="0" bIns="0" anchor="t">
            <a:spAutoFit/>
          </a:bodyPr>
          <a:lstStyle/>
          <a:p>
            <a:pPr algn="r">
              <a:spcBef>
                <a:spcPts val="0"/>
              </a:spcBef>
              <a:spcAft>
                <a:spcPts val="0"/>
              </a:spcAft>
            </a:pPr>
            <a:r>
              <a:rPr sz="900" b="0" i="0">
                <a:solidFill>
                  <a:srgbClr val="6E6E6E"/>
                </a:solidFill>
                <a:latin typeface="Cascadia Mono"/>
              </a:rPr>
              <a:t>15</a:t>
            </a:r>
          </a:p>
        </p:txBody>
      </p:sp>
      <p:sp>
        <p:nvSpPr>
          <p:cNvPr id="6" name="TextBox 5"/>
          <p:cNvSpPr txBox="1"/>
          <p:nvPr/>
        </p:nvSpPr>
        <p:spPr>
          <a:xfrm>
            <a:off x="594360" y="749808"/>
            <a:ext cx="5303520" cy="201168"/>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THE ASK</a:t>
            </a:r>
          </a:p>
        </p:txBody>
      </p:sp>
      <p:sp>
        <p:nvSpPr>
          <p:cNvPr id="7" name="TextBox 6"/>
          <p:cNvSpPr txBox="1"/>
          <p:nvPr/>
        </p:nvSpPr>
        <p:spPr>
          <a:xfrm>
            <a:off x="594360" y="1005840"/>
            <a:ext cx="10789920" cy="640080"/>
          </a:xfrm>
          <a:prstGeom prst="rect">
            <a:avLst/>
          </a:prstGeom>
          <a:noFill/>
        </p:spPr>
        <p:txBody>
          <a:bodyPr wrap="square" lIns="0" tIns="0" rIns="0" bIns="0" anchor="t">
            <a:spAutoFit/>
          </a:bodyPr>
          <a:lstStyle/>
          <a:p>
            <a:pPr algn="l">
              <a:spcBef>
                <a:spcPts val="0"/>
              </a:spcBef>
              <a:spcAft>
                <a:spcPts val="0"/>
              </a:spcAft>
            </a:pPr>
            <a:r>
              <a:rPr sz="3000" b="1" i="0">
                <a:solidFill>
                  <a:srgbClr val="E4E4E4"/>
                </a:solidFill>
                <a:latin typeface="Inter"/>
              </a:rPr>
              <a:t>We're looking for incubation.</a:t>
            </a:r>
          </a:p>
        </p:txBody>
      </p:sp>
      <p:sp>
        <p:nvSpPr>
          <p:cNvPr id="8" name="TextBox 7"/>
          <p:cNvSpPr txBox="1"/>
          <p:nvPr/>
        </p:nvSpPr>
        <p:spPr>
          <a:xfrm>
            <a:off x="594360" y="1691640"/>
            <a:ext cx="9692640" cy="384048"/>
          </a:xfrm>
          <a:prstGeom prst="rect">
            <a:avLst/>
          </a:prstGeom>
          <a:noFill/>
        </p:spPr>
        <p:txBody>
          <a:bodyPr wrap="square" lIns="0" tIns="0" rIns="0" bIns="0" anchor="t">
            <a:spAutoFit/>
          </a:bodyPr>
          <a:lstStyle/>
          <a:p>
            <a:pPr algn="l">
              <a:spcBef>
                <a:spcPts val="0"/>
              </a:spcBef>
              <a:spcAft>
                <a:spcPts val="0"/>
              </a:spcAft>
            </a:pPr>
            <a:r>
              <a:rPr sz="1400" b="0" i="0">
                <a:solidFill>
                  <a:srgbClr val="9C9C9C"/>
                </a:solidFill>
                <a:latin typeface="Inter"/>
              </a:rPr>
              <a:t>Move Avenire from a working product to a validated company.</a:t>
            </a:r>
          </a:p>
        </p:txBody>
      </p:sp>
      <p:cxnSp>
        <p:nvCxnSpPr>
          <p:cNvPr id="9" name="Connector 8"/>
          <p:cNvCxnSpPr/>
          <p:nvPr/>
        </p:nvCxnSpPr>
        <p:spPr>
          <a:xfrm>
            <a:off x="777240" y="3012543"/>
            <a:ext cx="5120639" cy="0"/>
          </a:xfrm>
          <a:prstGeom prst="line">
            <a:avLst/>
          </a:prstGeom>
          <a:ln w="12700">
            <a:solidFill>
              <a:srgbClr val="34343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05840" y="2244447"/>
            <a:ext cx="411480" cy="228600"/>
          </a:xfrm>
          <a:prstGeom prst="rect">
            <a:avLst/>
          </a:prstGeom>
          <a:noFill/>
        </p:spPr>
        <p:txBody>
          <a:bodyPr wrap="square" lIns="0" tIns="0" rIns="0" bIns="0" anchor="t">
            <a:spAutoFit/>
          </a:bodyPr>
          <a:lstStyle/>
          <a:p>
            <a:pPr algn="l">
              <a:spcBef>
                <a:spcPts val="0"/>
              </a:spcBef>
              <a:spcAft>
                <a:spcPts val="0"/>
              </a:spcAft>
            </a:pPr>
            <a:r>
              <a:rPr sz="1100" b="1" i="0">
                <a:solidFill>
                  <a:srgbClr val="ABC4FF"/>
                </a:solidFill>
                <a:latin typeface="Cascadia Mono"/>
              </a:rPr>
              <a:t>01</a:t>
            </a:r>
          </a:p>
        </p:txBody>
      </p:sp>
      <p:sp>
        <p:nvSpPr>
          <p:cNvPr id="11" name="TextBox 10"/>
          <p:cNvSpPr txBox="1"/>
          <p:nvPr/>
        </p:nvSpPr>
        <p:spPr>
          <a:xfrm>
            <a:off x="1618488" y="2189583"/>
            <a:ext cx="3566160" cy="237744"/>
          </a:xfrm>
          <a:prstGeom prst="rect">
            <a:avLst/>
          </a:prstGeom>
          <a:noFill/>
        </p:spPr>
        <p:txBody>
          <a:bodyPr wrap="square" lIns="0" tIns="0" rIns="0" bIns="0" anchor="t">
            <a:spAutoFit/>
          </a:bodyPr>
          <a:lstStyle/>
          <a:p>
            <a:pPr algn="l">
              <a:spcBef>
                <a:spcPts val="0"/>
              </a:spcBef>
              <a:spcAft>
                <a:spcPts val="0"/>
              </a:spcAft>
            </a:pPr>
            <a:r>
              <a:rPr sz="1500" b="1" i="0">
                <a:solidFill>
                  <a:srgbClr val="E4E4E4"/>
                </a:solidFill>
                <a:latin typeface="Inter"/>
              </a:rPr>
              <a:t>Product validation</a:t>
            </a:r>
          </a:p>
        </p:txBody>
      </p:sp>
      <p:sp>
        <p:nvSpPr>
          <p:cNvPr id="12" name="TextBox 11"/>
          <p:cNvSpPr txBox="1"/>
          <p:nvPr/>
        </p:nvSpPr>
        <p:spPr>
          <a:xfrm>
            <a:off x="1618488" y="2518767"/>
            <a:ext cx="3840480" cy="201168"/>
          </a:xfrm>
          <a:prstGeom prst="rect">
            <a:avLst/>
          </a:prstGeom>
          <a:noFill/>
        </p:spPr>
        <p:txBody>
          <a:bodyPr wrap="square" lIns="0" tIns="0" rIns="0" bIns="0" anchor="t">
            <a:spAutoFit/>
          </a:bodyPr>
          <a:lstStyle/>
          <a:p>
            <a:pPr algn="l">
              <a:spcBef>
                <a:spcPts val="0"/>
              </a:spcBef>
              <a:spcAft>
                <a:spcPts val="0"/>
              </a:spcAft>
            </a:pPr>
            <a:r>
              <a:rPr sz="1050" b="0" i="0">
                <a:solidFill>
                  <a:srgbClr val="9C9C9C"/>
                </a:solidFill>
                <a:latin typeface="Inter"/>
              </a:rPr>
              <a:t>Get our first cohort of students using Avenire.</a:t>
            </a:r>
          </a:p>
        </p:txBody>
      </p:sp>
      <p:cxnSp>
        <p:nvCxnSpPr>
          <p:cNvPr id="13" name="Connector 12"/>
          <p:cNvCxnSpPr/>
          <p:nvPr/>
        </p:nvCxnSpPr>
        <p:spPr>
          <a:xfrm>
            <a:off x="6355079" y="3012543"/>
            <a:ext cx="5120640" cy="0"/>
          </a:xfrm>
          <a:prstGeom prst="line">
            <a:avLst/>
          </a:prstGeom>
          <a:ln w="12700">
            <a:solidFill>
              <a:srgbClr val="343434"/>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583679" y="2244447"/>
            <a:ext cx="411480" cy="228600"/>
          </a:xfrm>
          <a:prstGeom prst="rect">
            <a:avLst/>
          </a:prstGeom>
          <a:noFill/>
        </p:spPr>
        <p:txBody>
          <a:bodyPr wrap="square" lIns="0" tIns="0" rIns="0" bIns="0" anchor="t">
            <a:spAutoFit/>
          </a:bodyPr>
          <a:lstStyle/>
          <a:p>
            <a:pPr algn="l">
              <a:spcBef>
                <a:spcPts val="0"/>
              </a:spcBef>
              <a:spcAft>
                <a:spcPts val="0"/>
              </a:spcAft>
            </a:pPr>
            <a:r>
              <a:rPr sz="1100" b="1" i="0">
                <a:solidFill>
                  <a:srgbClr val="78C4D5"/>
                </a:solidFill>
                <a:latin typeface="Cascadia Mono"/>
              </a:rPr>
              <a:t>02</a:t>
            </a:r>
          </a:p>
        </p:txBody>
      </p:sp>
      <p:sp>
        <p:nvSpPr>
          <p:cNvPr id="15" name="TextBox 14"/>
          <p:cNvSpPr txBox="1"/>
          <p:nvPr/>
        </p:nvSpPr>
        <p:spPr>
          <a:xfrm>
            <a:off x="7196327" y="2189583"/>
            <a:ext cx="3566160" cy="237744"/>
          </a:xfrm>
          <a:prstGeom prst="rect">
            <a:avLst/>
          </a:prstGeom>
          <a:noFill/>
        </p:spPr>
        <p:txBody>
          <a:bodyPr wrap="square" lIns="0" tIns="0" rIns="0" bIns="0" anchor="t">
            <a:spAutoFit/>
          </a:bodyPr>
          <a:lstStyle/>
          <a:p>
            <a:pPr algn="l">
              <a:spcBef>
                <a:spcPts val="0"/>
              </a:spcBef>
              <a:spcAft>
                <a:spcPts val="0"/>
              </a:spcAft>
            </a:pPr>
            <a:r>
              <a:rPr sz="1500" b="1" i="0">
                <a:solidFill>
                  <a:srgbClr val="E4E4E4"/>
                </a:solidFill>
                <a:latin typeface="Inter"/>
              </a:rPr>
              <a:t>Mentorship</a:t>
            </a:r>
          </a:p>
        </p:txBody>
      </p:sp>
      <p:sp>
        <p:nvSpPr>
          <p:cNvPr id="16" name="TextBox 15"/>
          <p:cNvSpPr txBox="1"/>
          <p:nvPr/>
        </p:nvSpPr>
        <p:spPr>
          <a:xfrm>
            <a:off x="7196327" y="2518767"/>
            <a:ext cx="3840480" cy="201168"/>
          </a:xfrm>
          <a:prstGeom prst="rect">
            <a:avLst/>
          </a:prstGeom>
          <a:noFill/>
        </p:spPr>
        <p:txBody>
          <a:bodyPr wrap="square" lIns="0" tIns="0" rIns="0" bIns="0" anchor="t">
            <a:spAutoFit/>
          </a:bodyPr>
          <a:lstStyle/>
          <a:p>
            <a:pPr algn="l">
              <a:spcBef>
                <a:spcPts val="0"/>
              </a:spcBef>
              <a:spcAft>
                <a:spcPts val="0"/>
              </a:spcAft>
            </a:pPr>
            <a:r>
              <a:rPr sz="1050" b="0" i="0">
                <a:solidFill>
                  <a:srgbClr val="9C9C9C"/>
                </a:solidFill>
                <a:latin typeface="Inter"/>
              </a:rPr>
              <a:t>Product, education, GTM and business development.</a:t>
            </a:r>
          </a:p>
        </p:txBody>
      </p:sp>
      <p:cxnSp>
        <p:nvCxnSpPr>
          <p:cNvPr id="17" name="Connector 16"/>
          <p:cNvCxnSpPr/>
          <p:nvPr/>
        </p:nvCxnSpPr>
        <p:spPr>
          <a:xfrm>
            <a:off x="777240" y="4246983"/>
            <a:ext cx="5120639" cy="0"/>
          </a:xfrm>
          <a:prstGeom prst="line">
            <a:avLst/>
          </a:prstGeom>
          <a:ln w="12700">
            <a:solidFill>
              <a:srgbClr val="343434"/>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005840" y="3478886"/>
            <a:ext cx="411480" cy="228600"/>
          </a:xfrm>
          <a:prstGeom prst="rect">
            <a:avLst/>
          </a:prstGeom>
          <a:noFill/>
        </p:spPr>
        <p:txBody>
          <a:bodyPr wrap="square" lIns="0" tIns="0" rIns="0" bIns="0" anchor="t">
            <a:spAutoFit/>
          </a:bodyPr>
          <a:lstStyle/>
          <a:p>
            <a:pPr algn="l">
              <a:spcBef>
                <a:spcPts val="0"/>
              </a:spcBef>
              <a:spcAft>
                <a:spcPts val="0"/>
              </a:spcAft>
            </a:pPr>
            <a:r>
              <a:rPr sz="1100" b="1" i="0">
                <a:solidFill>
                  <a:srgbClr val="F0A873"/>
                </a:solidFill>
                <a:latin typeface="Cascadia Mono"/>
              </a:rPr>
              <a:t>03</a:t>
            </a:r>
          </a:p>
        </p:txBody>
      </p:sp>
      <p:sp>
        <p:nvSpPr>
          <p:cNvPr id="19" name="TextBox 18"/>
          <p:cNvSpPr txBox="1"/>
          <p:nvPr/>
        </p:nvSpPr>
        <p:spPr>
          <a:xfrm>
            <a:off x="1618488" y="3424023"/>
            <a:ext cx="3566160" cy="237744"/>
          </a:xfrm>
          <a:prstGeom prst="rect">
            <a:avLst/>
          </a:prstGeom>
          <a:noFill/>
        </p:spPr>
        <p:txBody>
          <a:bodyPr wrap="square" lIns="0" tIns="0" rIns="0" bIns="0" anchor="t">
            <a:spAutoFit/>
          </a:bodyPr>
          <a:lstStyle/>
          <a:p>
            <a:pPr algn="l">
              <a:spcBef>
                <a:spcPts val="0"/>
              </a:spcBef>
              <a:spcAft>
                <a:spcPts val="0"/>
              </a:spcAft>
            </a:pPr>
            <a:r>
              <a:rPr sz="1500" b="1" i="0">
                <a:solidFill>
                  <a:srgbClr val="E4E4E4"/>
                </a:solidFill>
                <a:latin typeface="Inter"/>
              </a:rPr>
              <a:t>Institutional access</a:t>
            </a:r>
          </a:p>
        </p:txBody>
      </p:sp>
      <p:sp>
        <p:nvSpPr>
          <p:cNvPr id="20" name="TextBox 19"/>
          <p:cNvSpPr txBox="1"/>
          <p:nvPr/>
        </p:nvSpPr>
        <p:spPr>
          <a:xfrm>
            <a:off x="1618488" y="3753207"/>
            <a:ext cx="3840480" cy="201168"/>
          </a:xfrm>
          <a:prstGeom prst="rect">
            <a:avLst/>
          </a:prstGeom>
          <a:noFill/>
        </p:spPr>
        <p:txBody>
          <a:bodyPr wrap="square" lIns="0" tIns="0" rIns="0" bIns="0" anchor="t">
            <a:spAutoFit/>
          </a:bodyPr>
          <a:lstStyle/>
          <a:p>
            <a:pPr algn="l">
              <a:spcBef>
                <a:spcPts val="0"/>
              </a:spcBef>
              <a:spcAft>
                <a:spcPts val="0"/>
              </a:spcAft>
            </a:pPr>
            <a:r>
              <a:rPr sz="1050" b="0" i="0">
                <a:solidFill>
                  <a:srgbClr val="9C9C9C"/>
                </a:solidFill>
                <a:latin typeface="Inter"/>
              </a:rPr>
              <a:t>Pilot with universities and educators.</a:t>
            </a:r>
          </a:p>
        </p:txBody>
      </p:sp>
      <p:cxnSp>
        <p:nvCxnSpPr>
          <p:cNvPr id="21" name="Connector 20"/>
          <p:cNvCxnSpPr/>
          <p:nvPr/>
        </p:nvCxnSpPr>
        <p:spPr>
          <a:xfrm>
            <a:off x="6355079" y="4246983"/>
            <a:ext cx="5120640" cy="0"/>
          </a:xfrm>
          <a:prstGeom prst="line">
            <a:avLst/>
          </a:prstGeom>
          <a:ln w="12700">
            <a:solidFill>
              <a:srgbClr val="343434"/>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583679" y="3478886"/>
            <a:ext cx="411480" cy="228600"/>
          </a:xfrm>
          <a:prstGeom prst="rect">
            <a:avLst/>
          </a:prstGeom>
          <a:noFill/>
        </p:spPr>
        <p:txBody>
          <a:bodyPr wrap="square" lIns="0" tIns="0" rIns="0" bIns="0" anchor="t">
            <a:spAutoFit/>
          </a:bodyPr>
          <a:lstStyle/>
          <a:p>
            <a:pPr algn="l">
              <a:spcBef>
                <a:spcPts val="0"/>
              </a:spcBef>
              <a:spcAft>
                <a:spcPts val="0"/>
              </a:spcAft>
            </a:pPr>
            <a:r>
              <a:rPr sz="1100" b="1" i="0">
                <a:solidFill>
                  <a:srgbClr val="A99AD1"/>
                </a:solidFill>
                <a:latin typeface="Cascadia Mono"/>
              </a:rPr>
              <a:t>04</a:t>
            </a:r>
          </a:p>
        </p:txBody>
      </p:sp>
      <p:sp>
        <p:nvSpPr>
          <p:cNvPr id="23" name="TextBox 22"/>
          <p:cNvSpPr txBox="1"/>
          <p:nvPr/>
        </p:nvSpPr>
        <p:spPr>
          <a:xfrm>
            <a:off x="7196327" y="3424023"/>
            <a:ext cx="3566160" cy="237744"/>
          </a:xfrm>
          <a:prstGeom prst="rect">
            <a:avLst/>
          </a:prstGeom>
          <a:noFill/>
        </p:spPr>
        <p:txBody>
          <a:bodyPr wrap="square" lIns="0" tIns="0" rIns="0" bIns="0" anchor="t">
            <a:spAutoFit/>
          </a:bodyPr>
          <a:lstStyle/>
          <a:p>
            <a:pPr algn="l">
              <a:spcBef>
                <a:spcPts val="0"/>
              </a:spcBef>
              <a:spcAft>
                <a:spcPts val="0"/>
              </a:spcAft>
            </a:pPr>
            <a:r>
              <a:rPr sz="1500" b="1" i="0">
                <a:solidFill>
                  <a:srgbClr val="E4E4E4"/>
                </a:solidFill>
                <a:latin typeface="Inter"/>
              </a:rPr>
              <a:t>Capital</a:t>
            </a:r>
          </a:p>
        </p:txBody>
      </p:sp>
      <p:sp>
        <p:nvSpPr>
          <p:cNvPr id="24" name="TextBox 23"/>
          <p:cNvSpPr txBox="1"/>
          <p:nvPr/>
        </p:nvSpPr>
        <p:spPr>
          <a:xfrm>
            <a:off x="7196327" y="3753207"/>
            <a:ext cx="3840480" cy="201168"/>
          </a:xfrm>
          <a:prstGeom prst="rect">
            <a:avLst/>
          </a:prstGeom>
          <a:noFill/>
        </p:spPr>
        <p:txBody>
          <a:bodyPr wrap="square" lIns="0" tIns="0" rIns="0" bIns="0" anchor="t">
            <a:spAutoFit/>
          </a:bodyPr>
          <a:lstStyle/>
          <a:p>
            <a:pPr algn="l">
              <a:spcBef>
                <a:spcPts val="0"/>
              </a:spcBef>
              <a:spcAft>
                <a:spcPts val="0"/>
              </a:spcAft>
            </a:pPr>
            <a:r>
              <a:rPr sz="1050" b="0" i="0">
                <a:solidFill>
                  <a:srgbClr val="9C9C9C"/>
                </a:solidFill>
                <a:latin typeface="Inter"/>
              </a:rPr>
              <a:t>Infrastructure, development and initial go-to-market.</a:t>
            </a:r>
          </a:p>
        </p:txBody>
      </p:sp>
      <p:sp>
        <p:nvSpPr>
          <p:cNvPr id="25" name="Rectangle 24"/>
          <p:cNvSpPr/>
          <p:nvPr/>
        </p:nvSpPr>
        <p:spPr>
          <a:xfrm>
            <a:off x="777240" y="4982655"/>
            <a:ext cx="10698480" cy="804672"/>
          </a:xfrm>
          <a:prstGeom prst="rect">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51560" y="5293551"/>
            <a:ext cx="1874519" cy="182880"/>
          </a:xfrm>
          <a:prstGeom prst="rect">
            <a:avLst/>
          </a:prstGeom>
          <a:noFill/>
        </p:spPr>
        <p:txBody>
          <a:bodyPr wrap="square" lIns="0" tIns="0" rIns="0" bIns="0" anchor="t">
            <a:spAutoFit/>
          </a:bodyPr>
          <a:lstStyle/>
          <a:p>
            <a:pPr algn="l">
              <a:spcBef>
                <a:spcPts val="0"/>
              </a:spcBef>
              <a:spcAft>
                <a:spcPts val="0"/>
              </a:spcAft>
            </a:pPr>
            <a:r>
              <a:rPr sz="1000" b="1" i="0">
                <a:solidFill>
                  <a:srgbClr val="141414"/>
                </a:solidFill>
                <a:latin typeface="Cascadia Mono"/>
              </a:rPr>
              <a:t>What this unlocks</a:t>
            </a:r>
          </a:p>
        </p:txBody>
      </p:sp>
      <p:sp>
        <p:nvSpPr>
          <p:cNvPr id="27" name="TextBox 26"/>
          <p:cNvSpPr txBox="1"/>
          <p:nvPr/>
        </p:nvSpPr>
        <p:spPr>
          <a:xfrm>
            <a:off x="3291840" y="5261547"/>
            <a:ext cx="1234440" cy="246888"/>
          </a:xfrm>
          <a:prstGeom prst="rect">
            <a:avLst/>
          </a:prstGeom>
          <a:noFill/>
        </p:spPr>
        <p:txBody>
          <a:bodyPr wrap="square" lIns="0" tIns="0" rIns="0" bIns="0" anchor="t">
            <a:spAutoFit/>
          </a:bodyPr>
          <a:lstStyle/>
          <a:p>
            <a:pPr algn="ctr">
              <a:spcBef>
                <a:spcPts val="0"/>
              </a:spcBef>
              <a:spcAft>
                <a:spcPts val="0"/>
              </a:spcAft>
            </a:pPr>
            <a:r>
              <a:rPr sz="1400" b="1" i="0">
                <a:solidFill>
                  <a:srgbClr val="141414"/>
                </a:solidFill>
                <a:latin typeface="Inter"/>
              </a:rPr>
              <a:t>50 waitlist</a:t>
            </a:r>
          </a:p>
        </p:txBody>
      </p:sp>
      <p:sp>
        <p:nvSpPr>
          <p:cNvPr id="28" name="Chevron 27"/>
          <p:cNvSpPr/>
          <p:nvPr/>
        </p:nvSpPr>
        <p:spPr>
          <a:xfrm>
            <a:off x="4663440" y="5247831"/>
            <a:ext cx="228600" cy="274320"/>
          </a:xfrm>
          <a:prstGeom prst="chevron">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983480" y="5261547"/>
            <a:ext cx="1645920" cy="246888"/>
          </a:xfrm>
          <a:prstGeom prst="rect">
            <a:avLst/>
          </a:prstGeom>
          <a:noFill/>
        </p:spPr>
        <p:txBody>
          <a:bodyPr wrap="square" lIns="0" tIns="0" rIns="0" bIns="0" anchor="t">
            <a:spAutoFit/>
          </a:bodyPr>
          <a:lstStyle/>
          <a:p>
            <a:pPr algn="ctr">
              <a:spcBef>
                <a:spcPts val="0"/>
              </a:spcBef>
              <a:spcAft>
                <a:spcPts val="0"/>
              </a:spcAft>
            </a:pPr>
            <a:r>
              <a:rPr sz="1400" b="1" i="0">
                <a:solidFill>
                  <a:srgbClr val="141414"/>
                </a:solidFill>
                <a:latin typeface="Inter"/>
              </a:rPr>
              <a:t>100 active learners</a:t>
            </a:r>
          </a:p>
        </p:txBody>
      </p:sp>
      <p:sp>
        <p:nvSpPr>
          <p:cNvPr id="30" name="Chevron 29"/>
          <p:cNvSpPr/>
          <p:nvPr/>
        </p:nvSpPr>
        <p:spPr>
          <a:xfrm>
            <a:off x="6766560" y="5247831"/>
            <a:ext cx="228600" cy="274320"/>
          </a:xfrm>
          <a:prstGeom prst="chevron">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086600" y="5261547"/>
            <a:ext cx="1508760" cy="246888"/>
          </a:xfrm>
          <a:prstGeom prst="rect">
            <a:avLst/>
          </a:prstGeom>
          <a:noFill/>
        </p:spPr>
        <p:txBody>
          <a:bodyPr wrap="square" lIns="0" tIns="0" rIns="0" bIns="0" anchor="t">
            <a:spAutoFit/>
          </a:bodyPr>
          <a:lstStyle/>
          <a:p>
            <a:pPr algn="ctr">
              <a:spcBef>
                <a:spcPts val="0"/>
              </a:spcBef>
              <a:spcAft>
                <a:spcPts val="0"/>
              </a:spcAft>
            </a:pPr>
            <a:r>
              <a:rPr sz="1400" b="1" i="0">
                <a:solidFill>
                  <a:srgbClr val="141414"/>
                </a:solidFill>
                <a:latin typeface="Inter"/>
              </a:rPr>
              <a:t>first paying users</a:t>
            </a:r>
          </a:p>
        </p:txBody>
      </p:sp>
      <p:sp>
        <p:nvSpPr>
          <p:cNvPr id="32" name="Chevron 31"/>
          <p:cNvSpPr/>
          <p:nvPr/>
        </p:nvSpPr>
        <p:spPr>
          <a:xfrm>
            <a:off x="9098280" y="5247831"/>
            <a:ext cx="228600" cy="274320"/>
          </a:xfrm>
          <a:prstGeom prst="chevron">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418320" y="5261547"/>
            <a:ext cx="1600200" cy="246888"/>
          </a:xfrm>
          <a:prstGeom prst="rect">
            <a:avLst/>
          </a:prstGeom>
          <a:noFill/>
        </p:spPr>
        <p:txBody>
          <a:bodyPr wrap="square" lIns="0" tIns="0" rIns="0" bIns="0" anchor="t">
            <a:spAutoFit/>
          </a:bodyPr>
          <a:lstStyle/>
          <a:p>
            <a:pPr algn="ctr">
              <a:spcBef>
                <a:spcPts val="0"/>
              </a:spcBef>
              <a:spcAft>
                <a:spcPts val="0"/>
              </a:spcAft>
            </a:pPr>
            <a:r>
              <a:rPr sz="1400" b="1" i="0">
                <a:solidFill>
                  <a:srgbClr val="141414"/>
                </a:solidFill>
                <a:latin typeface="Inter"/>
              </a:rPr>
              <a:t>institutional pilots</a:t>
            </a:r>
          </a:p>
        </p:txBody>
      </p:sp>
      <p:cxnSp>
        <p:nvCxnSpPr>
          <p:cNvPr id="34" name="Connector 33"/>
          <p:cNvCxnSpPr/>
          <p:nvPr/>
        </p:nvCxnSpPr>
        <p:spPr>
          <a:xfrm>
            <a:off x="594360" y="6464808"/>
            <a:ext cx="11002975"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94360" y="6574536"/>
            <a:ext cx="3474720" cy="146304"/>
          </a:xfrm>
          <a:prstGeom prst="rect">
            <a:avLst/>
          </a:prstGeom>
          <a:noFill/>
        </p:spPr>
        <p:txBody>
          <a:bodyPr wrap="square" lIns="0" tIns="0" rIns="0" bIns="0" anchor="t">
            <a:spAutoFit/>
          </a:bodyPr>
          <a:lstStyle/>
          <a:p>
            <a:pPr algn="l">
              <a:spcBef>
                <a:spcPts val="0"/>
              </a:spcBef>
              <a:spcAft>
                <a:spcPts val="0"/>
              </a:spcAft>
            </a:pPr>
            <a:r>
              <a:rPr sz="850" b="0" i="0">
                <a:solidFill>
                  <a:srgbClr val="6E6E6E"/>
                </a:solidFill>
                <a:latin typeface="Cascadia Mono"/>
              </a:rPr>
              <a:t>Avenire / learning that remembers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3"/>
          <a:stretch>
            <a:fillRect/>
          </a:stretch>
        </p:blipFill>
        <p:spPr>
          <a:xfrm>
            <a:off x="594360" y="256032"/>
            <a:ext cx="210312" cy="210312"/>
          </a:xfrm>
          <a:prstGeom prst="rect">
            <a:avLst/>
          </a:prstGeom>
        </p:spPr>
      </p:pic>
      <p:sp>
        <p:nvSpPr>
          <p:cNvPr id="4" name="TextBox 3"/>
          <p:cNvSpPr txBox="1"/>
          <p:nvPr/>
        </p:nvSpPr>
        <p:spPr>
          <a:xfrm>
            <a:off x="877824" y="237744"/>
            <a:ext cx="822960" cy="237744"/>
          </a:xfrm>
          <a:prstGeom prst="rect">
            <a:avLst/>
          </a:prstGeom>
          <a:noFill/>
        </p:spPr>
        <p:txBody>
          <a:bodyPr wrap="square" lIns="0" tIns="0" rIns="0" bIns="0" anchor="ctr">
            <a:spAutoFit/>
          </a:bodyPr>
          <a:lstStyle/>
          <a:p>
            <a:pPr algn="l">
              <a:spcBef>
                <a:spcPts val="0"/>
              </a:spcBef>
              <a:spcAft>
                <a:spcPts val="0"/>
              </a:spcAft>
            </a:pPr>
            <a:r>
              <a:rPr sz="1100" b="1" i="0">
                <a:solidFill>
                  <a:srgbClr val="E4E4E4"/>
                </a:solidFill>
                <a:latin typeface="Inter"/>
              </a:rPr>
              <a:t>Avenire</a:t>
            </a:r>
          </a:p>
        </p:txBody>
      </p:sp>
      <p:sp>
        <p:nvSpPr>
          <p:cNvPr id="5" name="TextBox 4"/>
          <p:cNvSpPr txBox="1"/>
          <p:nvPr/>
        </p:nvSpPr>
        <p:spPr>
          <a:xfrm>
            <a:off x="11277295" y="265176"/>
            <a:ext cx="320040" cy="182880"/>
          </a:xfrm>
          <a:prstGeom prst="rect">
            <a:avLst/>
          </a:prstGeom>
          <a:noFill/>
        </p:spPr>
        <p:txBody>
          <a:bodyPr wrap="square" lIns="0" tIns="0" rIns="0" bIns="0" anchor="t">
            <a:spAutoFit/>
          </a:bodyPr>
          <a:lstStyle/>
          <a:p>
            <a:pPr algn="r">
              <a:spcBef>
                <a:spcPts val="0"/>
              </a:spcBef>
              <a:spcAft>
                <a:spcPts val="0"/>
              </a:spcAft>
            </a:pPr>
            <a:r>
              <a:rPr sz="900" b="0" i="0">
                <a:solidFill>
                  <a:srgbClr val="6E6E6E"/>
                </a:solidFill>
                <a:latin typeface="Cascadia Mono"/>
              </a:rPr>
              <a:t>16</a:t>
            </a:r>
          </a:p>
        </p:txBody>
      </p:sp>
      <p:sp>
        <p:nvSpPr>
          <p:cNvPr id="6" name="TextBox 5"/>
          <p:cNvSpPr txBox="1"/>
          <p:nvPr/>
        </p:nvSpPr>
        <p:spPr>
          <a:xfrm>
            <a:off x="594360" y="749808"/>
            <a:ext cx="5303520" cy="201168"/>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LIVE DEMO</a:t>
            </a:r>
          </a:p>
        </p:txBody>
      </p:sp>
      <p:sp>
        <p:nvSpPr>
          <p:cNvPr id="7" name="TextBox 6"/>
          <p:cNvSpPr txBox="1"/>
          <p:nvPr/>
        </p:nvSpPr>
        <p:spPr>
          <a:xfrm>
            <a:off x="594360" y="1005840"/>
            <a:ext cx="10789920" cy="640080"/>
          </a:xfrm>
          <a:prstGeom prst="rect">
            <a:avLst/>
          </a:prstGeom>
          <a:noFill/>
        </p:spPr>
        <p:txBody>
          <a:bodyPr wrap="square" lIns="0" tIns="0" rIns="0" bIns="0" anchor="t">
            <a:spAutoFit/>
          </a:bodyPr>
          <a:lstStyle/>
          <a:p>
            <a:pPr algn="l">
              <a:spcBef>
                <a:spcPts val="0"/>
              </a:spcBef>
              <a:spcAft>
                <a:spcPts val="0"/>
              </a:spcAft>
            </a:pPr>
            <a:r>
              <a:rPr sz="3000" b="1" i="0">
                <a:solidFill>
                  <a:srgbClr val="E4E4E4"/>
                </a:solidFill>
                <a:latin typeface="Inter"/>
              </a:rPr>
              <a:t>The visualization engine.</a:t>
            </a:r>
          </a:p>
        </p:txBody>
      </p:sp>
      <p:sp>
        <p:nvSpPr>
          <p:cNvPr id="8" name="TextBox 7"/>
          <p:cNvSpPr txBox="1"/>
          <p:nvPr/>
        </p:nvSpPr>
        <p:spPr>
          <a:xfrm>
            <a:off x="594360" y="1691640"/>
            <a:ext cx="9692640" cy="384048"/>
          </a:xfrm>
          <a:prstGeom prst="rect">
            <a:avLst/>
          </a:prstGeom>
          <a:noFill/>
        </p:spPr>
        <p:txBody>
          <a:bodyPr wrap="square" lIns="0" tIns="0" rIns="0" bIns="0" anchor="t">
            <a:spAutoFit/>
          </a:bodyPr>
          <a:lstStyle/>
          <a:p>
            <a:pPr algn="l">
              <a:spcBef>
                <a:spcPts val="0"/>
              </a:spcBef>
              <a:spcAft>
                <a:spcPts val="0"/>
              </a:spcAft>
            </a:pPr>
            <a:r>
              <a:rPr sz="1400" b="0" i="0">
                <a:solidFill>
                  <a:srgbClr val="9C9C9C"/>
                </a:solidFill>
                <a:latin typeface="Inter"/>
              </a:rPr>
              <a:t>Avenire turns abstract ideas into things a student can manipulate.</a:t>
            </a:r>
          </a:p>
        </p:txBody>
      </p:sp>
      <p:cxnSp>
        <p:nvCxnSpPr>
          <p:cNvPr id="15" name="Connector 14"/>
          <p:cNvCxnSpPr/>
          <p:nvPr/>
        </p:nvCxnSpPr>
        <p:spPr>
          <a:xfrm>
            <a:off x="594360" y="6464808"/>
            <a:ext cx="11002975"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574536"/>
            <a:ext cx="3474720" cy="146304"/>
          </a:xfrm>
          <a:prstGeom prst="rect">
            <a:avLst/>
          </a:prstGeom>
          <a:noFill/>
        </p:spPr>
        <p:txBody>
          <a:bodyPr wrap="square" lIns="0" tIns="0" rIns="0" bIns="0" anchor="t">
            <a:spAutoFit/>
          </a:bodyPr>
          <a:lstStyle/>
          <a:p>
            <a:pPr algn="l">
              <a:spcBef>
                <a:spcPts val="0"/>
              </a:spcBef>
              <a:spcAft>
                <a:spcPts val="0"/>
              </a:spcAft>
            </a:pPr>
            <a:r>
              <a:rPr sz="850" b="0" i="0">
                <a:solidFill>
                  <a:srgbClr val="6E6E6E"/>
                </a:solidFill>
                <a:latin typeface="Cascadia Mono"/>
              </a:rPr>
              <a:t>Avenire / learning that remembers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venire-logo-full.png"/>
          <p:cNvPicPr>
            <a:picLocks noChangeAspect="1"/>
          </p:cNvPicPr>
          <p:nvPr/>
        </p:nvPicPr>
        <p:blipFill>
          <a:blip r:embed="rId3"/>
          <a:stretch>
            <a:fillRect/>
          </a:stretch>
        </p:blipFill>
        <p:spPr>
          <a:xfrm>
            <a:off x="594360" y="256032"/>
            <a:ext cx="210312" cy="210312"/>
          </a:xfrm>
          <a:prstGeom prst="rect">
            <a:avLst/>
          </a:prstGeom>
        </p:spPr>
      </p:pic>
      <p:sp>
        <p:nvSpPr>
          <p:cNvPr id="4" name="TextBox 3"/>
          <p:cNvSpPr txBox="1"/>
          <p:nvPr/>
        </p:nvSpPr>
        <p:spPr>
          <a:xfrm>
            <a:off x="877824" y="237744"/>
            <a:ext cx="822960" cy="237744"/>
          </a:xfrm>
          <a:prstGeom prst="rect">
            <a:avLst/>
          </a:prstGeom>
          <a:noFill/>
        </p:spPr>
        <p:txBody>
          <a:bodyPr wrap="square" lIns="0" tIns="0" rIns="0" bIns="0" anchor="ctr">
            <a:spAutoFit/>
          </a:bodyPr>
          <a:lstStyle/>
          <a:p>
            <a:pPr algn="l">
              <a:spcBef>
                <a:spcPts val="0"/>
              </a:spcBef>
              <a:spcAft>
                <a:spcPts val="0"/>
              </a:spcAft>
            </a:pPr>
            <a:r>
              <a:rPr sz="1100" b="1" i="0">
                <a:solidFill>
                  <a:srgbClr val="E4E4E4"/>
                </a:solidFill>
                <a:latin typeface="Inter"/>
              </a:rPr>
              <a:t>Avenire</a:t>
            </a:r>
          </a:p>
        </p:txBody>
      </p:sp>
      <p:sp>
        <p:nvSpPr>
          <p:cNvPr id="5" name="TextBox 4"/>
          <p:cNvSpPr txBox="1"/>
          <p:nvPr/>
        </p:nvSpPr>
        <p:spPr>
          <a:xfrm>
            <a:off x="11277295" y="265176"/>
            <a:ext cx="320040" cy="182880"/>
          </a:xfrm>
          <a:prstGeom prst="rect">
            <a:avLst/>
          </a:prstGeom>
          <a:noFill/>
        </p:spPr>
        <p:txBody>
          <a:bodyPr wrap="square" lIns="0" tIns="0" rIns="0" bIns="0" anchor="t">
            <a:spAutoFit/>
          </a:bodyPr>
          <a:lstStyle/>
          <a:p>
            <a:pPr algn="r">
              <a:spcBef>
                <a:spcPts val="0"/>
              </a:spcBef>
              <a:spcAft>
                <a:spcPts val="0"/>
              </a:spcAft>
            </a:pPr>
            <a:r>
              <a:rPr sz="900" b="0" i="0">
                <a:solidFill>
                  <a:srgbClr val="6E6E6E"/>
                </a:solidFill>
                <a:latin typeface="Cascadia Mono"/>
              </a:rPr>
              <a:t>17</a:t>
            </a:r>
          </a:p>
        </p:txBody>
      </p:sp>
      <p:sp>
        <p:nvSpPr>
          <p:cNvPr id="6" name="TextBox 5"/>
          <p:cNvSpPr txBox="1"/>
          <p:nvPr/>
        </p:nvSpPr>
        <p:spPr>
          <a:xfrm>
            <a:off x="594360" y="749808"/>
            <a:ext cx="5303520" cy="201168"/>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APPENDIX A / TECHNICAL ARCHITECTURE</a:t>
            </a:r>
          </a:p>
        </p:txBody>
      </p:sp>
      <p:sp>
        <p:nvSpPr>
          <p:cNvPr id="7" name="TextBox 6"/>
          <p:cNvSpPr txBox="1"/>
          <p:nvPr/>
        </p:nvSpPr>
        <p:spPr>
          <a:xfrm>
            <a:off x="594360" y="1005840"/>
            <a:ext cx="10789920" cy="640080"/>
          </a:xfrm>
          <a:prstGeom prst="rect">
            <a:avLst/>
          </a:prstGeom>
          <a:noFill/>
        </p:spPr>
        <p:txBody>
          <a:bodyPr wrap="square" lIns="0" tIns="0" rIns="0" bIns="0" anchor="t">
            <a:spAutoFit/>
          </a:bodyPr>
          <a:lstStyle/>
          <a:p>
            <a:pPr algn="l">
              <a:spcBef>
                <a:spcPts val="0"/>
              </a:spcBef>
              <a:spcAft>
                <a:spcPts val="0"/>
              </a:spcAft>
            </a:pPr>
            <a:r>
              <a:rPr sz="3000" b="1" i="0">
                <a:solidFill>
                  <a:srgbClr val="E4E4E4"/>
                </a:solidFill>
                <a:latin typeface="Inter"/>
              </a:rPr>
              <a:t>From content to learning action.</a:t>
            </a:r>
          </a:p>
        </p:txBody>
      </p:sp>
      <p:sp>
        <p:nvSpPr>
          <p:cNvPr id="8" name="TextBox 7"/>
          <p:cNvSpPr txBox="1"/>
          <p:nvPr/>
        </p:nvSpPr>
        <p:spPr>
          <a:xfrm>
            <a:off x="594360" y="1691640"/>
            <a:ext cx="9692640" cy="384048"/>
          </a:xfrm>
          <a:prstGeom prst="rect">
            <a:avLst/>
          </a:prstGeom>
          <a:noFill/>
        </p:spPr>
        <p:txBody>
          <a:bodyPr wrap="square" lIns="0" tIns="0" rIns="0" bIns="0" anchor="t">
            <a:spAutoFit/>
          </a:bodyPr>
          <a:lstStyle/>
          <a:p>
            <a:pPr algn="l">
              <a:spcBef>
                <a:spcPts val="0"/>
              </a:spcBef>
              <a:spcAft>
                <a:spcPts val="0"/>
              </a:spcAft>
            </a:pPr>
            <a:r>
              <a:rPr sz="1400" b="0" i="0">
                <a:solidFill>
                  <a:srgbClr val="9C9C9C"/>
                </a:solidFill>
                <a:latin typeface="Inter"/>
              </a:rPr>
              <a:t>The product claim is backed by a concrete, multimodal pipeline.</a:t>
            </a:r>
          </a:p>
        </p:txBody>
      </p:sp>
      <p:sp>
        <p:nvSpPr>
          <p:cNvPr id="9" name="Rectangle 8"/>
          <p:cNvSpPr/>
          <p:nvPr/>
        </p:nvSpPr>
        <p:spPr>
          <a:xfrm>
            <a:off x="502920" y="2743200"/>
            <a:ext cx="1298448" cy="777240"/>
          </a:xfrm>
          <a:prstGeom prst="rect">
            <a:avLst/>
          </a:prstGeom>
          <a:solidFill>
            <a:srgbClr val="1D1D1D"/>
          </a:solidFill>
          <a:ln w="12700">
            <a:solidFill>
              <a:srgbClr val="ABC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12648" y="2953512"/>
            <a:ext cx="1078992" cy="347472"/>
          </a:xfrm>
          <a:prstGeom prst="rect">
            <a:avLst/>
          </a:prstGeom>
          <a:noFill/>
        </p:spPr>
        <p:txBody>
          <a:bodyPr wrap="square" lIns="0" tIns="0" rIns="0" bIns="0" anchor="ctr">
            <a:spAutoFit/>
          </a:bodyPr>
          <a:lstStyle/>
          <a:p>
            <a:pPr algn="ctr">
              <a:spcBef>
                <a:spcPts val="0"/>
              </a:spcBef>
              <a:spcAft>
                <a:spcPts val="0"/>
              </a:spcAft>
            </a:pPr>
            <a:r>
              <a:rPr sz="1100" b="1" i="0">
                <a:solidFill>
                  <a:srgbClr val="E4E4E4"/>
                </a:solidFill>
                <a:latin typeface="Inter"/>
              </a:rPr>
              <a:t>Content</a:t>
            </a:r>
          </a:p>
        </p:txBody>
      </p:sp>
      <p:sp>
        <p:nvSpPr>
          <p:cNvPr id="12" name="Rectangle 11"/>
          <p:cNvSpPr/>
          <p:nvPr/>
        </p:nvSpPr>
        <p:spPr>
          <a:xfrm>
            <a:off x="1938528" y="3474720"/>
            <a:ext cx="1298448" cy="777240"/>
          </a:xfrm>
          <a:prstGeom prst="rect">
            <a:avLst/>
          </a:prstGeom>
          <a:solidFill>
            <a:srgbClr val="1D1D1D"/>
          </a:solidFill>
          <a:ln w="12700">
            <a:solidFill>
              <a:srgbClr val="78C4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048256" y="3685032"/>
            <a:ext cx="1078992" cy="347472"/>
          </a:xfrm>
          <a:prstGeom prst="rect">
            <a:avLst/>
          </a:prstGeom>
          <a:noFill/>
        </p:spPr>
        <p:txBody>
          <a:bodyPr wrap="square" lIns="0" tIns="0" rIns="0" bIns="0" anchor="ctr">
            <a:spAutoFit/>
          </a:bodyPr>
          <a:lstStyle/>
          <a:p>
            <a:pPr algn="ctr">
              <a:spcBef>
                <a:spcPts val="0"/>
              </a:spcBef>
              <a:spcAft>
                <a:spcPts val="0"/>
              </a:spcAft>
            </a:pPr>
            <a:r>
              <a:rPr sz="1100" b="1" i="0">
                <a:solidFill>
                  <a:srgbClr val="E4E4E4"/>
                </a:solidFill>
                <a:latin typeface="Inter"/>
              </a:rPr>
              <a:t>Multimodal
ingestion</a:t>
            </a:r>
          </a:p>
        </p:txBody>
      </p:sp>
      <p:sp>
        <p:nvSpPr>
          <p:cNvPr id="15" name="Rectangle 14"/>
          <p:cNvSpPr/>
          <p:nvPr/>
        </p:nvSpPr>
        <p:spPr>
          <a:xfrm>
            <a:off x="3374135" y="2743200"/>
            <a:ext cx="1298448" cy="777240"/>
          </a:xfrm>
          <a:prstGeom prst="rect">
            <a:avLst/>
          </a:prstGeom>
          <a:solidFill>
            <a:srgbClr val="1D1D1D"/>
          </a:solidFill>
          <a:ln w="12700">
            <a:solidFill>
              <a:srgbClr val="F0A8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83863" y="2953512"/>
            <a:ext cx="1078992" cy="347472"/>
          </a:xfrm>
          <a:prstGeom prst="rect">
            <a:avLst/>
          </a:prstGeom>
          <a:noFill/>
        </p:spPr>
        <p:txBody>
          <a:bodyPr wrap="square" lIns="0" tIns="0" rIns="0" bIns="0" anchor="ctr">
            <a:spAutoFit/>
          </a:bodyPr>
          <a:lstStyle/>
          <a:p>
            <a:pPr algn="ctr">
              <a:spcBef>
                <a:spcPts val="0"/>
              </a:spcBef>
              <a:spcAft>
                <a:spcPts val="0"/>
              </a:spcAft>
            </a:pPr>
            <a:r>
              <a:rPr sz="1100" b="1" i="0">
                <a:solidFill>
                  <a:srgbClr val="E4E4E4"/>
                </a:solidFill>
                <a:latin typeface="Inter"/>
              </a:rPr>
              <a:t>Semantic
understanding</a:t>
            </a:r>
          </a:p>
        </p:txBody>
      </p:sp>
      <p:sp>
        <p:nvSpPr>
          <p:cNvPr id="18" name="Rectangle 17"/>
          <p:cNvSpPr/>
          <p:nvPr/>
        </p:nvSpPr>
        <p:spPr>
          <a:xfrm>
            <a:off x="4809743" y="3474720"/>
            <a:ext cx="1298448" cy="777240"/>
          </a:xfrm>
          <a:prstGeom prst="rect">
            <a:avLst/>
          </a:prstGeom>
          <a:solidFill>
            <a:srgbClr val="1D1D1D"/>
          </a:solidFill>
          <a:ln w="12700">
            <a:solidFill>
              <a:srgbClr val="A99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919471" y="3685032"/>
            <a:ext cx="1078992" cy="347472"/>
          </a:xfrm>
          <a:prstGeom prst="rect">
            <a:avLst/>
          </a:prstGeom>
          <a:noFill/>
        </p:spPr>
        <p:txBody>
          <a:bodyPr wrap="square" lIns="0" tIns="0" rIns="0" bIns="0" anchor="ctr">
            <a:spAutoFit/>
          </a:bodyPr>
          <a:lstStyle/>
          <a:p>
            <a:pPr algn="ctr">
              <a:spcBef>
                <a:spcPts val="0"/>
              </a:spcBef>
              <a:spcAft>
                <a:spcPts val="0"/>
              </a:spcAft>
            </a:pPr>
            <a:r>
              <a:rPr sz="1100" b="1" i="0">
                <a:solidFill>
                  <a:srgbClr val="E4E4E4"/>
                </a:solidFill>
                <a:latin typeface="Inter"/>
              </a:rPr>
              <a:t>Knowledge
representation</a:t>
            </a:r>
          </a:p>
        </p:txBody>
      </p:sp>
      <p:sp>
        <p:nvSpPr>
          <p:cNvPr id="21" name="Rectangle 20"/>
          <p:cNvSpPr/>
          <p:nvPr/>
        </p:nvSpPr>
        <p:spPr>
          <a:xfrm>
            <a:off x="6245351" y="2743200"/>
            <a:ext cx="1298448" cy="777240"/>
          </a:xfrm>
          <a:prstGeom prst="rect">
            <a:avLst/>
          </a:prstGeom>
          <a:solidFill>
            <a:srgbClr val="1D1D1D"/>
          </a:solidFill>
          <a:ln w="12700">
            <a:solidFill>
              <a:srgbClr val="ED84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55079" y="2953512"/>
            <a:ext cx="1078992" cy="347472"/>
          </a:xfrm>
          <a:prstGeom prst="rect">
            <a:avLst/>
          </a:prstGeom>
          <a:noFill/>
        </p:spPr>
        <p:txBody>
          <a:bodyPr wrap="square" lIns="0" tIns="0" rIns="0" bIns="0" anchor="ctr">
            <a:spAutoFit/>
          </a:bodyPr>
          <a:lstStyle/>
          <a:p>
            <a:pPr algn="ctr">
              <a:spcBef>
                <a:spcPts val="0"/>
              </a:spcBef>
              <a:spcAft>
                <a:spcPts val="0"/>
              </a:spcAft>
            </a:pPr>
            <a:r>
              <a:rPr sz="1100" b="1" i="0">
                <a:solidFill>
                  <a:srgbClr val="E4E4E4"/>
                </a:solidFill>
                <a:latin typeface="Inter"/>
              </a:rPr>
              <a:t>Hybrid
retrieval</a:t>
            </a:r>
          </a:p>
        </p:txBody>
      </p:sp>
      <p:sp>
        <p:nvSpPr>
          <p:cNvPr id="24" name="Rectangle 23"/>
          <p:cNvSpPr/>
          <p:nvPr/>
        </p:nvSpPr>
        <p:spPr>
          <a:xfrm>
            <a:off x="7680960" y="3474720"/>
            <a:ext cx="1298448" cy="777240"/>
          </a:xfrm>
          <a:prstGeom prst="rect">
            <a:avLst/>
          </a:prstGeom>
          <a:solidFill>
            <a:srgbClr val="1D1D1D"/>
          </a:solidFill>
          <a:ln w="12700">
            <a:solidFill>
              <a:srgbClr val="FFDC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790688" y="3685032"/>
            <a:ext cx="1078992" cy="347472"/>
          </a:xfrm>
          <a:prstGeom prst="rect">
            <a:avLst/>
          </a:prstGeom>
          <a:noFill/>
        </p:spPr>
        <p:txBody>
          <a:bodyPr wrap="square" lIns="0" tIns="0" rIns="0" bIns="0" anchor="ctr">
            <a:spAutoFit/>
          </a:bodyPr>
          <a:lstStyle/>
          <a:p>
            <a:pPr algn="ctr">
              <a:spcBef>
                <a:spcPts val="0"/>
              </a:spcBef>
              <a:spcAft>
                <a:spcPts val="0"/>
              </a:spcAft>
            </a:pPr>
            <a:r>
              <a:rPr sz="1100" b="1" i="0">
                <a:solidFill>
                  <a:srgbClr val="E4E4E4"/>
                </a:solidFill>
                <a:latin typeface="Inter"/>
              </a:rPr>
              <a:t>Reranking</a:t>
            </a:r>
          </a:p>
        </p:txBody>
      </p:sp>
      <p:sp>
        <p:nvSpPr>
          <p:cNvPr id="27" name="Rectangle 26"/>
          <p:cNvSpPr/>
          <p:nvPr/>
        </p:nvSpPr>
        <p:spPr>
          <a:xfrm>
            <a:off x="9116567" y="2743200"/>
            <a:ext cx="1298448" cy="777240"/>
          </a:xfrm>
          <a:prstGeom prst="rect">
            <a:avLst/>
          </a:prstGeom>
          <a:solidFill>
            <a:srgbClr val="1D1D1D"/>
          </a:solidFill>
          <a:ln w="12700">
            <a:solidFill>
              <a:srgbClr val="78C4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26295" y="2953512"/>
            <a:ext cx="1078992" cy="347472"/>
          </a:xfrm>
          <a:prstGeom prst="rect">
            <a:avLst/>
          </a:prstGeom>
          <a:noFill/>
        </p:spPr>
        <p:txBody>
          <a:bodyPr wrap="square" lIns="0" tIns="0" rIns="0" bIns="0" anchor="ctr">
            <a:spAutoFit/>
          </a:bodyPr>
          <a:lstStyle/>
          <a:p>
            <a:pPr algn="ctr">
              <a:spcBef>
                <a:spcPts val="0"/>
              </a:spcBef>
              <a:spcAft>
                <a:spcPts val="0"/>
              </a:spcAft>
            </a:pPr>
            <a:r>
              <a:rPr sz="1100" b="1" i="0">
                <a:solidFill>
                  <a:srgbClr val="E4E4E4"/>
                </a:solidFill>
                <a:latin typeface="Inter"/>
              </a:rPr>
              <a:t>Reasoning</a:t>
            </a:r>
          </a:p>
        </p:txBody>
      </p:sp>
      <p:sp>
        <p:nvSpPr>
          <p:cNvPr id="30" name="Rectangle 29"/>
          <p:cNvSpPr/>
          <p:nvPr/>
        </p:nvSpPr>
        <p:spPr>
          <a:xfrm>
            <a:off x="10552176" y="3474720"/>
            <a:ext cx="1298448" cy="777240"/>
          </a:xfrm>
          <a:prstGeom prst="rect">
            <a:avLst/>
          </a:prstGeom>
          <a:solidFill>
            <a:srgbClr val="1D1D1D"/>
          </a:solidFill>
          <a:ln w="12700">
            <a:solidFill>
              <a:srgbClr val="ABC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661903" y="3685032"/>
            <a:ext cx="1078992" cy="347472"/>
          </a:xfrm>
          <a:prstGeom prst="rect">
            <a:avLst/>
          </a:prstGeom>
          <a:noFill/>
        </p:spPr>
        <p:txBody>
          <a:bodyPr wrap="square" lIns="0" tIns="0" rIns="0" bIns="0" anchor="ctr">
            <a:spAutoFit/>
          </a:bodyPr>
          <a:lstStyle/>
          <a:p>
            <a:pPr algn="ctr">
              <a:spcBef>
                <a:spcPts val="0"/>
              </a:spcBef>
              <a:spcAft>
                <a:spcPts val="0"/>
              </a:spcAft>
            </a:pPr>
            <a:r>
              <a:rPr sz="1100" b="1" i="0">
                <a:solidFill>
                  <a:srgbClr val="E4E4E4"/>
                </a:solidFill>
                <a:latin typeface="Inter"/>
              </a:rPr>
              <a:t>Learning
action</a:t>
            </a:r>
          </a:p>
        </p:txBody>
      </p:sp>
      <p:sp>
        <p:nvSpPr>
          <p:cNvPr id="32" name="TextBox 31"/>
          <p:cNvSpPr txBox="1"/>
          <p:nvPr/>
        </p:nvSpPr>
        <p:spPr>
          <a:xfrm>
            <a:off x="914400" y="5166360"/>
            <a:ext cx="10332720" cy="457200"/>
          </a:xfrm>
          <a:prstGeom prst="rect">
            <a:avLst/>
          </a:prstGeom>
          <a:noFill/>
        </p:spPr>
        <p:txBody>
          <a:bodyPr wrap="square" lIns="0" tIns="0" rIns="0" bIns="0" anchor="t">
            <a:spAutoFit/>
          </a:bodyPr>
          <a:lstStyle/>
          <a:p>
            <a:pPr algn="ctr">
              <a:spcBef>
                <a:spcPts val="0"/>
              </a:spcBef>
              <a:spcAft>
                <a:spcPts val="0"/>
              </a:spcAft>
            </a:pPr>
            <a:r>
              <a:rPr sz="1800" b="1" i="0">
                <a:solidFill>
                  <a:srgbClr val="ABC4FF"/>
                </a:solidFill>
                <a:latin typeface="Inter"/>
              </a:rPr>
              <a:t>Avenire turns scattered learning material and interactions into persistent, searchable, usable knowledge.</a:t>
            </a:r>
          </a:p>
        </p:txBody>
      </p:sp>
      <p:cxnSp>
        <p:nvCxnSpPr>
          <p:cNvPr id="33" name="Connector 32"/>
          <p:cNvCxnSpPr/>
          <p:nvPr/>
        </p:nvCxnSpPr>
        <p:spPr>
          <a:xfrm>
            <a:off x="594360" y="6464808"/>
            <a:ext cx="11002975"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94360" y="6574536"/>
            <a:ext cx="3474720" cy="146304"/>
          </a:xfrm>
          <a:prstGeom prst="rect">
            <a:avLst/>
          </a:prstGeom>
          <a:noFill/>
        </p:spPr>
        <p:txBody>
          <a:bodyPr wrap="square" lIns="0" tIns="0" rIns="0" bIns="0" anchor="t">
            <a:spAutoFit/>
          </a:bodyPr>
          <a:lstStyle/>
          <a:p>
            <a:pPr algn="l">
              <a:spcBef>
                <a:spcPts val="0"/>
              </a:spcBef>
              <a:spcAft>
                <a:spcPts val="0"/>
              </a:spcAft>
            </a:pPr>
            <a:r>
              <a:rPr sz="850" b="0" i="0">
                <a:solidFill>
                  <a:srgbClr val="6E6E6E"/>
                </a:solidFill>
                <a:latin typeface="Cascadia Mono"/>
              </a:rPr>
              <a:t>Appendix / technical deep dive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venire-logo-full.png"/>
          <p:cNvPicPr>
            <a:picLocks noChangeAspect="1"/>
          </p:cNvPicPr>
          <p:nvPr/>
        </p:nvPicPr>
        <p:blipFill>
          <a:blip r:embed="rId3"/>
          <a:stretch>
            <a:fillRect/>
          </a:stretch>
        </p:blipFill>
        <p:spPr>
          <a:xfrm>
            <a:off x="594360" y="256032"/>
            <a:ext cx="210312" cy="210312"/>
          </a:xfrm>
          <a:prstGeom prst="rect">
            <a:avLst/>
          </a:prstGeom>
        </p:spPr>
      </p:pic>
      <p:sp>
        <p:nvSpPr>
          <p:cNvPr id="4" name="TextBox 3"/>
          <p:cNvSpPr txBox="1"/>
          <p:nvPr/>
        </p:nvSpPr>
        <p:spPr>
          <a:xfrm>
            <a:off x="877824" y="237744"/>
            <a:ext cx="822960" cy="237744"/>
          </a:xfrm>
          <a:prstGeom prst="rect">
            <a:avLst/>
          </a:prstGeom>
          <a:noFill/>
        </p:spPr>
        <p:txBody>
          <a:bodyPr wrap="square" lIns="0" tIns="0" rIns="0" bIns="0" anchor="ctr">
            <a:spAutoFit/>
          </a:bodyPr>
          <a:lstStyle/>
          <a:p>
            <a:pPr algn="l">
              <a:spcBef>
                <a:spcPts val="0"/>
              </a:spcBef>
              <a:spcAft>
                <a:spcPts val="0"/>
              </a:spcAft>
            </a:pPr>
            <a:r>
              <a:rPr sz="1100" b="1" i="0">
                <a:solidFill>
                  <a:srgbClr val="E4E4E4"/>
                </a:solidFill>
                <a:latin typeface="Inter"/>
              </a:rPr>
              <a:t>Avenire</a:t>
            </a:r>
          </a:p>
        </p:txBody>
      </p:sp>
      <p:sp>
        <p:nvSpPr>
          <p:cNvPr id="5" name="TextBox 4"/>
          <p:cNvSpPr txBox="1"/>
          <p:nvPr/>
        </p:nvSpPr>
        <p:spPr>
          <a:xfrm>
            <a:off x="11277295" y="265176"/>
            <a:ext cx="320040" cy="182880"/>
          </a:xfrm>
          <a:prstGeom prst="rect">
            <a:avLst/>
          </a:prstGeom>
          <a:noFill/>
        </p:spPr>
        <p:txBody>
          <a:bodyPr wrap="square" lIns="0" tIns="0" rIns="0" bIns="0" anchor="t">
            <a:spAutoFit/>
          </a:bodyPr>
          <a:lstStyle/>
          <a:p>
            <a:pPr algn="r">
              <a:spcBef>
                <a:spcPts val="0"/>
              </a:spcBef>
              <a:spcAft>
                <a:spcPts val="0"/>
              </a:spcAft>
            </a:pPr>
            <a:r>
              <a:rPr sz="900" b="0" i="0">
                <a:solidFill>
                  <a:srgbClr val="6E6E6E"/>
                </a:solidFill>
                <a:latin typeface="Cascadia Mono"/>
              </a:rPr>
              <a:t>18</a:t>
            </a:r>
          </a:p>
        </p:txBody>
      </p:sp>
      <p:sp>
        <p:nvSpPr>
          <p:cNvPr id="6" name="TextBox 5"/>
          <p:cNvSpPr txBox="1"/>
          <p:nvPr/>
        </p:nvSpPr>
        <p:spPr>
          <a:xfrm>
            <a:off x="594360" y="749808"/>
            <a:ext cx="5303520" cy="201168"/>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APPENDIX B / RETRIEVAL EVALUATION</a:t>
            </a:r>
          </a:p>
        </p:txBody>
      </p:sp>
      <p:sp>
        <p:nvSpPr>
          <p:cNvPr id="7" name="TextBox 6"/>
          <p:cNvSpPr txBox="1"/>
          <p:nvPr/>
        </p:nvSpPr>
        <p:spPr>
          <a:xfrm>
            <a:off x="594360" y="1005840"/>
            <a:ext cx="10789920" cy="640080"/>
          </a:xfrm>
          <a:prstGeom prst="rect">
            <a:avLst/>
          </a:prstGeom>
          <a:noFill/>
        </p:spPr>
        <p:txBody>
          <a:bodyPr wrap="square" lIns="0" tIns="0" rIns="0" bIns="0" anchor="t">
            <a:spAutoFit/>
          </a:bodyPr>
          <a:lstStyle/>
          <a:p>
            <a:pPr algn="l">
              <a:spcBef>
                <a:spcPts val="0"/>
              </a:spcBef>
              <a:spcAft>
                <a:spcPts val="0"/>
              </a:spcAft>
            </a:pPr>
            <a:r>
              <a:rPr sz="3000" b="1" i="0">
                <a:solidFill>
                  <a:srgbClr val="E4E4E4"/>
                </a:solidFill>
                <a:latin typeface="Inter"/>
              </a:rPr>
              <a:t>Evidence across difficult query families.</a:t>
            </a:r>
          </a:p>
        </p:txBody>
      </p:sp>
      <p:sp>
        <p:nvSpPr>
          <p:cNvPr id="8" name="TextBox 7"/>
          <p:cNvSpPr txBox="1"/>
          <p:nvPr/>
        </p:nvSpPr>
        <p:spPr>
          <a:xfrm>
            <a:off x="594360" y="1691640"/>
            <a:ext cx="9692640" cy="384048"/>
          </a:xfrm>
          <a:prstGeom prst="rect">
            <a:avLst/>
          </a:prstGeom>
          <a:noFill/>
        </p:spPr>
        <p:txBody>
          <a:bodyPr wrap="square" lIns="0" tIns="0" rIns="0" bIns="0" anchor="t">
            <a:spAutoFit/>
          </a:bodyPr>
          <a:lstStyle/>
          <a:p>
            <a:pPr algn="l">
              <a:spcBef>
                <a:spcPts val="0"/>
              </a:spcBef>
              <a:spcAft>
                <a:spcPts val="0"/>
              </a:spcAft>
            </a:pPr>
            <a:r>
              <a:rPr sz="1400" b="0" i="0" dirty="0">
                <a:solidFill>
                  <a:srgbClr val="9C9C9C"/>
                </a:solidFill>
                <a:latin typeface="Inter"/>
              </a:rPr>
              <a:t>Small, honest evaluation slices — useful signals, not a claim of solved retrieval.</a:t>
            </a:r>
          </a:p>
        </p:txBody>
      </p:sp>
      <p:sp>
        <p:nvSpPr>
          <p:cNvPr id="9" name="TextBox 8"/>
          <p:cNvSpPr txBox="1"/>
          <p:nvPr/>
        </p:nvSpPr>
        <p:spPr>
          <a:xfrm>
            <a:off x="777240" y="2111604"/>
            <a:ext cx="1828800" cy="182880"/>
          </a:xfrm>
          <a:prstGeom prst="rect">
            <a:avLst/>
          </a:prstGeom>
          <a:noFill/>
        </p:spPr>
        <p:txBody>
          <a:bodyPr wrap="square" lIns="0" tIns="0" rIns="0" bIns="0" anchor="t">
            <a:spAutoFit/>
          </a:bodyPr>
          <a:lstStyle/>
          <a:p>
            <a:pPr algn="l">
              <a:spcBef>
                <a:spcPts val="0"/>
              </a:spcBef>
              <a:spcAft>
                <a:spcPts val="0"/>
              </a:spcAft>
            </a:pPr>
            <a:r>
              <a:rPr sz="900" b="0" i="0">
                <a:solidFill>
                  <a:srgbClr val="6E6E6E"/>
                </a:solidFill>
                <a:latin typeface="Cascadia Mono"/>
              </a:rPr>
              <a:t>FAMILY</a:t>
            </a:r>
          </a:p>
        </p:txBody>
      </p:sp>
      <p:sp>
        <p:nvSpPr>
          <p:cNvPr id="10" name="TextBox 9"/>
          <p:cNvSpPr txBox="1"/>
          <p:nvPr/>
        </p:nvSpPr>
        <p:spPr>
          <a:xfrm>
            <a:off x="3154680" y="2111604"/>
            <a:ext cx="914400" cy="182880"/>
          </a:xfrm>
          <a:prstGeom prst="rect">
            <a:avLst/>
          </a:prstGeom>
          <a:noFill/>
        </p:spPr>
        <p:txBody>
          <a:bodyPr wrap="square" lIns="0" tIns="0" rIns="0" bIns="0" anchor="t">
            <a:spAutoFit/>
          </a:bodyPr>
          <a:lstStyle/>
          <a:p>
            <a:pPr algn="l">
              <a:spcBef>
                <a:spcPts val="0"/>
              </a:spcBef>
              <a:spcAft>
                <a:spcPts val="0"/>
              </a:spcAft>
            </a:pPr>
            <a:r>
              <a:rPr sz="900" b="0" i="0">
                <a:solidFill>
                  <a:srgbClr val="ABC4FF"/>
                </a:solidFill>
                <a:latin typeface="Cascadia Mono"/>
              </a:rPr>
              <a:t>MRR@10</a:t>
            </a:r>
          </a:p>
        </p:txBody>
      </p:sp>
      <p:sp>
        <p:nvSpPr>
          <p:cNvPr id="11" name="TextBox 10"/>
          <p:cNvSpPr txBox="1"/>
          <p:nvPr/>
        </p:nvSpPr>
        <p:spPr>
          <a:xfrm>
            <a:off x="6537960" y="2111604"/>
            <a:ext cx="2468880" cy="182880"/>
          </a:xfrm>
          <a:prstGeom prst="rect">
            <a:avLst/>
          </a:prstGeom>
          <a:noFill/>
        </p:spPr>
        <p:txBody>
          <a:bodyPr wrap="square" lIns="0" tIns="0" rIns="0" bIns="0" anchor="t">
            <a:spAutoFit/>
          </a:bodyPr>
          <a:lstStyle/>
          <a:p>
            <a:pPr algn="l">
              <a:spcBef>
                <a:spcPts val="0"/>
              </a:spcBef>
              <a:spcAft>
                <a:spcPts val="0"/>
              </a:spcAft>
            </a:pPr>
            <a:r>
              <a:rPr sz="900" b="0" i="0">
                <a:solidFill>
                  <a:srgbClr val="78C4D5"/>
                </a:solidFill>
                <a:latin typeface="Cascadia Mono"/>
              </a:rPr>
              <a:t>ALL REQUIRED EVIDENCE @10</a:t>
            </a:r>
          </a:p>
        </p:txBody>
      </p:sp>
      <p:sp>
        <p:nvSpPr>
          <p:cNvPr id="12" name="TextBox 11"/>
          <p:cNvSpPr txBox="1"/>
          <p:nvPr/>
        </p:nvSpPr>
        <p:spPr>
          <a:xfrm>
            <a:off x="777240" y="2431644"/>
            <a:ext cx="1828800" cy="201168"/>
          </a:xfrm>
          <a:prstGeom prst="rect">
            <a:avLst/>
          </a:prstGeom>
          <a:noFill/>
        </p:spPr>
        <p:txBody>
          <a:bodyPr wrap="square" lIns="0" tIns="0" rIns="0" bIns="0" anchor="t">
            <a:spAutoFit/>
          </a:bodyPr>
          <a:lstStyle/>
          <a:p>
            <a:pPr algn="l">
              <a:spcBef>
                <a:spcPts val="0"/>
              </a:spcBef>
              <a:spcAft>
                <a:spcPts val="0"/>
              </a:spcAft>
            </a:pPr>
            <a:r>
              <a:rPr sz="1100" b="1" i="0">
                <a:solidFill>
                  <a:srgbClr val="E4E4E4"/>
                </a:solidFill>
                <a:latin typeface="Inter"/>
              </a:rPr>
              <a:t>Cross-file</a:t>
            </a:r>
          </a:p>
        </p:txBody>
      </p:sp>
      <p:sp>
        <p:nvSpPr>
          <p:cNvPr id="13" name="Rounded Rectangle 12"/>
          <p:cNvSpPr/>
          <p:nvPr/>
        </p:nvSpPr>
        <p:spPr>
          <a:xfrm>
            <a:off x="3154680" y="2468220"/>
            <a:ext cx="2743200" cy="137160"/>
          </a:xfrm>
          <a:prstGeom prst="round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3154680" y="2468220"/>
            <a:ext cx="1665122" cy="137160"/>
          </a:xfrm>
          <a:prstGeom prst="roundRect">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537960" y="2468220"/>
            <a:ext cx="2743200" cy="137160"/>
          </a:xfrm>
          <a:prstGeom prst="round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537960" y="2468220"/>
            <a:ext cx="1371600" cy="137160"/>
          </a:xfrm>
          <a:prstGeom prst="roundRect">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464040" y="2422500"/>
            <a:ext cx="1234440" cy="182880"/>
          </a:xfrm>
          <a:prstGeom prst="rect">
            <a:avLst/>
          </a:prstGeom>
          <a:noFill/>
        </p:spPr>
        <p:txBody>
          <a:bodyPr wrap="square" lIns="0" tIns="0" rIns="0" bIns="0" anchor="t">
            <a:spAutoFit/>
          </a:bodyPr>
          <a:lstStyle/>
          <a:p>
            <a:pPr algn="r">
              <a:spcBef>
                <a:spcPts val="0"/>
              </a:spcBef>
              <a:spcAft>
                <a:spcPts val="0"/>
              </a:spcAft>
            </a:pPr>
            <a:r>
              <a:rPr sz="900" b="0" i="0">
                <a:solidFill>
                  <a:srgbClr val="ABC4FF"/>
                </a:solidFill>
                <a:latin typeface="Cascadia Mono"/>
              </a:rPr>
              <a:t>MRR 60.7%</a:t>
            </a:r>
          </a:p>
        </p:txBody>
      </p:sp>
      <p:sp>
        <p:nvSpPr>
          <p:cNvPr id="18" name="TextBox 17"/>
          <p:cNvSpPr txBox="1"/>
          <p:nvPr/>
        </p:nvSpPr>
        <p:spPr>
          <a:xfrm>
            <a:off x="9464040" y="2614524"/>
            <a:ext cx="1234440" cy="182880"/>
          </a:xfrm>
          <a:prstGeom prst="rect">
            <a:avLst/>
          </a:prstGeom>
          <a:noFill/>
        </p:spPr>
        <p:txBody>
          <a:bodyPr wrap="square" lIns="0" tIns="0" rIns="0" bIns="0" anchor="t">
            <a:spAutoFit/>
          </a:bodyPr>
          <a:lstStyle/>
          <a:p>
            <a:pPr algn="r">
              <a:spcBef>
                <a:spcPts val="0"/>
              </a:spcBef>
              <a:spcAft>
                <a:spcPts val="0"/>
              </a:spcAft>
            </a:pPr>
            <a:r>
              <a:rPr sz="850" b="0" i="0">
                <a:solidFill>
                  <a:srgbClr val="78C4D5"/>
                </a:solidFill>
                <a:latin typeface="Cascadia Mono"/>
              </a:rPr>
              <a:t>evidence 50.0%</a:t>
            </a:r>
          </a:p>
        </p:txBody>
      </p:sp>
      <p:sp>
        <p:nvSpPr>
          <p:cNvPr id="19" name="TextBox 18"/>
          <p:cNvSpPr txBox="1"/>
          <p:nvPr/>
        </p:nvSpPr>
        <p:spPr>
          <a:xfrm>
            <a:off x="777240" y="2943708"/>
            <a:ext cx="1828800" cy="201168"/>
          </a:xfrm>
          <a:prstGeom prst="rect">
            <a:avLst/>
          </a:prstGeom>
          <a:noFill/>
        </p:spPr>
        <p:txBody>
          <a:bodyPr wrap="square" lIns="0" tIns="0" rIns="0" bIns="0" anchor="t">
            <a:spAutoFit/>
          </a:bodyPr>
          <a:lstStyle/>
          <a:p>
            <a:pPr algn="l">
              <a:spcBef>
                <a:spcPts val="0"/>
              </a:spcBef>
              <a:spcAft>
                <a:spcPts val="0"/>
              </a:spcAft>
            </a:pPr>
            <a:r>
              <a:rPr sz="1100" b="1" i="0">
                <a:solidFill>
                  <a:srgbClr val="E4E4E4"/>
                </a:solidFill>
                <a:latin typeface="Inter"/>
              </a:rPr>
              <a:t>Multi-hop</a:t>
            </a:r>
          </a:p>
        </p:txBody>
      </p:sp>
      <p:sp>
        <p:nvSpPr>
          <p:cNvPr id="20" name="Rounded Rectangle 19"/>
          <p:cNvSpPr/>
          <p:nvPr/>
        </p:nvSpPr>
        <p:spPr>
          <a:xfrm>
            <a:off x="3154680" y="2980284"/>
            <a:ext cx="2743200" cy="137160"/>
          </a:xfrm>
          <a:prstGeom prst="round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3154680" y="2980284"/>
            <a:ext cx="1623974" cy="137160"/>
          </a:xfrm>
          <a:prstGeom prst="roundRect">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537960" y="2980284"/>
            <a:ext cx="2743200" cy="137160"/>
          </a:xfrm>
          <a:prstGeom prst="round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537960" y="2980284"/>
            <a:ext cx="1645919" cy="137160"/>
          </a:xfrm>
          <a:prstGeom prst="roundRect">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464040" y="2934564"/>
            <a:ext cx="1234440" cy="182880"/>
          </a:xfrm>
          <a:prstGeom prst="rect">
            <a:avLst/>
          </a:prstGeom>
          <a:noFill/>
        </p:spPr>
        <p:txBody>
          <a:bodyPr wrap="square" lIns="0" tIns="0" rIns="0" bIns="0" anchor="t">
            <a:spAutoFit/>
          </a:bodyPr>
          <a:lstStyle/>
          <a:p>
            <a:pPr algn="r">
              <a:spcBef>
                <a:spcPts val="0"/>
              </a:spcBef>
              <a:spcAft>
                <a:spcPts val="0"/>
              </a:spcAft>
            </a:pPr>
            <a:r>
              <a:rPr sz="900" b="0" i="0">
                <a:solidFill>
                  <a:srgbClr val="ABC4FF"/>
                </a:solidFill>
                <a:latin typeface="Cascadia Mono"/>
              </a:rPr>
              <a:t>MRR 59.2%</a:t>
            </a:r>
          </a:p>
        </p:txBody>
      </p:sp>
      <p:sp>
        <p:nvSpPr>
          <p:cNvPr id="25" name="TextBox 24"/>
          <p:cNvSpPr txBox="1"/>
          <p:nvPr/>
        </p:nvSpPr>
        <p:spPr>
          <a:xfrm>
            <a:off x="9464040" y="3126588"/>
            <a:ext cx="1234440" cy="182880"/>
          </a:xfrm>
          <a:prstGeom prst="rect">
            <a:avLst/>
          </a:prstGeom>
          <a:noFill/>
        </p:spPr>
        <p:txBody>
          <a:bodyPr wrap="square" lIns="0" tIns="0" rIns="0" bIns="0" anchor="t">
            <a:spAutoFit/>
          </a:bodyPr>
          <a:lstStyle/>
          <a:p>
            <a:pPr algn="r">
              <a:spcBef>
                <a:spcPts val="0"/>
              </a:spcBef>
              <a:spcAft>
                <a:spcPts val="0"/>
              </a:spcAft>
            </a:pPr>
            <a:r>
              <a:rPr sz="850" b="0" i="0">
                <a:solidFill>
                  <a:srgbClr val="78C4D5"/>
                </a:solidFill>
                <a:latin typeface="Cascadia Mono"/>
              </a:rPr>
              <a:t>evidence 60.0%</a:t>
            </a:r>
          </a:p>
        </p:txBody>
      </p:sp>
      <p:sp>
        <p:nvSpPr>
          <p:cNvPr id="26" name="TextBox 25"/>
          <p:cNvSpPr txBox="1"/>
          <p:nvPr/>
        </p:nvSpPr>
        <p:spPr>
          <a:xfrm>
            <a:off x="777240" y="3455772"/>
            <a:ext cx="1828800" cy="201168"/>
          </a:xfrm>
          <a:prstGeom prst="rect">
            <a:avLst/>
          </a:prstGeom>
          <a:noFill/>
        </p:spPr>
        <p:txBody>
          <a:bodyPr wrap="square" lIns="0" tIns="0" rIns="0" bIns="0" anchor="t">
            <a:spAutoFit/>
          </a:bodyPr>
          <a:lstStyle/>
          <a:p>
            <a:pPr algn="l">
              <a:spcBef>
                <a:spcPts val="0"/>
              </a:spcBef>
              <a:spcAft>
                <a:spcPts val="0"/>
              </a:spcAft>
            </a:pPr>
            <a:r>
              <a:rPr sz="1100" b="1" i="0">
                <a:solidFill>
                  <a:srgbClr val="E4E4E4"/>
                </a:solidFill>
                <a:latin typeface="Inter"/>
              </a:rPr>
              <a:t>Formula / chart</a:t>
            </a:r>
          </a:p>
        </p:txBody>
      </p:sp>
      <p:sp>
        <p:nvSpPr>
          <p:cNvPr id="27" name="Rounded Rectangle 26"/>
          <p:cNvSpPr/>
          <p:nvPr/>
        </p:nvSpPr>
        <p:spPr>
          <a:xfrm>
            <a:off x="3154680" y="3492348"/>
            <a:ext cx="2743200" cy="137160"/>
          </a:xfrm>
          <a:prstGeom prst="round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3154680" y="3492348"/>
            <a:ext cx="1410004" cy="137160"/>
          </a:xfrm>
          <a:prstGeom prst="roundRect">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6537960" y="3492348"/>
            <a:ext cx="2743200" cy="137160"/>
          </a:xfrm>
          <a:prstGeom prst="round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6537960" y="3492348"/>
            <a:ext cx="1920239" cy="137160"/>
          </a:xfrm>
          <a:prstGeom prst="roundRect">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464040" y="3446628"/>
            <a:ext cx="1234440" cy="182880"/>
          </a:xfrm>
          <a:prstGeom prst="rect">
            <a:avLst/>
          </a:prstGeom>
          <a:noFill/>
        </p:spPr>
        <p:txBody>
          <a:bodyPr wrap="square" lIns="0" tIns="0" rIns="0" bIns="0" anchor="t">
            <a:spAutoFit/>
          </a:bodyPr>
          <a:lstStyle/>
          <a:p>
            <a:pPr algn="r">
              <a:spcBef>
                <a:spcPts val="0"/>
              </a:spcBef>
              <a:spcAft>
                <a:spcPts val="0"/>
              </a:spcAft>
            </a:pPr>
            <a:r>
              <a:rPr sz="900" b="0" i="0">
                <a:solidFill>
                  <a:srgbClr val="ABC4FF"/>
                </a:solidFill>
                <a:latin typeface="Cascadia Mono"/>
              </a:rPr>
              <a:t>MRR 51.4%</a:t>
            </a:r>
          </a:p>
        </p:txBody>
      </p:sp>
      <p:sp>
        <p:nvSpPr>
          <p:cNvPr id="32" name="TextBox 31"/>
          <p:cNvSpPr txBox="1"/>
          <p:nvPr/>
        </p:nvSpPr>
        <p:spPr>
          <a:xfrm>
            <a:off x="9464040" y="3638652"/>
            <a:ext cx="1234440" cy="182880"/>
          </a:xfrm>
          <a:prstGeom prst="rect">
            <a:avLst/>
          </a:prstGeom>
          <a:noFill/>
        </p:spPr>
        <p:txBody>
          <a:bodyPr wrap="square" lIns="0" tIns="0" rIns="0" bIns="0" anchor="t">
            <a:spAutoFit/>
          </a:bodyPr>
          <a:lstStyle/>
          <a:p>
            <a:pPr algn="r">
              <a:spcBef>
                <a:spcPts val="0"/>
              </a:spcBef>
              <a:spcAft>
                <a:spcPts val="0"/>
              </a:spcAft>
            </a:pPr>
            <a:r>
              <a:rPr sz="850" b="0" i="0">
                <a:solidFill>
                  <a:srgbClr val="78C4D5"/>
                </a:solidFill>
                <a:latin typeface="Cascadia Mono"/>
              </a:rPr>
              <a:t>evidence 70.0%</a:t>
            </a:r>
          </a:p>
        </p:txBody>
      </p:sp>
      <p:sp>
        <p:nvSpPr>
          <p:cNvPr id="33" name="TextBox 32"/>
          <p:cNvSpPr txBox="1"/>
          <p:nvPr/>
        </p:nvSpPr>
        <p:spPr>
          <a:xfrm>
            <a:off x="777240" y="3967836"/>
            <a:ext cx="1828800" cy="201168"/>
          </a:xfrm>
          <a:prstGeom prst="rect">
            <a:avLst/>
          </a:prstGeom>
          <a:noFill/>
        </p:spPr>
        <p:txBody>
          <a:bodyPr wrap="square" lIns="0" tIns="0" rIns="0" bIns="0" anchor="t">
            <a:spAutoFit/>
          </a:bodyPr>
          <a:lstStyle/>
          <a:p>
            <a:pPr algn="l">
              <a:spcBef>
                <a:spcPts val="0"/>
              </a:spcBef>
              <a:spcAft>
                <a:spcPts val="0"/>
              </a:spcAft>
            </a:pPr>
            <a:r>
              <a:rPr sz="1100" b="1" i="0">
                <a:solidFill>
                  <a:srgbClr val="E4E4E4"/>
                </a:solidFill>
                <a:latin typeface="Inter"/>
              </a:rPr>
              <a:t>Timestamp</a:t>
            </a:r>
          </a:p>
        </p:txBody>
      </p:sp>
      <p:sp>
        <p:nvSpPr>
          <p:cNvPr id="34" name="Rounded Rectangle 33"/>
          <p:cNvSpPr/>
          <p:nvPr/>
        </p:nvSpPr>
        <p:spPr>
          <a:xfrm>
            <a:off x="3154680" y="4004412"/>
            <a:ext cx="2743200" cy="137160"/>
          </a:xfrm>
          <a:prstGeom prst="round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3154680" y="4004412"/>
            <a:ext cx="1744675" cy="137160"/>
          </a:xfrm>
          <a:prstGeom prst="roundRect">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6537960" y="4004412"/>
            <a:ext cx="2743200" cy="137160"/>
          </a:xfrm>
          <a:prstGeom prst="round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6537960" y="4004412"/>
            <a:ext cx="1744675" cy="137160"/>
          </a:xfrm>
          <a:prstGeom prst="roundRect">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464040" y="3958692"/>
            <a:ext cx="1234440" cy="182880"/>
          </a:xfrm>
          <a:prstGeom prst="rect">
            <a:avLst/>
          </a:prstGeom>
          <a:noFill/>
        </p:spPr>
        <p:txBody>
          <a:bodyPr wrap="square" lIns="0" tIns="0" rIns="0" bIns="0" anchor="t">
            <a:spAutoFit/>
          </a:bodyPr>
          <a:lstStyle/>
          <a:p>
            <a:pPr algn="r">
              <a:spcBef>
                <a:spcPts val="0"/>
              </a:spcBef>
              <a:spcAft>
                <a:spcPts val="0"/>
              </a:spcAft>
            </a:pPr>
            <a:r>
              <a:rPr sz="900" b="0" i="0">
                <a:solidFill>
                  <a:srgbClr val="ABC4FF"/>
                </a:solidFill>
                <a:latin typeface="Cascadia Mono"/>
              </a:rPr>
              <a:t>MRR 63.6%</a:t>
            </a:r>
          </a:p>
        </p:txBody>
      </p:sp>
      <p:sp>
        <p:nvSpPr>
          <p:cNvPr id="39" name="TextBox 38"/>
          <p:cNvSpPr txBox="1"/>
          <p:nvPr/>
        </p:nvSpPr>
        <p:spPr>
          <a:xfrm>
            <a:off x="9464040" y="4150716"/>
            <a:ext cx="1234440" cy="182880"/>
          </a:xfrm>
          <a:prstGeom prst="rect">
            <a:avLst/>
          </a:prstGeom>
          <a:noFill/>
        </p:spPr>
        <p:txBody>
          <a:bodyPr wrap="square" lIns="0" tIns="0" rIns="0" bIns="0" anchor="t">
            <a:spAutoFit/>
          </a:bodyPr>
          <a:lstStyle/>
          <a:p>
            <a:pPr algn="r">
              <a:spcBef>
                <a:spcPts val="0"/>
              </a:spcBef>
              <a:spcAft>
                <a:spcPts val="0"/>
              </a:spcAft>
            </a:pPr>
            <a:r>
              <a:rPr sz="850" b="0" i="0">
                <a:solidFill>
                  <a:srgbClr val="78C4D5"/>
                </a:solidFill>
                <a:latin typeface="Cascadia Mono"/>
              </a:rPr>
              <a:t>evidence 63.6%</a:t>
            </a:r>
          </a:p>
        </p:txBody>
      </p:sp>
      <p:sp>
        <p:nvSpPr>
          <p:cNvPr id="40" name="TextBox 39"/>
          <p:cNvSpPr txBox="1"/>
          <p:nvPr/>
        </p:nvSpPr>
        <p:spPr>
          <a:xfrm>
            <a:off x="777240" y="4479900"/>
            <a:ext cx="1828800" cy="201168"/>
          </a:xfrm>
          <a:prstGeom prst="rect">
            <a:avLst/>
          </a:prstGeom>
          <a:noFill/>
        </p:spPr>
        <p:txBody>
          <a:bodyPr wrap="square" lIns="0" tIns="0" rIns="0" bIns="0" anchor="t">
            <a:spAutoFit/>
          </a:bodyPr>
          <a:lstStyle/>
          <a:p>
            <a:pPr algn="l">
              <a:spcBef>
                <a:spcPts val="0"/>
              </a:spcBef>
              <a:spcAft>
                <a:spcPts val="0"/>
              </a:spcAft>
            </a:pPr>
            <a:r>
              <a:rPr sz="1100" b="1" i="0">
                <a:solidFill>
                  <a:srgbClr val="E4E4E4"/>
                </a:solidFill>
                <a:latin typeface="Inter"/>
              </a:rPr>
              <a:t>Paraphrase</a:t>
            </a:r>
          </a:p>
        </p:txBody>
      </p:sp>
      <p:sp>
        <p:nvSpPr>
          <p:cNvPr id="41" name="Rounded Rectangle 40"/>
          <p:cNvSpPr/>
          <p:nvPr/>
        </p:nvSpPr>
        <p:spPr>
          <a:xfrm>
            <a:off x="3154680" y="4516476"/>
            <a:ext cx="2743200" cy="137160"/>
          </a:xfrm>
          <a:prstGeom prst="round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3154680" y="4516476"/>
            <a:ext cx="2263139" cy="137160"/>
          </a:xfrm>
          <a:prstGeom prst="roundRect">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6537960" y="4516476"/>
            <a:ext cx="2743200" cy="137160"/>
          </a:xfrm>
          <a:prstGeom prst="round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6537960" y="4516476"/>
            <a:ext cx="2468880" cy="137160"/>
          </a:xfrm>
          <a:prstGeom prst="roundRect">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464040" y="4470756"/>
            <a:ext cx="1234440" cy="182880"/>
          </a:xfrm>
          <a:prstGeom prst="rect">
            <a:avLst/>
          </a:prstGeom>
          <a:noFill/>
        </p:spPr>
        <p:txBody>
          <a:bodyPr wrap="square" lIns="0" tIns="0" rIns="0" bIns="0" anchor="t">
            <a:spAutoFit/>
          </a:bodyPr>
          <a:lstStyle/>
          <a:p>
            <a:pPr algn="r">
              <a:spcBef>
                <a:spcPts val="0"/>
              </a:spcBef>
              <a:spcAft>
                <a:spcPts val="0"/>
              </a:spcAft>
            </a:pPr>
            <a:r>
              <a:rPr sz="900" b="0" i="0">
                <a:solidFill>
                  <a:srgbClr val="ABC4FF"/>
                </a:solidFill>
                <a:latin typeface="Cascadia Mono"/>
              </a:rPr>
              <a:t>MRR 82.5%</a:t>
            </a:r>
          </a:p>
        </p:txBody>
      </p:sp>
      <p:sp>
        <p:nvSpPr>
          <p:cNvPr id="46" name="TextBox 45"/>
          <p:cNvSpPr txBox="1"/>
          <p:nvPr/>
        </p:nvSpPr>
        <p:spPr>
          <a:xfrm>
            <a:off x="9464040" y="4662780"/>
            <a:ext cx="1234440" cy="182880"/>
          </a:xfrm>
          <a:prstGeom prst="rect">
            <a:avLst/>
          </a:prstGeom>
          <a:noFill/>
        </p:spPr>
        <p:txBody>
          <a:bodyPr wrap="square" lIns="0" tIns="0" rIns="0" bIns="0" anchor="t">
            <a:spAutoFit/>
          </a:bodyPr>
          <a:lstStyle/>
          <a:p>
            <a:pPr algn="r">
              <a:spcBef>
                <a:spcPts val="0"/>
              </a:spcBef>
              <a:spcAft>
                <a:spcPts val="0"/>
              </a:spcAft>
            </a:pPr>
            <a:r>
              <a:rPr sz="850" b="0" i="0">
                <a:solidFill>
                  <a:srgbClr val="78C4D5"/>
                </a:solidFill>
                <a:latin typeface="Cascadia Mono"/>
              </a:rPr>
              <a:t>evidence 90.0%</a:t>
            </a:r>
          </a:p>
        </p:txBody>
      </p:sp>
      <p:sp>
        <p:nvSpPr>
          <p:cNvPr id="47" name="TextBox 46"/>
          <p:cNvSpPr txBox="1"/>
          <p:nvPr/>
        </p:nvSpPr>
        <p:spPr>
          <a:xfrm>
            <a:off x="777240" y="4991964"/>
            <a:ext cx="1828800" cy="201168"/>
          </a:xfrm>
          <a:prstGeom prst="rect">
            <a:avLst/>
          </a:prstGeom>
          <a:noFill/>
        </p:spPr>
        <p:txBody>
          <a:bodyPr wrap="square" lIns="0" tIns="0" rIns="0" bIns="0" anchor="t">
            <a:spAutoFit/>
          </a:bodyPr>
          <a:lstStyle/>
          <a:p>
            <a:pPr algn="l">
              <a:spcBef>
                <a:spcPts val="0"/>
              </a:spcBef>
              <a:spcAft>
                <a:spcPts val="0"/>
              </a:spcAft>
            </a:pPr>
            <a:r>
              <a:rPr sz="1100" b="1" i="0">
                <a:solidFill>
                  <a:srgbClr val="E4E4E4"/>
                </a:solidFill>
                <a:latin typeface="Inter"/>
              </a:rPr>
              <a:t>Unanswerable</a:t>
            </a:r>
          </a:p>
        </p:txBody>
      </p:sp>
      <p:sp>
        <p:nvSpPr>
          <p:cNvPr id="48" name="Rounded Rectangle 47"/>
          <p:cNvSpPr/>
          <p:nvPr/>
        </p:nvSpPr>
        <p:spPr>
          <a:xfrm>
            <a:off x="3154680" y="5028540"/>
            <a:ext cx="2743200" cy="137160"/>
          </a:xfrm>
          <a:prstGeom prst="round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3154680" y="5028540"/>
            <a:ext cx="2194560" cy="137160"/>
          </a:xfrm>
          <a:prstGeom prst="roundRect">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ounded Rectangle 49"/>
          <p:cNvSpPr/>
          <p:nvPr/>
        </p:nvSpPr>
        <p:spPr>
          <a:xfrm>
            <a:off x="6537960" y="5028540"/>
            <a:ext cx="2743200" cy="137160"/>
          </a:xfrm>
          <a:prstGeom prst="round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6537960" y="5028540"/>
            <a:ext cx="2194560" cy="137160"/>
          </a:xfrm>
          <a:prstGeom prst="roundRect">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464040" y="4982820"/>
            <a:ext cx="1234440" cy="182880"/>
          </a:xfrm>
          <a:prstGeom prst="rect">
            <a:avLst/>
          </a:prstGeom>
          <a:noFill/>
        </p:spPr>
        <p:txBody>
          <a:bodyPr wrap="square" lIns="0" tIns="0" rIns="0" bIns="0" anchor="t">
            <a:spAutoFit/>
          </a:bodyPr>
          <a:lstStyle/>
          <a:p>
            <a:pPr algn="r">
              <a:spcBef>
                <a:spcPts val="0"/>
              </a:spcBef>
              <a:spcAft>
                <a:spcPts val="0"/>
              </a:spcAft>
            </a:pPr>
            <a:r>
              <a:rPr sz="900" b="0" i="0">
                <a:solidFill>
                  <a:srgbClr val="ABC4FF"/>
                </a:solidFill>
                <a:latin typeface="Cascadia Mono"/>
              </a:rPr>
              <a:t>precision 80.0%</a:t>
            </a:r>
          </a:p>
        </p:txBody>
      </p:sp>
      <p:sp>
        <p:nvSpPr>
          <p:cNvPr id="53" name="TextBox 52"/>
          <p:cNvSpPr txBox="1"/>
          <p:nvPr/>
        </p:nvSpPr>
        <p:spPr>
          <a:xfrm>
            <a:off x="9464040" y="5174844"/>
            <a:ext cx="1234440" cy="182880"/>
          </a:xfrm>
          <a:prstGeom prst="rect">
            <a:avLst/>
          </a:prstGeom>
          <a:noFill/>
        </p:spPr>
        <p:txBody>
          <a:bodyPr wrap="square" lIns="0" tIns="0" rIns="0" bIns="0" anchor="t">
            <a:spAutoFit/>
          </a:bodyPr>
          <a:lstStyle/>
          <a:p>
            <a:pPr algn="r">
              <a:spcBef>
                <a:spcPts val="0"/>
              </a:spcBef>
              <a:spcAft>
                <a:spcPts val="0"/>
              </a:spcAft>
            </a:pPr>
            <a:r>
              <a:rPr sz="850" b="0" i="0">
                <a:solidFill>
                  <a:srgbClr val="78C4D5"/>
                </a:solidFill>
                <a:latin typeface="Cascadia Mono"/>
              </a:rPr>
              <a:t>false-positive rate</a:t>
            </a:r>
          </a:p>
        </p:txBody>
      </p:sp>
      <p:sp>
        <p:nvSpPr>
          <p:cNvPr id="54" name="Rectangle 53"/>
          <p:cNvSpPr/>
          <p:nvPr/>
        </p:nvSpPr>
        <p:spPr>
          <a:xfrm>
            <a:off x="777240" y="5696052"/>
            <a:ext cx="10698480" cy="512064"/>
          </a:xfrm>
          <a:prstGeom prst="rect">
            <a:avLst/>
          </a:prstGeom>
          <a:solidFill>
            <a:srgbClr val="1D1D1D"/>
          </a:solidFill>
          <a:ln w="12700">
            <a:solidFill>
              <a:srgbClr val="34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005840" y="5860644"/>
            <a:ext cx="10241280" cy="164592"/>
          </a:xfrm>
          <a:prstGeom prst="rect">
            <a:avLst/>
          </a:prstGeom>
          <a:noFill/>
        </p:spPr>
        <p:txBody>
          <a:bodyPr wrap="square" lIns="0" tIns="0" rIns="0" bIns="0" anchor="t">
            <a:spAutoFit/>
          </a:bodyPr>
          <a:lstStyle/>
          <a:p>
            <a:pPr algn="ctr">
              <a:spcBef>
                <a:spcPts val="0"/>
              </a:spcBef>
              <a:spcAft>
                <a:spcPts val="0"/>
              </a:spcAft>
            </a:pPr>
            <a:r>
              <a:rPr sz="1100" b="0" i="0">
                <a:solidFill>
                  <a:srgbClr val="9C9C9C"/>
                </a:solidFill>
                <a:latin typeface="Inter"/>
              </a:rPr>
              <a:t>The hard slices are visible: cross-file and multi-hop are the next engineering frontier.</a:t>
            </a:r>
          </a:p>
        </p:txBody>
      </p:sp>
      <p:cxnSp>
        <p:nvCxnSpPr>
          <p:cNvPr id="56" name="Connector 55"/>
          <p:cNvCxnSpPr/>
          <p:nvPr/>
        </p:nvCxnSpPr>
        <p:spPr>
          <a:xfrm>
            <a:off x="594360" y="6502515"/>
            <a:ext cx="11002975"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594360" y="6574536"/>
            <a:ext cx="3474720" cy="146304"/>
          </a:xfrm>
          <a:prstGeom prst="rect">
            <a:avLst/>
          </a:prstGeom>
          <a:noFill/>
        </p:spPr>
        <p:txBody>
          <a:bodyPr wrap="square" lIns="0" tIns="0" rIns="0" bIns="0" anchor="t">
            <a:spAutoFit/>
          </a:bodyPr>
          <a:lstStyle/>
          <a:p>
            <a:pPr algn="l">
              <a:spcBef>
                <a:spcPts val="0"/>
              </a:spcBef>
              <a:spcAft>
                <a:spcPts val="0"/>
              </a:spcAft>
            </a:pPr>
            <a:r>
              <a:rPr sz="850" b="0" i="0">
                <a:solidFill>
                  <a:srgbClr val="6E6E6E"/>
                </a:solidFill>
                <a:latin typeface="Cascadia Mono"/>
              </a:rPr>
              <a:t>Appendix / retrieval evaluation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venire-logo-full.png"/>
          <p:cNvPicPr>
            <a:picLocks noChangeAspect="1"/>
          </p:cNvPicPr>
          <p:nvPr/>
        </p:nvPicPr>
        <p:blipFill>
          <a:blip r:embed="rId3"/>
          <a:stretch>
            <a:fillRect/>
          </a:stretch>
        </p:blipFill>
        <p:spPr>
          <a:xfrm>
            <a:off x="594360" y="256032"/>
            <a:ext cx="210312" cy="210312"/>
          </a:xfrm>
          <a:prstGeom prst="rect">
            <a:avLst/>
          </a:prstGeom>
        </p:spPr>
      </p:pic>
      <p:sp>
        <p:nvSpPr>
          <p:cNvPr id="4" name="TextBox 3"/>
          <p:cNvSpPr txBox="1"/>
          <p:nvPr/>
        </p:nvSpPr>
        <p:spPr>
          <a:xfrm>
            <a:off x="877824" y="237744"/>
            <a:ext cx="822960" cy="237744"/>
          </a:xfrm>
          <a:prstGeom prst="rect">
            <a:avLst/>
          </a:prstGeom>
          <a:noFill/>
        </p:spPr>
        <p:txBody>
          <a:bodyPr wrap="square" lIns="0" tIns="0" rIns="0" bIns="0" anchor="ctr">
            <a:spAutoFit/>
          </a:bodyPr>
          <a:lstStyle/>
          <a:p>
            <a:pPr algn="l">
              <a:spcBef>
                <a:spcPts val="0"/>
              </a:spcBef>
              <a:spcAft>
                <a:spcPts val="0"/>
              </a:spcAft>
            </a:pPr>
            <a:r>
              <a:rPr sz="1100" b="1" i="0">
                <a:solidFill>
                  <a:srgbClr val="E4E4E4"/>
                </a:solidFill>
                <a:latin typeface="Inter"/>
              </a:rPr>
              <a:t>Avenire</a:t>
            </a:r>
          </a:p>
        </p:txBody>
      </p:sp>
      <p:sp>
        <p:nvSpPr>
          <p:cNvPr id="5" name="TextBox 4"/>
          <p:cNvSpPr txBox="1"/>
          <p:nvPr/>
        </p:nvSpPr>
        <p:spPr>
          <a:xfrm>
            <a:off x="11277295" y="265176"/>
            <a:ext cx="320040" cy="182880"/>
          </a:xfrm>
          <a:prstGeom prst="rect">
            <a:avLst/>
          </a:prstGeom>
          <a:noFill/>
        </p:spPr>
        <p:txBody>
          <a:bodyPr wrap="square" lIns="0" tIns="0" rIns="0" bIns="0" anchor="t">
            <a:spAutoFit/>
          </a:bodyPr>
          <a:lstStyle/>
          <a:p>
            <a:pPr algn="r">
              <a:spcBef>
                <a:spcPts val="0"/>
              </a:spcBef>
              <a:spcAft>
                <a:spcPts val="0"/>
              </a:spcAft>
            </a:pPr>
            <a:r>
              <a:rPr sz="900" b="0" i="0">
                <a:solidFill>
                  <a:srgbClr val="6E6E6E"/>
                </a:solidFill>
                <a:latin typeface="Cascadia Mono"/>
              </a:rPr>
              <a:t>19</a:t>
            </a:r>
          </a:p>
        </p:txBody>
      </p:sp>
      <p:sp>
        <p:nvSpPr>
          <p:cNvPr id="6" name="TextBox 5"/>
          <p:cNvSpPr txBox="1"/>
          <p:nvPr/>
        </p:nvSpPr>
        <p:spPr>
          <a:xfrm>
            <a:off x="594360" y="749808"/>
            <a:ext cx="5303520" cy="201168"/>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APPENDIX C / LEARNING MEMORY</a:t>
            </a:r>
          </a:p>
        </p:txBody>
      </p:sp>
      <p:sp>
        <p:nvSpPr>
          <p:cNvPr id="7" name="TextBox 6"/>
          <p:cNvSpPr txBox="1"/>
          <p:nvPr/>
        </p:nvSpPr>
        <p:spPr>
          <a:xfrm>
            <a:off x="594360" y="1005840"/>
            <a:ext cx="10789920" cy="640080"/>
          </a:xfrm>
          <a:prstGeom prst="rect">
            <a:avLst/>
          </a:prstGeom>
          <a:noFill/>
        </p:spPr>
        <p:txBody>
          <a:bodyPr wrap="square" lIns="0" tIns="0" rIns="0" bIns="0" anchor="t">
            <a:spAutoFit/>
          </a:bodyPr>
          <a:lstStyle/>
          <a:p>
            <a:pPr algn="l">
              <a:spcBef>
                <a:spcPts val="0"/>
              </a:spcBef>
              <a:spcAft>
                <a:spcPts val="0"/>
              </a:spcAft>
            </a:pPr>
            <a:r>
              <a:rPr sz="3000" b="1" i="0">
                <a:solidFill>
                  <a:srgbClr val="E4E4E4"/>
                </a:solidFill>
                <a:latin typeface="Inter"/>
              </a:rPr>
              <a:t>The goal is not only to store learning.</a:t>
            </a:r>
          </a:p>
        </p:txBody>
      </p:sp>
      <p:sp>
        <p:nvSpPr>
          <p:cNvPr id="8" name="TextBox 7"/>
          <p:cNvSpPr txBox="1"/>
          <p:nvPr/>
        </p:nvSpPr>
        <p:spPr>
          <a:xfrm>
            <a:off x="594360" y="1625651"/>
            <a:ext cx="9692640" cy="384048"/>
          </a:xfrm>
          <a:prstGeom prst="rect">
            <a:avLst/>
          </a:prstGeom>
          <a:noFill/>
        </p:spPr>
        <p:txBody>
          <a:bodyPr wrap="square" lIns="0" tIns="0" rIns="0" bIns="0" anchor="t">
            <a:spAutoFit/>
          </a:bodyPr>
          <a:lstStyle/>
          <a:p>
            <a:pPr algn="l">
              <a:spcBef>
                <a:spcPts val="0"/>
              </a:spcBef>
              <a:spcAft>
                <a:spcPts val="0"/>
              </a:spcAft>
            </a:pPr>
            <a:r>
              <a:rPr sz="1400" b="0" i="0" dirty="0">
                <a:solidFill>
                  <a:srgbClr val="9C9C9C"/>
                </a:solidFill>
                <a:latin typeface="Inter"/>
              </a:rPr>
              <a:t>It is to model what a student is likely to remember — and when to bring it back.</a:t>
            </a:r>
          </a:p>
        </p:txBody>
      </p:sp>
      <p:cxnSp>
        <p:nvCxnSpPr>
          <p:cNvPr id="9" name="Connector 8"/>
          <p:cNvCxnSpPr/>
          <p:nvPr/>
        </p:nvCxnSpPr>
        <p:spPr>
          <a:xfrm>
            <a:off x="1005840" y="5349240"/>
            <a:ext cx="7498079" cy="0"/>
          </a:xfrm>
          <a:prstGeom prst="line">
            <a:avLst/>
          </a:prstGeom>
          <a:ln w="12700">
            <a:solidFill>
              <a:srgbClr val="34343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05840" y="1874519"/>
            <a:ext cx="0" cy="3474721"/>
          </a:xfrm>
          <a:prstGeom prst="line">
            <a:avLst/>
          </a:prstGeom>
          <a:ln w="12700">
            <a:solidFill>
              <a:srgbClr val="343434"/>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05840" y="4654296"/>
            <a:ext cx="7498079"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05840" y="3959352"/>
            <a:ext cx="7498079"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 y="3264408"/>
            <a:ext cx="7498079"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05840" y="2569463"/>
            <a:ext cx="7498079"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05840" y="2256739"/>
            <a:ext cx="624840" cy="530062"/>
          </a:xfrm>
          <a:prstGeom prst="line">
            <a:avLst/>
          </a:prstGeom>
          <a:ln w="30480">
            <a:solidFill>
              <a:srgbClr val="ABC4F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630680" y="2786801"/>
            <a:ext cx="624840" cy="417756"/>
          </a:xfrm>
          <a:prstGeom prst="line">
            <a:avLst/>
          </a:prstGeom>
          <a:ln w="30480">
            <a:solidFill>
              <a:srgbClr val="ABC4FF"/>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255520" y="3204557"/>
            <a:ext cx="624840" cy="329246"/>
          </a:xfrm>
          <a:prstGeom prst="line">
            <a:avLst/>
          </a:prstGeom>
          <a:ln w="30480">
            <a:solidFill>
              <a:srgbClr val="ABC4FF"/>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880360" y="3533803"/>
            <a:ext cx="624839" cy="259487"/>
          </a:xfrm>
          <a:prstGeom prst="line">
            <a:avLst/>
          </a:prstGeom>
          <a:ln w="30480">
            <a:solidFill>
              <a:srgbClr val="ABC4F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505199" y="3793290"/>
            <a:ext cx="624840" cy="204509"/>
          </a:xfrm>
          <a:prstGeom prst="line">
            <a:avLst/>
          </a:prstGeom>
          <a:ln w="30480">
            <a:solidFill>
              <a:srgbClr val="ABC4FF"/>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130039" y="3997799"/>
            <a:ext cx="624840" cy="161180"/>
          </a:xfrm>
          <a:prstGeom prst="line">
            <a:avLst/>
          </a:prstGeom>
          <a:ln w="30480">
            <a:solidFill>
              <a:srgbClr val="ABC4FF"/>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754879" y="4158979"/>
            <a:ext cx="624841" cy="127029"/>
          </a:xfrm>
          <a:prstGeom prst="line">
            <a:avLst/>
          </a:prstGeom>
          <a:ln w="30480">
            <a:solidFill>
              <a:srgbClr val="ABC4FF"/>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379720" y="4286008"/>
            <a:ext cx="624840" cy="100116"/>
          </a:xfrm>
          <a:prstGeom prst="line">
            <a:avLst/>
          </a:prstGeom>
          <a:ln w="30480">
            <a:solidFill>
              <a:srgbClr val="ABC4FF"/>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004560" y="4386124"/>
            <a:ext cx="624840" cy="78904"/>
          </a:xfrm>
          <a:prstGeom prst="line">
            <a:avLst/>
          </a:prstGeom>
          <a:ln w="30480">
            <a:solidFill>
              <a:srgbClr val="ABC4F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629400" y="4465028"/>
            <a:ext cx="624839" cy="62187"/>
          </a:xfrm>
          <a:prstGeom prst="line">
            <a:avLst/>
          </a:prstGeom>
          <a:ln w="30480">
            <a:solidFill>
              <a:srgbClr val="ABC4F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254239" y="4527215"/>
            <a:ext cx="624840" cy="49010"/>
          </a:xfrm>
          <a:prstGeom prst="line">
            <a:avLst/>
          </a:prstGeom>
          <a:ln w="30480">
            <a:solidFill>
              <a:srgbClr val="ABC4FF"/>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879079" y="4576225"/>
            <a:ext cx="624840" cy="38627"/>
          </a:xfrm>
          <a:prstGeom prst="line">
            <a:avLst/>
          </a:prstGeom>
          <a:ln w="30480">
            <a:solidFill>
              <a:srgbClr val="ABC4FF"/>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955548" y="2206447"/>
            <a:ext cx="100584" cy="100584"/>
          </a:xfrm>
          <a:prstGeom prst="ellipse">
            <a:avLst/>
          </a:prstGeom>
          <a:solidFill>
            <a:srgbClr val="ABC4FF"/>
          </a:solidFill>
          <a:ln w="12700">
            <a:solidFill>
              <a:srgbClr val="ABC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580388" y="2736509"/>
            <a:ext cx="100584" cy="100584"/>
          </a:xfrm>
          <a:prstGeom prst="ellipse">
            <a:avLst/>
          </a:prstGeom>
          <a:solidFill>
            <a:srgbClr val="1D1D1D"/>
          </a:solidFill>
          <a:ln w="12700">
            <a:solidFill>
              <a:srgbClr val="ABC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2205228" y="3154265"/>
            <a:ext cx="100584" cy="100584"/>
          </a:xfrm>
          <a:prstGeom prst="ellipse">
            <a:avLst/>
          </a:prstGeom>
          <a:solidFill>
            <a:srgbClr val="1D1D1D"/>
          </a:solidFill>
          <a:ln w="12700">
            <a:solidFill>
              <a:srgbClr val="ABC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2830068" y="3483511"/>
            <a:ext cx="100584" cy="100584"/>
          </a:xfrm>
          <a:prstGeom prst="ellipse">
            <a:avLst/>
          </a:prstGeom>
          <a:solidFill>
            <a:srgbClr val="1D1D1D"/>
          </a:solidFill>
          <a:ln w="12700">
            <a:solidFill>
              <a:srgbClr val="ABC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3454907" y="3742998"/>
            <a:ext cx="100584" cy="100584"/>
          </a:xfrm>
          <a:prstGeom prst="ellipse">
            <a:avLst/>
          </a:prstGeom>
          <a:solidFill>
            <a:srgbClr val="ABC4FF"/>
          </a:solidFill>
          <a:ln w="12700">
            <a:solidFill>
              <a:srgbClr val="ABC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4079747" y="3947507"/>
            <a:ext cx="100584" cy="100584"/>
          </a:xfrm>
          <a:prstGeom prst="ellipse">
            <a:avLst/>
          </a:prstGeom>
          <a:solidFill>
            <a:srgbClr val="1D1D1D"/>
          </a:solidFill>
          <a:ln w="12700">
            <a:solidFill>
              <a:srgbClr val="ABC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4704588" y="4108687"/>
            <a:ext cx="100584" cy="100584"/>
          </a:xfrm>
          <a:prstGeom prst="ellipse">
            <a:avLst/>
          </a:prstGeom>
          <a:solidFill>
            <a:srgbClr val="1D1D1D"/>
          </a:solidFill>
          <a:ln w="12700">
            <a:solidFill>
              <a:srgbClr val="ABC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5329428" y="4235716"/>
            <a:ext cx="100584" cy="100584"/>
          </a:xfrm>
          <a:prstGeom prst="ellipse">
            <a:avLst/>
          </a:prstGeom>
          <a:solidFill>
            <a:srgbClr val="1D1D1D"/>
          </a:solidFill>
          <a:ln w="12700">
            <a:solidFill>
              <a:srgbClr val="ABC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5954268" y="4335832"/>
            <a:ext cx="100584" cy="100584"/>
          </a:xfrm>
          <a:prstGeom prst="ellipse">
            <a:avLst/>
          </a:prstGeom>
          <a:solidFill>
            <a:srgbClr val="ABC4FF"/>
          </a:solidFill>
          <a:ln w="12700">
            <a:solidFill>
              <a:srgbClr val="ABC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6579108" y="4414736"/>
            <a:ext cx="100584" cy="100584"/>
          </a:xfrm>
          <a:prstGeom prst="ellipse">
            <a:avLst/>
          </a:prstGeom>
          <a:solidFill>
            <a:srgbClr val="1D1D1D"/>
          </a:solidFill>
          <a:ln w="12700">
            <a:solidFill>
              <a:srgbClr val="ABC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7203947" y="4476923"/>
            <a:ext cx="100584" cy="100584"/>
          </a:xfrm>
          <a:prstGeom prst="ellipse">
            <a:avLst/>
          </a:prstGeom>
          <a:solidFill>
            <a:srgbClr val="1D1D1D"/>
          </a:solidFill>
          <a:ln w="12700">
            <a:solidFill>
              <a:srgbClr val="ABC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7828787" y="4525933"/>
            <a:ext cx="100584" cy="100584"/>
          </a:xfrm>
          <a:prstGeom prst="ellipse">
            <a:avLst/>
          </a:prstGeom>
          <a:solidFill>
            <a:srgbClr val="1D1D1D"/>
          </a:solidFill>
          <a:ln w="12700">
            <a:solidFill>
              <a:srgbClr val="ABC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8453628" y="4564560"/>
            <a:ext cx="100584" cy="100584"/>
          </a:xfrm>
          <a:prstGeom prst="ellipse">
            <a:avLst/>
          </a:prstGeom>
          <a:solidFill>
            <a:srgbClr val="ABC4FF"/>
          </a:solidFill>
          <a:ln w="12700">
            <a:solidFill>
              <a:srgbClr val="ABC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9600" y="5513832"/>
            <a:ext cx="365760" cy="182880"/>
          </a:xfrm>
          <a:prstGeom prst="rect">
            <a:avLst/>
          </a:prstGeom>
          <a:noFill/>
        </p:spPr>
        <p:txBody>
          <a:bodyPr wrap="square" lIns="0" tIns="0" rIns="0" bIns="0" anchor="t">
            <a:spAutoFit/>
          </a:bodyPr>
          <a:lstStyle/>
          <a:p>
            <a:pPr algn="r">
              <a:spcBef>
                <a:spcPts val="0"/>
              </a:spcBef>
              <a:spcAft>
                <a:spcPts val="0"/>
              </a:spcAft>
            </a:pPr>
            <a:r>
              <a:rPr sz="1000" b="0" i="0">
                <a:solidFill>
                  <a:srgbClr val="6E6E6E"/>
                </a:solidFill>
                <a:latin typeface="Cascadia Mono"/>
              </a:rPr>
              <a:t>time</a:t>
            </a:r>
          </a:p>
        </p:txBody>
      </p:sp>
      <p:cxnSp>
        <p:nvCxnSpPr>
          <p:cNvPr id="42" name="Connector 41"/>
          <p:cNvCxnSpPr/>
          <p:nvPr/>
        </p:nvCxnSpPr>
        <p:spPr>
          <a:xfrm>
            <a:off x="9006840" y="1920240"/>
            <a:ext cx="2468880" cy="0"/>
          </a:xfrm>
          <a:prstGeom prst="line">
            <a:avLst/>
          </a:prstGeom>
          <a:ln w="19050">
            <a:solidFill>
              <a:srgbClr val="78C4D5"/>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9281160" y="2176272"/>
            <a:ext cx="1920240" cy="210312"/>
          </a:xfrm>
          <a:prstGeom prst="rect">
            <a:avLst/>
          </a:prstGeom>
          <a:noFill/>
        </p:spPr>
        <p:txBody>
          <a:bodyPr wrap="square" lIns="0" tIns="0" rIns="0" bIns="0" anchor="t">
            <a:spAutoFit/>
          </a:bodyPr>
          <a:lstStyle/>
          <a:p>
            <a:pPr algn="l">
              <a:spcBef>
                <a:spcPts val="0"/>
              </a:spcBef>
              <a:spcAft>
                <a:spcPts val="0"/>
              </a:spcAft>
            </a:pPr>
            <a:r>
              <a:rPr sz="1600" b="1" i="0">
                <a:solidFill>
                  <a:srgbClr val="78C4D5"/>
                </a:solidFill>
                <a:latin typeface="Inter"/>
              </a:rPr>
              <a:t>Spaced repetition</a:t>
            </a:r>
          </a:p>
        </p:txBody>
      </p:sp>
      <p:sp>
        <p:nvSpPr>
          <p:cNvPr id="44" name="TextBox 43"/>
          <p:cNvSpPr txBox="1"/>
          <p:nvPr/>
        </p:nvSpPr>
        <p:spPr>
          <a:xfrm>
            <a:off x="9281160" y="2514600"/>
            <a:ext cx="1920240" cy="182880"/>
          </a:xfrm>
          <a:prstGeom prst="rect">
            <a:avLst/>
          </a:prstGeom>
          <a:noFill/>
        </p:spPr>
        <p:txBody>
          <a:bodyPr wrap="square" lIns="0" tIns="0" rIns="0" bIns="0" anchor="t">
            <a:spAutoFit/>
          </a:bodyPr>
          <a:lstStyle/>
          <a:p>
            <a:pPr algn="l">
              <a:spcBef>
                <a:spcPts val="0"/>
              </a:spcBef>
              <a:spcAft>
                <a:spcPts val="0"/>
              </a:spcAft>
            </a:pPr>
            <a:r>
              <a:rPr sz="1000" b="0" i="0">
                <a:solidFill>
                  <a:srgbClr val="9C9C9C"/>
                </a:solidFill>
                <a:latin typeface="Inter"/>
              </a:rPr>
              <a:t>Schedule the next useful review.</a:t>
            </a:r>
          </a:p>
        </p:txBody>
      </p:sp>
      <p:cxnSp>
        <p:nvCxnSpPr>
          <p:cNvPr id="45" name="Connector 44"/>
          <p:cNvCxnSpPr/>
          <p:nvPr/>
        </p:nvCxnSpPr>
        <p:spPr>
          <a:xfrm>
            <a:off x="9006840" y="3200400"/>
            <a:ext cx="2468880" cy="0"/>
          </a:xfrm>
          <a:prstGeom prst="line">
            <a:avLst/>
          </a:prstGeom>
          <a:ln w="19050">
            <a:solidFill>
              <a:srgbClr val="F0A873"/>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9281160" y="3456432"/>
            <a:ext cx="1920240" cy="210312"/>
          </a:xfrm>
          <a:prstGeom prst="rect">
            <a:avLst/>
          </a:prstGeom>
          <a:noFill/>
        </p:spPr>
        <p:txBody>
          <a:bodyPr wrap="square" lIns="0" tIns="0" rIns="0" bIns="0" anchor="t">
            <a:spAutoFit/>
          </a:bodyPr>
          <a:lstStyle/>
          <a:p>
            <a:pPr algn="l">
              <a:spcBef>
                <a:spcPts val="0"/>
              </a:spcBef>
              <a:spcAft>
                <a:spcPts val="0"/>
              </a:spcAft>
            </a:pPr>
            <a:r>
              <a:rPr sz="1600" b="1" i="0">
                <a:solidFill>
                  <a:srgbClr val="F0A873"/>
                </a:solidFill>
                <a:latin typeface="Inter"/>
              </a:rPr>
              <a:t>Misconception engine</a:t>
            </a:r>
          </a:p>
        </p:txBody>
      </p:sp>
      <p:sp>
        <p:nvSpPr>
          <p:cNvPr id="47" name="TextBox 46"/>
          <p:cNvSpPr txBox="1"/>
          <p:nvPr/>
        </p:nvSpPr>
        <p:spPr>
          <a:xfrm>
            <a:off x="9281160" y="3794760"/>
            <a:ext cx="1920240" cy="182880"/>
          </a:xfrm>
          <a:prstGeom prst="rect">
            <a:avLst/>
          </a:prstGeom>
          <a:noFill/>
        </p:spPr>
        <p:txBody>
          <a:bodyPr wrap="square" lIns="0" tIns="0" rIns="0" bIns="0" anchor="t">
            <a:spAutoFit/>
          </a:bodyPr>
          <a:lstStyle/>
          <a:p>
            <a:pPr algn="l">
              <a:spcBef>
                <a:spcPts val="0"/>
              </a:spcBef>
              <a:spcAft>
                <a:spcPts val="0"/>
              </a:spcAft>
            </a:pPr>
            <a:r>
              <a:rPr sz="1000" b="0" i="0">
                <a:solidFill>
                  <a:srgbClr val="9C9C9C"/>
                </a:solidFill>
                <a:latin typeface="Inter"/>
              </a:rPr>
              <a:t>Diagnose patterns in wrong answers.</a:t>
            </a:r>
          </a:p>
        </p:txBody>
      </p:sp>
      <p:cxnSp>
        <p:nvCxnSpPr>
          <p:cNvPr id="48" name="Connector 47"/>
          <p:cNvCxnSpPr/>
          <p:nvPr/>
        </p:nvCxnSpPr>
        <p:spPr>
          <a:xfrm>
            <a:off x="9006840" y="4480560"/>
            <a:ext cx="2468880" cy="0"/>
          </a:xfrm>
          <a:prstGeom prst="line">
            <a:avLst/>
          </a:prstGeom>
          <a:ln w="19050">
            <a:solidFill>
              <a:srgbClr val="A99AD1"/>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9281160" y="4736592"/>
            <a:ext cx="1920240" cy="210312"/>
          </a:xfrm>
          <a:prstGeom prst="rect">
            <a:avLst/>
          </a:prstGeom>
          <a:noFill/>
        </p:spPr>
        <p:txBody>
          <a:bodyPr wrap="square" lIns="0" tIns="0" rIns="0" bIns="0" anchor="t">
            <a:spAutoFit/>
          </a:bodyPr>
          <a:lstStyle/>
          <a:p>
            <a:pPr algn="l">
              <a:spcBef>
                <a:spcPts val="0"/>
              </a:spcBef>
              <a:spcAft>
                <a:spcPts val="0"/>
              </a:spcAft>
            </a:pPr>
            <a:r>
              <a:rPr sz="1600" b="1" i="0">
                <a:solidFill>
                  <a:srgbClr val="A99AD1"/>
                </a:solidFill>
                <a:latin typeface="Inter"/>
              </a:rPr>
              <a:t>Visualizations</a:t>
            </a:r>
          </a:p>
        </p:txBody>
      </p:sp>
      <p:sp>
        <p:nvSpPr>
          <p:cNvPr id="50" name="TextBox 49"/>
          <p:cNvSpPr txBox="1"/>
          <p:nvPr/>
        </p:nvSpPr>
        <p:spPr>
          <a:xfrm>
            <a:off x="9281160" y="5074920"/>
            <a:ext cx="1920240" cy="182880"/>
          </a:xfrm>
          <a:prstGeom prst="rect">
            <a:avLst/>
          </a:prstGeom>
          <a:noFill/>
        </p:spPr>
        <p:txBody>
          <a:bodyPr wrap="square" lIns="0" tIns="0" rIns="0" bIns="0" anchor="t">
            <a:spAutoFit/>
          </a:bodyPr>
          <a:lstStyle/>
          <a:p>
            <a:pPr algn="l">
              <a:spcBef>
                <a:spcPts val="0"/>
              </a:spcBef>
              <a:spcAft>
                <a:spcPts val="0"/>
              </a:spcAft>
            </a:pPr>
            <a:r>
              <a:rPr sz="1000" b="0" i="0">
                <a:solidFill>
                  <a:srgbClr val="9C9C9C"/>
                </a:solidFill>
                <a:latin typeface="Inter"/>
              </a:rPr>
              <a:t>Make abstract ideas manipulable.</a:t>
            </a:r>
          </a:p>
        </p:txBody>
      </p:sp>
      <p:cxnSp>
        <p:nvCxnSpPr>
          <p:cNvPr id="51" name="Connector 50"/>
          <p:cNvCxnSpPr/>
          <p:nvPr/>
        </p:nvCxnSpPr>
        <p:spPr>
          <a:xfrm>
            <a:off x="594360" y="6464808"/>
            <a:ext cx="11002975"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594360" y="6574536"/>
            <a:ext cx="3474720" cy="146304"/>
          </a:xfrm>
          <a:prstGeom prst="rect">
            <a:avLst/>
          </a:prstGeom>
          <a:noFill/>
        </p:spPr>
        <p:txBody>
          <a:bodyPr wrap="square" lIns="0" tIns="0" rIns="0" bIns="0" anchor="t">
            <a:spAutoFit/>
          </a:bodyPr>
          <a:lstStyle/>
          <a:p>
            <a:pPr algn="l">
              <a:spcBef>
                <a:spcPts val="0"/>
              </a:spcBef>
              <a:spcAft>
                <a:spcPts val="0"/>
              </a:spcAft>
            </a:pPr>
            <a:r>
              <a:rPr sz="850" b="0" i="0">
                <a:solidFill>
                  <a:srgbClr val="6E6E6E"/>
                </a:solidFill>
                <a:latin typeface="Cascadia Mono"/>
              </a:rPr>
              <a:t>Appendix / learning memory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venire-logo-full.png"/>
          <p:cNvPicPr>
            <a:picLocks noChangeAspect="1"/>
          </p:cNvPicPr>
          <p:nvPr/>
        </p:nvPicPr>
        <p:blipFill>
          <a:blip r:embed="rId3"/>
          <a:stretch>
            <a:fillRect/>
          </a:stretch>
        </p:blipFill>
        <p:spPr>
          <a:xfrm>
            <a:off x="594360" y="256032"/>
            <a:ext cx="210312" cy="210312"/>
          </a:xfrm>
          <a:prstGeom prst="rect">
            <a:avLst/>
          </a:prstGeom>
        </p:spPr>
      </p:pic>
      <p:sp>
        <p:nvSpPr>
          <p:cNvPr id="4" name="TextBox 3"/>
          <p:cNvSpPr txBox="1"/>
          <p:nvPr/>
        </p:nvSpPr>
        <p:spPr>
          <a:xfrm>
            <a:off x="877824" y="237744"/>
            <a:ext cx="822960" cy="237744"/>
          </a:xfrm>
          <a:prstGeom prst="rect">
            <a:avLst/>
          </a:prstGeom>
          <a:noFill/>
        </p:spPr>
        <p:txBody>
          <a:bodyPr wrap="square" lIns="0" tIns="0" rIns="0" bIns="0" anchor="ctr">
            <a:spAutoFit/>
          </a:bodyPr>
          <a:lstStyle/>
          <a:p>
            <a:pPr algn="l">
              <a:spcBef>
                <a:spcPts val="0"/>
              </a:spcBef>
              <a:spcAft>
                <a:spcPts val="0"/>
              </a:spcAft>
            </a:pPr>
            <a:r>
              <a:rPr sz="1100" b="1" i="0">
                <a:solidFill>
                  <a:srgbClr val="E4E4E4"/>
                </a:solidFill>
                <a:latin typeface="Inter"/>
              </a:rPr>
              <a:t>Avenire</a:t>
            </a:r>
          </a:p>
        </p:txBody>
      </p:sp>
      <p:sp>
        <p:nvSpPr>
          <p:cNvPr id="5" name="TextBox 4"/>
          <p:cNvSpPr txBox="1"/>
          <p:nvPr/>
        </p:nvSpPr>
        <p:spPr>
          <a:xfrm>
            <a:off x="11277295" y="265176"/>
            <a:ext cx="320040" cy="182880"/>
          </a:xfrm>
          <a:prstGeom prst="rect">
            <a:avLst/>
          </a:prstGeom>
          <a:noFill/>
        </p:spPr>
        <p:txBody>
          <a:bodyPr wrap="square" lIns="0" tIns="0" rIns="0" bIns="0" anchor="t">
            <a:spAutoFit/>
          </a:bodyPr>
          <a:lstStyle/>
          <a:p>
            <a:pPr algn="r">
              <a:spcBef>
                <a:spcPts val="0"/>
              </a:spcBef>
              <a:spcAft>
                <a:spcPts val="0"/>
              </a:spcAft>
            </a:pPr>
            <a:r>
              <a:rPr sz="900" b="0" i="0">
                <a:solidFill>
                  <a:srgbClr val="6E6E6E"/>
                </a:solidFill>
                <a:latin typeface="Cascadia Mono"/>
              </a:rPr>
              <a:t>20</a:t>
            </a:r>
          </a:p>
        </p:txBody>
      </p:sp>
      <p:sp>
        <p:nvSpPr>
          <p:cNvPr id="6" name="TextBox 5"/>
          <p:cNvSpPr txBox="1"/>
          <p:nvPr/>
        </p:nvSpPr>
        <p:spPr>
          <a:xfrm>
            <a:off x="594360" y="749808"/>
            <a:ext cx="5303520" cy="201168"/>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APPENDIX D / PRICING</a:t>
            </a:r>
          </a:p>
        </p:txBody>
      </p:sp>
      <p:sp>
        <p:nvSpPr>
          <p:cNvPr id="7" name="TextBox 6"/>
          <p:cNvSpPr txBox="1"/>
          <p:nvPr/>
        </p:nvSpPr>
        <p:spPr>
          <a:xfrm>
            <a:off x="594360" y="1005840"/>
            <a:ext cx="10789920" cy="640080"/>
          </a:xfrm>
          <a:prstGeom prst="rect">
            <a:avLst/>
          </a:prstGeom>
          <a:noFill/>
        </p:spPr>
        <p:txBody>
          <a:bodyPr wrap="square" lIns="0" tIns="0" rIns="0" bIns="0" anchor="t">
            <a:spAutoFit/>
          </a:bodyPr>
          <a:lstStyle/>
          <a:p>
            <a:pPr algn="l">
              <a:spcBef>
                <a:spcPts val="0"/>
              </a:spcBef>
              <a:spcAft>
                <a:spcPts val="0"/>
              </a:spcAft>
            </a:pPr>
            <a:r>
              <a:rPr sz="3000" b="1" i="0">
                <a:solidFill>
                  <a:srgbClr val="E4E4E4"/>
                </a:solidFill>
                <a:latin typeface="Inter"/>
              </a:rPr>
              <a:t>Current plan structure.</a:t>
            </a:r>
          </a:p>
        </p:txBody>
      </p:sp>
      <p:sp>
        <p:nvSpPr>
          <p:cNvPr id="8" name="TextBox 7"/>
          <p:cNvSpPr txBox="1"/>
          <p:nvPr/>
        </p:nvSpPr>
        <p:spPr>
          <a:xfrm>
            <a:off x="594360" y="1691640"/>
            <a:ext cx="9692640" cy="384048"/>
          </a:xfrm>
          <a:prstGeom prst="rect">
            <a:avLst/>
          </a:prstGeom>
          <a:noFill/>
        </p:spPr>
        <p:txBody>
          <a:bodyPr wrap="square" lIns="0" tIns="0" rIns="0" bIns="0" anchor="t">
            <a:spAutoFit/>
          </a:bodyPr>
          <a:lstStyle/>
          <a:p>
            <a:pPr algn="l">
              <a:spcBef>
                <a:spcPts val="0"/>
              </a:spcBef>
              <a:spcAft>
                <a:spcPts val="0"/>
              </a:spcAft>
            </a:pPr>
            <a:r>
              <a:rPr sz="1400" b="0" i="0">
                <a:solidFill>
                  <a:srgbClr val="9C9C9C"/>
                </a:solidFill>
                <a:latin typeface="Inter"/>
              </a:rPr>
              <a:t>Pricing is a live hypothesis; the next step is willingness-to-pay validation.</a:t>
            </a:r>
          </a:p>
        </p:txBody>
      </p:sp>
      <p:graphicFrame>
        <p:nvGraphicFramePr>
          <p:cNvPr id="9" name="Table 8"/>
          <p:cNvGraphicFramePr>
            <a:graphicFrameLocks noGrp="1"/>
          </p:cNvGraphicFramePr>
          <p:nvPr>
            <p:extLst>
              <p:ext uri="{D42A27DB-BD31-4B8C-83A1-F6EECF244321}">
                <p14:modId xmlns:p14="http://schemas.microsoft.com/office/powerpoint/2010/main" val="3989784343"/>
              </p:ext>
            </p:extLst>
          </p:nvPr>
        </p:nvGraphicFramePr>
        <p:xfrm>
          <a:off x="777240" y="2157323"/>
          <a:ext cx="10698480" cy="2606040"/>
        </p:xfrm>
        <a:graphic>
          <a:graphicData uri="http://schemas.openxmlformats.org/drawingml/2006/table">
            <a:tbl>
              <a:tblPr firstRow="1" bandRow="1">
                <a:tableStyleId>{5C22544A-7EE6-4342-B048-85BDC9FD1C3A}</a:tableStyleId>
              </a:tblPr>
              <a:tblGrid>
                <a:gridCol w="141732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5532120">
                  <a:extLst>
                    <a:ext uri="{9D8B030D-6E8A-4147-A177-3AD203B41FA5}">
                      <a16:colId xmlns:a16="http://schemas.microsoft.com/office/drawing/2014/main" val="20004"/>
                    </a:ext>
                  </a:extLst>
                </a:gridCol>
              </a:tblGrid>
              <a:tr h="521208">
                <a:tc>
                  <a:txBody>
                    <a:bodyPr/>
                    <a:lstStyle/>
                    <a:p>
                      <a:pPr algn="l"/>
                      <a:r>
                        <a:rPr sz="1050" b="1">
                          <a:solidFill>
                            <a:srgbClr val="ABC4FF"/>
                          </a:solidFill>
                          <a:latin typeface="Inter"/>
                        </a:rPr>
                        <a:t>Plan</a:t>
                      </a:r>
                    </a:p>
                  </a:txBody>
                  <a:tcPr marL="73152" marR="73152" marT="27432" marB="27432">
                    <a:solidFill>
                      <a:srgbClr val="222222"/>
                    </a:solidFill>
                  </a:tcPr>
                </a:tc>
                <a:tc>
                  <a:txBody>
                    <a:bodyPr/>
                    <a:lstStyle/>
                    <a:p>
                      <a:pPr algn="ctr"/>
                      <a:r>
                        <a:rPr sz="1050" b="1">
                          <a:solidFill>
                            <a:srgbClr val="ABC4FF"/>
                          </a:solidFill>
                          <a:latin typeface="Inter"/>
                        </a:rPr>
                        <a:t>Price / month</a:t>
                      </a:r>
                    </a:p>
                  </a:txBody>
                  <a:tcPr marL="73152" marR="73152" marT="27432" marB="27432">
                    <a:solidFill>
                      <a:srgbClr val="222222"/>
                    </a:solidFill>
                  </a:tcPr>
                </a:tc>
                <a:tc>
                  <a:txBody>
                    <a:bodyPr/>
                    <a:lstStyle/>
                    <a:p>
                      <a:pPr algn="ctr"/>
                      <a:r>
                        <a:rPr sz="1050" b="1">
                          <a:solidFill>
                            <a:srgbClr val="ABC4FF"/>
                          </a:solidFill>
                          <a:latin typeface="Inter"/>
                        </a:rPr>
                        <a:t>Credits</a:t>
                      </a:r>
                    </a:p>
                  </a:txBody>
                  <a:tcPr marL="73152" marR="73152" marT="27432" marB="27432">
                    <a:solidFill>
                      <a:srgbClr val="222222"/>
                    </a:solidFill>
                  </a:tcPr>
                </a:tc>
                <a:tc>
                  <a:txBody>
                    <a:bodyPr/>
                    <a:lstStyle/>
                    <a:p>
                      <a:pPr algn="ctr"/>
                      <a:r>
                        <a:rPr sz="1050" b="1">
                          <a:solidFill>
                            <a:srgbClr val="ABC4FF"/>
                          </a:solidFill>
                          <a:latin typeface="Inter"/>
                        </a:rPr>
                        <a:t>Storage</a:t>
                      </a:r>
                    </a:p>
                  </a:txBody>
                  <a:tcPr marL="73152" marR="73152" marT="27432" marB="27432">
                    <a:solidFill>
                      <a:srgbClr val="222222"/>
                    </a:solidFill>
                  </a:tcPr>
                </a:tc>
                <a:tc>
                  <a:txBody>
                    <a:bodyPr/>
                    <a:lstStyle/>
                    <a:p>
                      <a:pPr algn="ctr"/>
                      <a:r>
                        <a:rPr sz="1050" b="1">
                          <a:solidFill>
                            <a:srgbClr val="ABC4FF"/>
                          </a:solidFill>
                          <a:latin typeface="Inter"/>
                        </a:rPr>
                        <a:t>Learning capabilities</a:t>
                      </a:r>
                    </a:p>
                  </a:txBody>
                  <a:tcPr marL="73152" marR="73152" marT="27432" marB="27432">
                    <a:solidFill>
                      <a:srgbClr val="222222"/>
                    </a:solidFill>
                  </a:tcPr>
                </a:tc>
                <a:extLst>
                  <a:ext uri="{0D108BD9-81ED-4DB2-BD59-A6C34878D82A}">
                    <a16:rowId xmlns:a16="http://schemas.microsoft.com/office/drawing/2014/main" val="10000"/>
                  </a:ext>
                </a:extLst>
              </a:tr>
              <a:tr h="521208">
                <a:tc>
                  <a:txBody>
                    <a:bodyPr/>
                    <a:lstStyle/>
                    <a:p>
                      <a:pPr algn="l"/>
                      <a:r>
                        <a:rPr sz="1100" b="0">
                          <a:solidFill>
                            <a:srgbClr val="E4E4E4"/>
                          </a:solidFill>
                          <a:latin typeface="Inter"/>
                        </a:rPr>
                        <a:t>Access</a:t>
                      </a:r>
                    </a:p>
                  </a:txBody>
                  <a:tcPr marL="73152" marR="73152" marT="27432" marB="27432">
                    <a:solidFill>
                      <a:srgbClr val="1D1D1D"/>
                    </a:solidFill>
                  </a:tcPr>
                </a:tc>
                <a:tc>
                  <a:txBody>
                    <a:bodyPr/>
                    <a:lstStyle/>
                    <a:p>
                      <a:pPr algn="ctr"/>
                      <a:r>
                        <a:rPr sz="1100" b="0">
                          <a:solidFill>
                            <a:srgbClr val="E4E4E4"/>
                          </a:solidFill>
                          <a:latin typeface="Inter"/>
                        </a:rPr>
                        <a:t>₹0</a:t>
                      </a:r>
                    </a:p>
                  </a:txBody>
                  <a:tcPr marL="73152" marR="73152" marT="27432" marB="27432">
                    <a:solidFill>
                      <a:srgbClr val="1D1D1D"/>
                    </a:solidFill>
                  </a:tcPr>
                </a:tc>
                <a:tc>
                  <a:txBody>
                    <a:bodyPr/>
                    <a:lstStyle/>
                    <a:p>
                      <a:pPr algn="ctr"/>
                      <a:r>
                        <a:rPr sz="1100" b="0">
                          <a:solidFill>
                            <a:srgbClr val="E4E4E4"/>
                          </a:solidFill>
                          <a:latin typeface="Inter"/>
                        </a:rPr>
                        <a:t>330</a:t>
                      </a:r>
                    </a:p>
                  </a:txBody>
                  <a:tcPr marL="73152" marR="73152" marT="27432" marB="27432">
                    <a:solidFill>
                      <a:srgbClr val="1D1D1D"/>
                    </a:solidFill>
                  </a:tcPr>
                </a:tc>
                <a:tc>
                  <a:txBody>
                    <a:bodyPr/>
                    <a:lstStyle/>
                    <a:p>
                      <a:pPr algn="ctr"/>
                      <a:r>
                        <a:rPr sz="1100" b="0">
                          <a:solidFill>
                            <a:srgbClr val="E4E4E4"/>
                          </a:solidFill>
                          <a:latin typeface="Inter"/>
                        </a:rPr>
                        <a:t>2 GB</a:t>
                      </a:r>
                    </a:p>
                  </a:txBody>
                  <a:tcPr marL="73152" marR="73152" marT="27432" marB="27432">
                    <a:solidFill>
                      <a:srgbClr val="1D1D1D"/>
                    </a:solidFill>
                  </a:tcPr>
                </a:tc>
                <a:tc>
                  <a:txBody>
                    <a:bodyPr/>
                    <a:lstStyle/>
                    <a:p>
                      <a:pPr algn="ctr"/>
                      <a:r>
                        <a:rPr sz="1100" b="0">
                          <a:solidFill>
                            <a:srgbClr val="E4E4E4"/>
                          </a:solidFill>
                          <a:latin typeface="Inter"/>
                        </a:rPr>
                        <a:t>AI tutor; interactive concepts; flashcards; misconception detection</a:t>
                      </a:r>
                    </a:p>
                  </a:txBody>
                  <a:tcPr marL="73152" marR="73152" marT="27432" marB="27432">
                    <a:solidFill>
                      <a:srgbClr val="1D1D1D"/>
                    </a:solidFill>
                  </a:tcPr>
                </a:tc>
                <a:extLst>
                  <a:ext uri="{0D108BD9-81ED-4DB2-BD59-A6C34878D82A}">
                    <a16:rowId xmlns:a16="http://schemas.microsoft.com/office/drawing/2014/main" val="10001"/>
                  </a:ext>
                </a:extLst>
              </a:tr>
              <a:tr h="521208">
                <a:tc>
                  <a:txBody>
                    <a:bodyPr/>
                    <a:lstStyle/>
                    <a:p>
                      <a:pPr algn="l"/>
                      <a:r>
                        <a:rPr sz="1100" b="0">
                          <a:solidFill>
                            <a:srgbClr val="E4E4E4"/>
                          </a:solidFill>
                          <a:latin typeface="Inter"/>
                        </a:rPr>
                        <a:t>Core</a:t>
                      </a:r>
                    </a:p>
                  </a:txBody>
                  <a:tcPr marL="73152" marR="73152" marT="27432" marB="27432">
                    <a:solidFill>
                      <a:srgbClr val="181818"/>
                    </a:solidFill>
                  </a:tcPr>
                </a:tc>
                <a:tc>
                  <a:txBody>
                    <a:bodyPr/>
                    <a:lstStyle/>
                    <a:p>
                      <a:pPr algn="ctr"/>
                      <a:r>
                        <a:rPr sz="1100" b="0">
                          <a:solidFill>
                            <a:srgbClr val="E4E4E4"/>
                          </a:solidFill>
                          <a:latin typeface="Inter"/>
                        </a:rPr>
                        <a:t>₹450</a:t>
                      </a:r>
                    </a:p>
                  </a:txBody>
                  <a:tcPr marL="73152" marR="73152" marT="27432" marB="27432">
                    <a:solidFill>
                      <a:srgbClr val="181818"/>
                    </a:solidFill>
                  </a:tcPr>
                </a:tc>
                <a:tc>
                  <a:txBody>
                    <a:bodyPr/>
                    <a:lstStyle/>
                    <a:p>
                      <a:pPr algn="ctr"/>
                      <a:r>
                        <a:rPr sz="1100" b="0">
                          <a:solidFill>
                            <a:srgbClr val="E4E4E4"/>
                          </a:solidFill>
                          <a:latin typeface="Inter"/>
                        </a:rPr>
                        <a:t>1,880</a:t>
                      </a:r>
                    </a:p>
                  </a:txBody>
                  <a:tcPr marL="73152" marR="73152" marT="27432" marB="27432">
                    <a:solidFill>
                      <a:srgbClr val="181818"/>
                    </a:solidFill>
                  </a:tcPr>
                </a:tc>
                <a:tc>
                  <a:txBody>
                    <a:bodyPr/>
                    <a:lstStyle/>
                    <a:p>
                      <a:pPr algn="ctr"/>
                      <a:r>
                        <a:rPr sz="1100" b="0">
                          <a:solidFill>
                            <a:srgbClr val="E4E4E4"/>
                          </a:solidFill>
                          <a:latin typeface="Inter"/>
                        </a:rPr>
                        <a:t>15 GB</a:t>
                      </a:r>
                    </a:p>
                  </a:txBody>
                  <a:tcPr marL="73152" marR="73152" marT="27432" marB="27432">
                    <a:solidFill>
                      <a:srgbClr val="181818"/>
                    </a:solidFill>
                  </a:tcPr>
                </a:tc>
                <a:tc>
                  <a:txBody>
                    <a:bodyPr/>
                    <a:lstStyle/>
                    <a:p>
                      <a:pPr algn="ctr"/>
                      <a:r>
                        <a:rPr sz="1100" b="0">
                          <a:solidFill>
                            <a:srgbClr val="E4E4E4"/>
                          </a:solidFill>
                          <a:latin typeface="Inter"/>
                        </a:rPr>
                        <a:t>Everything in Access; priority response</a:t>
                      </a:r>
                    </a:p>
                  </a:txBody>
                  <a:tcPr marL="73152" marR="73152" marT="27432" marB="27432">
                    <a:solidFill>
                      <a:srgbClr val="181818"/>
                    </a:solidFill>
                  </a:tcPr>
                </a:tc>
                <a:extLst>
                  <a:ext uri="{0D108BD9-81ED-4DB2-BD59-A6C34878D82A}">
                    <a16:rowId xmlns:a16="http://schemas.microsoft.com/office/drawing/2014/main" val="10002"/>
                  </a:ext>
                </a:extLst>
              </a:tr>
              <a:tr h="521208">
                <a:tc>
                  <a:txBody>
                    <a:bodyPr/>
                    <a:lstStyle/>
                    <a:p>
                      <a:pPr algn="l"/>
                      <a:r>
                        <a:rPr sz="1100" b="0">
                          <a:solidFill>
                            <a:srgbClr val="E4E4E4"/>
                          </a:solidFill>
                          <a:latin typeface="Inter"/>
                        </a:rPr>
                        <a:t>Scholar</a:t>
                      </a:r>
                    </a:p>
                  </a:txBody>
                  <a:tcPr marL="73152" marR="73152" marT="27432" marB="27432">
                    <a:solidFill>
                      <a:srgbClr val="1D1D1D"/>
                    </a:solidFill>
                  </a:tcPr>
                </a:tc>
                <a:tc>
                  <a:txBody>
                    <a:bodyPr/>
                    <a:lstStyle/>
                    <a:p>
                      <a:pPr algn="ctr"/>
                      <a:r>
                        <a:rPr sz="1100" b="0">
                          <a:solidFill>
                            <a:srgbClr val="E4E4E4"/>
                          </a:solidFill>
                          <a:latin typeface="Inter"/>
                        </a:rPr>
                        <a:t>₹1,350</a:t>
                      </a:r>
                    </a:p>
                  </a:txBody>
                  <a:tcPr marL="73152" marR="73152" marT="27432" marB="27432">
                    <a:solidFill>
                      <a:srgbClr val="1D1D1D"/>
                    </a:solidFill>
                  </a:tcPr>
                </a:tc>
                <a:tc>
                  <a:txBody>
                    <a:bodyPr/>
                    <a:lstStyle/>
                    <a:p>
                      <a:pPr algn="ctr"/>
                      <a:r>
                        <a:rPr sz="1100" b="0">
                          <a:solidFill>
                            <a:srgbClr val="E4E4E4"/>
                          </a:solidFill>
                          <a:latin typeface="Inter"/>
                        </a:rPr>
                        <a:t>6,680</a:t>
                      </a:r>
                    </a:p>
                  </a:txBody>
                  <a:tcPr marL="73152" marR="73152" marT="27432" marB="27432">
                    <a:solidFill>
                      <a:srgbClr val="1D1D1D"/>
                    </a:solidFill>
                  </a:tcPr>
                </a:tc>
                <a:tc>
                  <a:txBody>
                    <a:bodyPr/>
                    <a:lstStyle/>
                    <a:p>
                      <a:pPr algn="ctr"/>
                      <a:r>
                        <a:rPr sz="1100" b="0">
                          <a:solidFill>
                            <a:srgbClr val="E4E4E4"/>
                          </a:solidFill>
                          <a:latin typeface="Inter"/>
                        </a:rPr>
                        <a:t>50 GB</a:t>
                      </a:r>
                    </a:p>
                  </a:txBody>
                  <a:tcPr marL="73152" marR="73152" marT="27432" marB="27432">
                    <a:solidFill>
                      <a:srgbClr val="1D1D1D"/>
                    </a:solidFill>
                  </a:tcPr>
                </a:tc>
                <a:tc>
                  <a:txBody>
                    <a:bodyPr/>
                    <a:lstStyle/>
                    <a:p>
                      <a:pPr algn="ctr"/>
                      <a:r>
                        <a:rPr sz="1100" b="0">
                          <a:solidFill>
                            <a:srgbClr val="E4E4E4"/>
                          </a:solidFill>
                          <a:latin typeface="Inter"/>
                        </a:rPr>
                        <a:t>Everything in Core; mastery tracking; custom study plans; experimental features</a:t>
                      </a:r>
                    </a:p>
                  </a:txBody>
                  <a:tcPr marL="73152" marR="73152" marT="27432" marB="27432">
                    <a:solidFill>
                      <a:srgbClr val="1D1D1D"/>
                    </a:solidFill>
                  </a:tcPr>
                </a:tc>
                <a:extLst>
                  <a:ext uri="{0D108BD9-81ED-4DB2-BD59-A6C34878D82A}">
                    <a16:rowId xmlns:a16="http://schemas.microsoft.com/office/drawing/2014/main" val="10003"/>
                  </a:ext>
                </a:extLst>
              </a:tr>
              <a:tr h="521208">
                <a:tc>
                  <a:txBody>
                    <a:bodyPr/>
                    <a:lstStyle/>
                    <a:p>
                      <a:pPr algn="l"/>
                      <a:r>
                        <a:rPr sz="1100" b="0">
                          <a:solidFill>
                            <a:srgbClr val="E4E4E4"/>
                          </a:solidFill>
                          <a:latin typeface="Inter"/>
                        </a:rPr>
                        <a:t>Coming next</a:t>
                      </a:r>
                    </a:p>
                  </a:txBody>
                  <a:tcPr marL="73152" marR="73152" marT="27432" marB="27432">
                    <a:solidFill>
                      <a:srgbClr val="181818"/>
                    </a:solidFill>
                  </a:tcPr>
                </a:tc>
                <a:tc>
                  <a:txBody>
                    <a:bodyPr/>
                    <a:lstStyle/>
                    <a:p>
                      <a:pPr algn="ctr"/>
                      <a:r>
                        <a:rPr sz="1100" b="0">
                          <a:solidFill>
                            <a:srgbClr val="E4E4E4"/>
                          </a:solidFill>
                          <a:latin typeface="Inter"/>
                        </a:rPr>
                        <a:t>Institutional / Enterprise</a:t>
                      </a:r>
                    </a:p>
                  </a:txBody>
                  <a:tcPr marL="73152" marR="73152" marT="27432" marB="27432">
                    <a:solidFill>
                      <a:srgbClr val="181818"/>
                    </a:solidFill>
                  </a:tcPr>
                </a:tc>
                <a:tc>
                  <a:txBody>
                    <a:bodyPr/>
                    <a:lstStyle/>
                    <a:p>
                      <a:pPr algn="ctr"/>
                      <a:r>
                        <a:rPr sz="1100" b="0">
                          <a:solidFill>
                            <a:srgbClr val="E4E4E4"/>
                          </a:solidFill>
                          <a:latin typeface="Inter"/>
                        </a:rPr>
                        <a:t>—</a:t>
                      </a:r>
                    </a:p>
                  </a:txBody>
                  <a:tcPr marL="73152" marR="73152" marT="27432" marB="27432">
                    <a:solidFill>
                      <a:srgbClr val="181818"/>
                    </a:solidFill>
                  </a:tcPr>
                </a:tc>
                <a:tc>
                  <a:txBody>
                    <a:bodyPr/>
                    <a:lstStyle/>
                    <a:p>
                      <a:pPr algn="ctr"/>
                      <a:r>
                        <a:rPr sz="1100" b="0">
                          <a:solidFill>
                            <a:srgbClr val="E4E4E4"/>
                          </a:solidFill>
                          <a:latin typeface="Inter"/>
                        </a:rPr>
                        <a:t>—</a:t>
                      </a:r>
                    </a:p>
                  </a:txBody>
                  <a:tcPr marL="73152" marR="73152" marT="27432" marB="27432">
                    <a:solidFill>
                      <a:srgbClr val="181818"/>
                    </a:solidFill>
                  </a:tcPr>
                </a:tc>
                <a:tc>
                  <a:txBody>
                    <a:bodyPr/>
                    <a:lstStyle/>
                    <a:p>
                      <a:pPr algn="ctr"/>
                      <a:r>
                        <a:rPr sz="1100" b="0">
                          <a:solidFill>
                            <a:srgbClr val="E4E4E4"/>
                          </a:solidFill>
                          <a:latin typeface="Inter"/>
                        </a:rPr>
                        <a:t>University workspaces; institutional knowledge; admin and educator tools</a:t>
                      </a:r>
                    </a:p>
                  </a:txBody>
                  <a:tcPr marL="73152" marR="73152" marT="27432" marB="27432">
                    <a:solidFill>
                      <a:srgbClr val="181818"/>
                    </a:solidFill>
                  </a:tcPr>
                </a:tc>
                <a:extLst>
                  <a:ext uri="{0D108BD9-81ED-4DB2-BD59-A6C34878D82A}">
                    <a16:rowId xmlns:a16="http://schemas.microsoft.com/office/drawing/2014/main" val="10004"/>
                  </a:ext>
                </a:extLst>
              </a:tr>
            </a:tbl>
          </a:graphicData>
        </a:graphic>
      </p:graphicFrame>
      <p:cxnSp>
        <p:nvCxnSpPr>
          <p:cNvPr id="10" name="Connector 9"/>
          <p:cNvCxnSpPr/>
          <p:nvPr/>
        </p:nvCxnSpPr>
        <p:spPr>
          <a:xfrm>
            <a:off x="777240" y="5174844"/>
            <a:ext cx="10698480" cy="0"/>
          </a:xfrm>
          <a:prstGeom prst="line">
            <a:avLst/>
          </a:prstGeom>
          <a:ln w="12700">
            <a:solidFill>
              <a:srgbClr val="343434"/>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051560" y="5376012"/>
            <a:ext cx="1645920" cy="182880"/>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Validation question</a:t>
            </a:r>
          </a:p>
        </p:txBody>
      </p:sp>
      <p:sp>
        <p:nvSpPr>
          <p:cNvPr id="12" name="TextBox 11"/>
          <p:cNvSpPr txBox="1"/>
          <p:nvPr/>
        </p:nvSpPr>
        <p:spPr>
          <a:xfrm>
            <a:off x="2926080" y="5330292"/>
            <a:ext cx="8138160" cy="274320"/>
          </a:xfrm>
          <a:prstGeom prst="rect">
            <a:avLst/>
          </a:prstGeom>
          <a:noFill/>
        </p:spPr>
        <p:txBody>
          <a:bodyPr wrap="square" lIns="0" tIns="0" rIns="0" bIns="0" anchor="t">
            <a:spAutoFit/>
          </a:bodyPr>
          <a:lstStyle/>
          <a:p>
            <a:pPr algn="l">
              <a:spcBef>
                <a:spcPts val="0"/>
              </a:spcBef>
              <a:spcAft>
                <a:spcPts val="0"/>
              </a:spcAft>
            </a:pPr>
            <a:r>
              <a:rPr sz="1500" b="1" i="0">
                <a:solidFill>
                  <a:srgbClr val="E4E4E4"/>
                </a:solidFill>
                <a:latin typeface="Inter"/>
              </a:rPr>
              <a:t>Which workflow creates enough repeated value for students to pay — and for institutions to pilot?</a:t>
            </a:r>
          </a:p>
        </p:txBody>
      </p:sp>
      <p:cxnSp>
        <p:nvCxnSpPr>
          <p:cNvPr id="13" name="Connector 12"/>
          <p:cNvCxnSpPr/>
          <p:nvPr/>
        </p:nvCxnSpPr>
        <p:spPr>
          <a:xfrm>
            <a:off x="594360" y="6464808"/>
            <a:ext cx="11002975"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94360" y="6574536"/>
            <a:ext cx="3474720" cy="146304"/>
          </a:xfrm>
          <a:prstGeom prst="rect">
            <a:avLst/>
          </a:prstGeom>
          <a:noFill/>
        </p:spPr>
        <p:txBody>
          <a:bodyPr wrap="square" lIns="0" tIns="0" rIns="0" bIns="0" anchor="t">
            <a:spAutoFit/>
          </a:bodyPr>
          <a:lstStyle/>
          <a:p>
            <a:pPr algn="l">
              <a:spcBef>
                <a:spcPts val="0"/>
              </a:spcBef>
              <a:spcAft>
                <a:spcPts val="0"/>
              </a:spcAft>
            </a:pPr>
            <a:r>
              <a:rPr sz="850" b="0" i="0">
                <a:solidFill>
                  <a:srgbClr val="6E6E6E"/>
                </a:solidFill>
                <a:latin typeface="Cascadia Mono"/>
              </a:rPr>
              <a:t>Appendix / pricing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3"/>
          <a:stretch>
            <a:fillRect/>
          </a:stretch>
        </p:blipFill>
        <p:spPr>
          <a:xfrm>
            <a:off x="594360" y="256032"/>
            <a:ext cx="210312" cy="210312"/>
          </a:xfrm>
          <a:prstGeom prst="rect">
            <a:avLst/>
          </a:prstGeom>
        </p:spPr>
      </p:pic>
      <p:sp>
        <p:nvSpPr>
          <p:cNvPr id="4" name="TextBox 3"/>
          <p:cNvSpPr txBox="1"/>
          <p:nvPr/>
        </p:nvSpPr>
        <p:spPr>
          <a:xfrm>
            <a:off x="877824" y="237744"/>
            <a:ext cx="822960" cy="237744"/>
          </a:xfrm>
          <a:prstGeom prst="rect">
            <a:avLst/>
          </a:prstGeom>
          <a:noFill/>
        </p:spPr>
        <p:txBody>
          <a:bodyPr wrap="square" lIns="0" tIns="0" rIns="0" bIns="0" anchor="ctr">
            <a:spAutoFit/>
          </a:bodyPr>
          <a:lstStyle/>
          <a:p>
            <a:pPr algn="l">
              <a:spcBef>
                <a:spcPts val="0"/>
              </a:spcBef>
              <a:spcAft>
                <a:spcPts val="0"/>
              </a:spcAft>
            </a:pPr>
            <a:r>
              <a:rPr sz="1100" b="1" i="0">
                <a:solidFill>
                  <a:srgbClr val="E4E4E4"/>
                </a:solidFill>
                <a:latin typeface="Inter"/>
              </a:rPr>
              <a:t>Avenire</a:t>
            </a:r>
          </a:p>
        </p:txBody>
      </p:sp>
      <p:sp>
        <p:nvSpPr>
          <p:cNvPr id="5" name="TextBox 4"/>
          <p:cNvSpPr txBox="1"/>
          <p:nvPr/>
        </p:nvSpPr>
        <p:spPr>
          <a:xfrm>
            <a:off x="11277295" y="265176"/>
            <a:ext cx="320040" cy="182880"/>
          </a:xfrm>
          <a:prstGeom prst="rect">
            <a:avLst/>
          </a:prstGeom>
          <a:noFill/>
        </p:spPr>
        <p:txBody>
          <a:bodyPr wrap="square" lIns="0" tIns="0" rIns="0" bIns="0" anchor="t">
            <a:spAutoFit/>
          </a:bodyPr>
          <a:lstStyle/>
          <a:p>
            <a:pPr algn="r">
              <a:spcBef>
                <a:spcPts val="0"/>
              </a:spcBef>
              <a:spcAft>
                <a:spcPts val="0"/>
              </a:spcAft>
            </a:pPr>
            <a:r>
              <a:rPr sz="900" b="0" i="0">
                <a:solidFill>
                  <a:srgbClr val="6E6E6E"/>
                </a:solidFill>
                <a:latin typeface="Cascadia Mono"/>
              </a:rPr>
              <a:t>21</a:t>
            </a:r>
          </a:p>
        </p:txBody>
      </p:sp>
      <p:sp>
        <p:nvSpPr>
          <p:cNvPr id="6" name="TextBox 5"/>
          <p:cNvSpPr txBox="1"/>
          <p:nvPr/>
        </p:nvSpPr>
        <p:spPr>
          <a:xfrm>
            <a:off x="594360" y="749808"/>
            <a:ext cx="5303520" cy="201168"/>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APPENDIX E / RESEARCH</a:t>
            </a:r>
          </a:p>
        </p:txBody>
      </p:sp>
      <p:sp>
        <p:nvSpPr>
          <p:cNvPr id="7" name="TextBox 6"/>
          <p:cNvSpPr txBox="1"/>
          <p:nvPr/>
        </p:nvSpPr>
        <p:spPr>
          <a:xfrm>
            <a:off x="594360" y="1005840"/>
            <a:ext cx="10789920" cy="640080"/>
          </a:xfrm>
          <a:prstGeom prst="rect">
            <a:avLst/>
          </a:prstGeom>
          <a:noFill/>
        </p:spPr>
        <p:txBody>
          <a:bodyPr wrap="square" lIns="0" tIns="0" rIns="0" bIns="0" anchor="t">
            <a:spAutoFit/>
          </a:bodyPr>
          <a:lstStyle/>
          <a:p>
            <a:pPr algn="l">
              <a:spcBef>
                <a:spcPts val="0"/>
              </a:spcBef>
              <a:spcAft>
                <a:spcPts val="0"/>
              </a:spcAft>
            </a:pPr>
            <a:r>
              <a:rPr sz="3000" b="1" i="0">
                <a:solidFill>
                  <a:srgbClr val="E4E4E4"/>
                </a:solidFill>
                <a:latin typeface="Inter"/>
              </a:rPr>
              <a:t>Separating topic overlap from misconception.</a:t>
            </a:r>
          </a:p>
        </p:txBody>
      </p:sp>
      <p:sp>
        <p:nvSpPr>
          <p:cNvPr id="8" name="TextBox 7"/>
          <p:cNvSpPr txBox="1"/>
          <p:nvPr/>
        </p:nvSpPr>
        <p:spPr>
          <a:xfrm>
            <a:off x="594360" y="1691640"/>
            <a:ext cx="9692640" cy="384048"/>
          </a:xfrm>
          <a:prstGeom prst="rect">
            <a:avLst/>
          </a:prstGeom>
          <a:noFill/>
        </p:spPr>
        <p:txBody>
          <a:bodyPr wrap="square" lIns="0" tIns="0" rIns="0" bIns="0" anchor="t">
            <a:spAutoFit/>
          </a:bodyPr>
          <a:lstStyle/>
          <a:p>
            <a:pPr algn="l">
              <a:spcBef>
                <a:spcPts val="0"/>
              </a:spcBef>
              <a:spcAft>
                <a:spcPts val="0"/>
              </a:spcAft>
            </a:pPr>
            <a:r>
              <a:rPr sz="1400" b="0" i="0">
                <a:solidFill>
                  <a:srgbClr val="9C9C9C"/>
                </a:solidFill>
                <a:latin typeface="Inter"/>
              </a:rPr>
              <a:t>A proposed direction for the misconception engine — research in progress, not a shipped claim.</a:t>
            </a:r>
          </a:p>
        </p:txBody>
      </p:sp>
      <p:cxnSp>
        <p:nvCxnSpPr>
          <p:cNvPr id="9" name="Connector 8"/>
          <p:cNvCxnSpPr/>
          <p:nvPr/>
        </p:nvCxnSpPr>
        <p:spPr>
          <a:xfrm>
            <a:off x="1143000" y="5166360"/>
            <a:ext cx="4937760" cy="0"/>
          </a:xfrm>
          <a:prstGeom prst="line">
            <a:avLst/>
          </a:prstGeom>
          <a:ln w="12700">
            <a:solidFill>
              <a:srgbClr val="34343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43000" y="2423160"/>
            <a:ext cx="0" cy="2743200"/>
          </a:xfrm>
          <a:prstGeom prst="line">
            <a:avLst/>
          </a:prstGeom>
          <a:ln w="12700">
            <a:solidFill>
              <a:srgbClr val="343434"/>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434840" y="5321808"/>
            <a:ext cx="1554480" cy="182880"/>
          </a:xfrm>
          <a:prstGeom prst="rect">
            <a:avLst/>
          </a:prstGeom>
          <a:noFill/>
        </p:spPr>
        <p:txBody>
          <a:bodyPr wrap="square" lIns="0" tIns="0" rIns="0" bIns="0" anchor="t">
            <a:spAutoFit/>
          </a:bodyPr>
          <a:lstStyle/>
          <a:p>
            <a:pPr algn="r">
              <a:spcBef>
                <a:spcPts val="0"/>
              </a:spcBef>
              <a:spcAft>
                <a:spcPts val="0"/>
              </a:spcAft>
            </a:pPr>
            <a:r>
              <a:rPr sz="950" b="0" i="0">
                <a:solidFill>
                  <a:srgbClr val="6E6E6E"/>
                </a:solidFill>
                <a:latin typeface="Cascadia Mono"/>
              </a:rPr>
              <a:t>topic familiarity</a:t>
            </a:r>
          </a:p>
        </p:txBody>
      </p:sp>
      <p:sp>
        <p:nvSpPr>
          <p:cNvPr id="12" name="TextBox 11"/>
          <p:cNvSpPr txBox="1"/>
          <p:nvPr/>
        </p:nvSpPr>
        <p:spPr>
          <a:xfrm>
            <a:off x="731520" y="2331720"/>
            <a:ext cx="1280160" cy="182880"/>
          </a:xfrm>
          <a:prstGeom prst="rect">
            <a:avLst/>
          </a:prstGeom>
          <a:noFill/>
        </p:spPr>
        <p:txBody>
          <a:bodyPr wrap="square" lIns="0" tIns="0" rIns="0" bIns="0" anchor="t">
            <a:spAutoFit/>
          </a:bodyPr>
          <a:lstStyle/>
          <a:p>
            <a:pPr algn="l">
              <a:spcBef>
                <a:spcPts val="0"/>
              </a:spcBef>
              <a:spcAft>
                <a:spcPts val="0"/>
              </a:spcAft>
            </a:pPr>
            <a:r>
              <a:rPr sz="950" b="0" i="0">
                <a:solidFill>
                  <a:srgbClr val="6E6E6E"/>
                </a:solidFill>
                <a:latin typeface="Cascadia Mono"/>
              </a:rPr>
              <a:t>belief signal</a:t>
            </a:r>
          </a:p>
        </p:txBody>
      </p:sp>
      <p:cxnSp>
        <p:nvCxnSpPr>
          <p:cNvPr id="13" name="Connector 12"/>
          <p:cNvCxnSpPr/>
          <p:nvPr/>
        </p:nvCxnSpPr>
        <p:spPr>
          <a:xfrm flipV="1">
            <a:off x="1143000" y="4297680"/>
            <a:ext cx="3429000" cy="868680"/>
          </a:xfrm>
          <a:prstGeom prst="line">
            <a:avLst/>
          </a:prstGeom>
          <a:ln w="20320">
            <a:solidFill>
              <a:srgbClr val="78C4D5"/>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143000" y="3063240"/>
            <a:ext cx="3017520" cy="2103120"/>
          </a:xfrm>
          <a:prstGeom prst="line">
            <a:avLst/>
          </a:prstGeom>
          <a:ln w="25400">
            <a:solidFill>
              <a:srgbClr val="F0A873"/>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143000" y="2743200"/>
            <a:ext cx="4343400" cy="2423160"/>
          </a:xfrm>
          <a:prstGeom prst="line">
            <a:avLst/>
          </a:prstGeom>
          <a:ln w="25400">
            <a:solidFill>
              <a:srgbClr val="ED84BD"/>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4453128" y="4221938"/>
            <a:ext cx="164592" cy="164592"/>
          </a:xfrm>
          <a:prstGeom prst="ellipse">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7" name="Oval 16"/>
          <p:cNvSpPr/>
          <p:nvPr/>
        </p:nvSpPr>
        <p:spPr>
          <a:xfrm>
            <a:off x="4049758" y="3012948"/>
            <a:ext cx="164592" cy="164592"/>
          </a:xfrm>
          <a:prstGeom prst="ellipse">
            <a:avLst/>
          </a:prstGeom>
          <a:solidFill>
            <a:srgbClr val="F0A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5326380" y="2718270"/>
            <a:ext cx="164592" cy="164592"/>
          </a:xfrm>
          <a:prstGeom prst="ellipse">
            <a:avLst/>
          </a:prstGeom>
          <a:solidFill>
            <a:srgbClr val="ED84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9" name="TextBox 18"/>
          <p:cNvSpPr txBox="1"/>
          <p:nvPr/>
        </p:nvSpPr>
        <p:spPr>
          <a:xfrm>
            <a:off x="4663440" y="4096512"/>
            <a:ext cx="1325880" cy="182880"/>
          </a:xfrm>
          <a:prstGeom prst="rect">
            <a:avLst/>
          </a:prstGeom>
          <a:noFill/>
        </p:spPr>
        <p:txBody>
          <a:bodyPr wrap="square" lIns="0" tIns="0" rIns="0" bIns="0" anchor="t">
            <a:spAutoFit/>
          </a:bodyPr>
          <a:lstStyle/>
          <a:p>
            <a:pPr algn="l">
              <a:spcBef>
                <a:spcPts val="0"/>
              </a:spcBef>
              <a:spcAft>
                <a:spcPts val="0"/>
              </a:spcAft>
            </a:pPr>
            <a:r>
              <a:rPr sz="1050" b="0" i="0">
                <a:solidFill>
                  <a:srgbClr val="78C4D5"/>
                </a:solidFill>
                <a:latin typeface="Inter"/>
              </a:rPr>
              <a:t>topic-only question</a:t>
            </a:r>
          </a:p>
        </p:txBody>
      </p:sp>
      <p:sp>
        <p:nvSpPr>
          <p:cNvPr id="20" name="TextBox 19"/>
          <p:cNvSpPr txBox="1"/>
          <p:nvPr/>
        </p:nvSpPr>
        <p:spPr>
          <a:xfrm>
            <a:off x="3749039" y="2743200"/>
            <a:ext cx="1417320" cy="182880"/>
          </a:xfrm>
          <a:prstGeom prst="rect">
            <a:avLst/>
          </a:prstGeom>
          <a:noFill/>
        </p:spPr>
        <p:txBody>
          <a:bodyPr wrap="square" lIns="0" tIns="0" rIns="0" bIns="0" anchor="t">
            <a:spAutoFit/>
          </a:bodyPr>
          <a:lstStyle/>
          <a:p>
            <a:pPr algn="r">
              <a:spcBef>
                <a:spcPts val="0"/>
              </a:spcBef>
              <a:spcAft>
                <a:spcPts val="0"/>
              </a:spcAft>
            </a:pPr>
            <a:r>
              <a:rPr sz="1050" b="0" i="0">
                <a:solidFill>
                  <a:srgbClr val="F0A873"/>
                </a:solidFill>
                <a:latin typeface="Inter"/>
              </a:rPr>
              <a:t>known wrong belief</a:t>
            </a:r>
          </a:p>
        </p:txBody>
      </p:sp>
      <p:sp>
        <p:nvSpPr>
          <p:cNvPr id="21" name="TextBox 20"/>
          <p:cNvSpPr txBox="1"/>
          <p:nvPr/>
        </p:nvSpPr>
        <p:spPr>
          <a:xfrm>
            <a:off x="5468112" y="2423160"/>
            <a:ext cx="1188720" cy="182880"/>
          </a:xfrm>
          <a:prstGeom prst="rect">
            <a:avLst/>
          </a:prstGeom>
          <a:noFill/>
        </p:spPr>
        <p:txBody>
          <a:bodyPr wrap="square" lIns="0" tIns="0" rIns="0" bIns="0" anchor="t">
            <a:spAutoFit/>
          </a:bodyPr>
          <a:lstStyle/>
          <a:p>
            <a:pPr algn="l">
              <a:spcBef>
                <a:spcPts val="0"/>
              </a:spcBef>
              <a:spcAft>
                <a:spcPts val="0"/>
              </a:spcAft>
            </a:pPr>
            <a:r>
              <a:rPr sz="1050" b="0" i="0">
                <a:solidFill>
                  <a:srgbClr val="ED84BD"/>
                </a:solidFill>
                <a:latin typeface="Inter"/>
              </a:rPr>
              <a:t>novel confusion</a:t>
            </a:r>
          </a:p>
        </p:txBody>
      </p:sp>
      <p:sp>
        <p:nvSpPr>
          <p:cNvPr id="22" name="TextBox 21"/>
          <p:cNvSpPr txBox="1"/>
          <p:nvPr/>
        </p:nvSpPr>
        <p:spPr>
          <a:xfrm>
            <a:off x="1143000" y="5623560"/>
            <a:ext cx="2926080" cy="182880"/>
          </a:xfrm>
          <a:prstGeom prst="rect">
            <a:avLst/>
          </a:prstGeom>
          <a:noFill/>
        </p:spPr>
        <p:txBody>
          <a:bodyPr wrap="square" lIns="0" tIns="0" rIns="0" bIns="0" anchor="t">
            <a:spAutoFit/>
          </a:bodyPr>
          <a:lstStyle/>
          <a:p>
            <a:pPr algn="l">
              <a:spcBef>
                <a:spcPts val="0"/>
              </a:spcBef>
              <a:spcAft>
                <a:spcPts val="0"/>
              </a:spcAft>
            </a:pPr>
            <a:r>
              <a:rPr sz="1100" b="0" i="0">
                <a:solidFill>
                  <a:srgbClr val="F0A873"/>
                </a:solidFill>
                <a:latin typeface="Cascadia Mono"/>
              </a:rPr>
              <a:t>δmis = full_emb − topic_emb</a:t>
            </a:r>
          </a:p>
        </p:txBody>
      </p:sp>
      <p:cxnSp>
        <p:nvCxnSpPr>
          <p:cNvPr id="23" name="Connector 22"/>
          <p:cNvCxnSpPr/>
          <p:nvPr/>
        </p:nvCxnSpPr>
        <p:spPr>
          <a:xfrm>
            <a:off x="7360920" y="2011680"/>
            <a:ext cx="0" cy="3703320"/>
          </a:xfrm>
          <a:prstGeom prst="line">
            <a:avLst/>
          </a:prstGeom>
          <a:ln w="12700">
            <a:solidFill>
              <a:srgbClr val="34343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726679" y="2148840"/>
            <a:ext cx="3200401" cy="0"/>
          </a:xfrm>
          <a:prstGeom prst="line">
            <a:avLst/>
          </a:prstGeom>
          <a:ln w="19050">
            <a:solidFill>
              <a:srgbClr val="ABC4FF"/>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726679" y="2304288"/>
            <a:ext cx="2743200" cy="210312"/>
          </a:xfrm>
          <a:prstGeom prst="rect">
            <a:avLst/>
          </a:prstGeom>
          <a:noFill/>
        </p:spPr>
        <p:txBody>
          <a:bodyPr wrap="square" lIns="0" tIns="0" rIns="0" bIns="0" anchor="t">
            <a:spAutoFit/>
          </a:bodyPr>
          <a:lstStyle/>
          <a:p>
            <a:pPr algn="l">
              <a:spcBef>
                <a:spcPts val="0"/>
              </a:spcBef>
              <a:spcAft>
                <a:spcPts val="0"/>
              </a:spcAft>
            </a:pPr>
            <a:r>
              <a:rPr sz="1400" b="1" i="0">
                <a:solidFill>
                  <a:srgbClr val="ABC4FF"/>
                </a:solidFill>
                <a:latin typeface="Inter"/>
              </a:rPr>
              <a:t>Current system</a:t>
            </a:r>
          </a:p>
        </p:txBody>
      </p:sp>
      <p:sp>
        <p:nvSpPr>
          <p:cNvPr id="26" name="TextBox 25"/>
          <p:cNvSpPr txBox="1"/>
          <p:nvPr/>
        </p:nvSpPr>
        <p:spPr>
          <a:xfrm>
            <a:off x="7726679" y="2587752"/>
            <a:ext cx="3337560" cy="365760"/>
          </a:xfrm>
          <a:prstGeom prst="rect">
            <a:avLst/>
          </a:prstGeom>
          <a:noFill/>
        </p:spPr>
        <p:txBody>
          <a:bodyPr wrap="square" lIns="0" tIns="0" rIns="0" bIns="0" anchor="t">
            <a:spAutoFit/>
          </a:bodyPr>
          <a:lstStyle/>
          <a:p>
            <a:pPr algn="l">
              <a:spcBef>
                <a:spcPts val="0"/>
              </a:spcBef>
              <a:spcAft>
                <a:spcPts val="0"/>
              </a:spcAft>
            </a:pPr>
            <a:r>
              <a:rPr sz="1050" b="0" i="0">
                <a:solidFill>
                  <a:srgbClr val="9C9C9C"/>
                </a:solidFill>
                <a:latin typeface="Inter"/>
              </a:rPr>
              <a:t>Cosine prefilter over full records, then an online LLM classifier on borderline hits.</a:t>
            </a:r>
          </a:p>
        </p:txBody>
      </p:sp>
      <p:cxnSp>
        <p:nvCxnSpPr>
          <p:cNvPr id="27" name="Connector 26"/>
          <p:cNvCxnSpPr/>
          <p:nvPr/>
        </p:nvCxnSpPr>
        <p:spPr>
          <a:xfrm>
            <a:off x="7726679" y="3044952"/>
            <a:ext cx="3200401" cy="0"/>
          </a:xfrm>
          <a:prstGeom prst="line">
            <a:avLst/>
          </a:prstGeom>
          <a:ln w="19050">
            <a:solidFill>
              <a:srgbClr val="F0A873"/>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726679" y="3200400"/>
            <a:ext cx="2743200" cy="210312"/>
          </a:xfrm>
          <a:prstGeom prst="rect">
            <a:avLst/>
          </a:prstGeom>
          <a:noFill/>
        </p:spPr>
        <p:txBody>
          <a:bodyPr wrap="square" lIns="0" tIns="0" rIns="0" bIns="0" anchor="t">
            <a:spAutoFit/>
          </a:bodyPr>
          <a:lstStyle/>
          <a:p>
            <a:pPr algn="l">
              <a:spcBef>
                <a:spcPts val="0"/>
              </a:spcBef>
              <a:spcAft>
                <a:spcPts val="0"/>
              </a:spcAft>
            </a:pPr>
            <a:r>
              <a:rPr sz="1400" b="1" i="0">
                <a:solidFill>
                  <a:srgbClr val="F0A873"/>
                </a:solidFill>
                <a:latin typeface="Inter"/>
              </a:rPr>
              <a:t>Research direction</a:t>
            </a:r>
          </a:p>
        </p:txBody>
      </p:sp>
      <p:sp>
        <p:nvSpPr>
          <p:cNvPr id="29" name="TextBox 28"/>
          <p:cNvSpPr txBox="1"/>
          <p:nvPr/>
        </p:nvSpPr>
        <p:spPr>
          <a:xfrm>
            <a:off x="7726679" y="3483864"/>
            <a:ext cx="3337560" cy="365760"/>
          </a:xfrm>
          <a:prstGeom prst="rect">
            <a:avLst/>
          </a:prstGeom>
          <a:noFill/>
        </p:spPr>
        <p:txBody>
          <a:bodyPr wrap="square" lIns="0" tIns="0" rIns="0" bIns="0" anchor="t">
            <a:spAutoFit/>
          </a:bodyPr>
          <a:lstStyle/>
          <a:p>
            <a:pPr algn="l">
              <a:spcBef>
                <a:spcPts val="0"/>
              </a:spcBef>
              <a:spcAft>
                <a:spcPts val="0"/>
              </a:spcAft>
            </a:pPr>
            <a:r>
              <a:rPr sz="1050" b="0" i="0">
                <a:solidFill>
                  <a:srgbClr val="9C9C9C"/>
                </a:solidFill>
                <a:latin typeface="Inter"/>
              </a:rPr>
              <a:t>Store topic_emb and full_emb; cancel topic overlap and score the misconception delta.</a:t>
            </a:r>
          </a:p>
        </p:txBody>
      </p:sp>
      <p:cxnSp>
        <p:nvCxnSpPr>
          <p:cNvPr id="30" name="Connector 29"/>
          <p:cNvCxnSpPr/>
          <p:nvPr/>
        </p:nvCxnSpPr>
        <p:spPr>
          <a:xfrm>
            <a:off x="7726679" y="3941064"/>
            <a:ext cx="3200401" cy="0"/>
          </a:xfrm>
          <a:prstGeom prst="line">
            <a:avLst/>
          </a:prstGeom>
          <a:ln w="19050">
            <a:solidFill>
              <a:srgbClr val="ED84BD"/>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726679" y="4096512"/>
            <a:ext cx="2743200" cy="210312"/>
          </a:xfrm>
          <a:prstGeom prst="rect">
            <a:avLst/>
          </a:prstGeom>
          <a:noFill/>
        </p:spPr>
        <p:txBody>
          <a:bodyPr wrap="square" lIns="0" tIns="0" rIns="0" bIns="0" anchor="t">
            <a:spAutoFit/>
          </a:bodyPr>
          <a:lstStyle/>
          <a:p>
            <a:pPr algn="l">
              <a:spcBef>
                <a:spcPts val="0"/>
              </a:spcBef>
              <a:spcAft>
                <a:spcPts val="0"/>
              </a:spcAft>
            </a:pPr>
            <a:r>
              <a:rPr sz="1400" b="1" i="0">
                <a:solidFill>
                  <a:srgbClr val="ED84BD"/>
                </a:solidFill>
                <a:latin typeface="Inter"/>
              </a:rPr>
              <a:t>Novelty signal</a:t>
            </a:r>
          </a:p>
        </p:txBody>
      </p:sp>
      <p:sp>
        <p:nvSpPr>
          <p:cNvPr id="32" name="TextBox 31"/>
          <p:cNvSpPr txBox="1"/>
          <p:nvPr/>
        </p:nvSpPr>
        <p:spPr>
          <a:xfrm>
            <a:off x="7726679" y="4379976"/>
            <a:ext cx="3337560" cy="365760"/>
          </a:xfrm>
          <a:prstGeom prst="rect">
            <a:avLst/>
          </a:prstGeom>
          <a:noFill/>
        </p:spPr>
        <p:txBody>
          <a:bodyPr wrap="square" lIns="0" tIns="0" rIns="0" bIns="0" anchor="t">
            <a:spAutoFit/>
          </a:bodyPr>
          <a:lstStyle/>
          <a:p>
            <a:pPr algn="l">
              <a:spcBef>
                <a:spcPts val="0"/>
              </a:spcBef>
              <a:spcAft>
                <a:spcPts val="0"/>
              </a:spcAft>
            </a:pPr>
            <a:r>
              <a:rPr sz="1050" b="0" i="0">
                <a:solidFill>
                  <a:srgbClr val="9C9C9C"/>
                </a:solidFill>
                <a:latin typeface="Inter"/>
              </a:rPr>
              <a:t>Residual magnitude surfaces confusion that no known misconception explains.</a:t>
            </a:r>
          </a:p>
        </p:txBody>
      </p:sp>
      <p:cxnSp>
        <p:nvCxnSpPr>
          <p:cNvPr id="33" name="Connector 32"/>
          <p:cNvCxnSpPr/>
          <p:nvPr/>
        </p:nvCxnSpPr>
        <p:spPr>
          <a:xfrm>
            <a:off x="7726679" y="4837176"/>
            <a:ext cx="3200401" cy="0"/>
          </a:xfrm>
          <a:prstGeom prst="line">
            <a:avLst/>
          </a:prstGeom>
          <a:ln w="19050">
            <a:solidFill>
              <a:srgbClr val="78C4D5"/>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726679" y="4992624"/>
            <a:ext cx="2743200" cy="210312"/>
          </a:xfrm>
          <a:prstGeom prst="rect">
            <a:avLst/>
          </a:prstGeom>
          <a:noFill/>
        </p:spPr>
        <p:txBody>
          <a:bodyPr wrap="square" lIns="0" tIns="0" rIns="0" bIns="0" anchor="t">
            <a:spAutoFit/>
          </a:bodyPr>
          <a:lstStyle/>
          <a:p>
            <a:pPr algn="l">
              <a:spcBef>
                <a:spcPts val="0"/>
              </a:spcBef>
              <a:spcAft>
                <a:spcPts val="0"/>
              </a:spcAft>
            </a:pPr>
            <a:r>
              <a:rPr sz="1400" b="1" i="0">
                <a:solidFill>
                  <a:srgbClr val="78C4D5"/>
                </a:solidFill>
                <a:latin typeface="Inter"/>
              </a:rPr>
              <a:t>Why it matters</a:t>
            </a:r>
          </a:p>
        </p:txBody>
      </p:sp>
      <p:sp>
        <p:nvSpPr>
          <p:cNvPr id="35" name="TextBox 34"/>
          <p:cNvSpPr txBox="1"/>
          <p:nvPr/>
        </p:nvSpPr>
        <p:spPr>
          <a:xfrm>
            <a:off x="7726679" y="5276088"/>
            <a:ext cx="3337560" cy="365760"/>
          </a:xfrm>
          <a:prstGeom prst="rect">
            <a:avLst/>
          </a:prstGeom>
          <a:noFill/>
        </p:spPr>
        <p:txBody>
          <a:bodyPr wrap="square" lIns="0" tIns="0" rIns="0" bIns="0" anchor="t">
            <a:spAutoFit/>
          </a:bodyPr>
          <a:lstStyle/>
          <a:p>
            <a:pPr algn="l">
              <a:spcBef>
                <a:spcPts val="0"/>
              </a:spcBef>
              <a:spcAft>
                <a:spcPts val="0"/>
              </a:spcAft>
            </a:pPr>
            <a:r>
              <a:rPr sz="1050" b="0" i="0">
                <a:solidFill>
                  <a:srgbClr val="9C9C9C"/>
                </a:solidFill>
                <a:latin typeface="Inter"/>
              </a:rPr>
              <a:t>Reject topic bleed, reduce online classifier work, and send novel cases to post-hoc review instead of hallucinating mid-turn.</a:t>
            </a:r>
          </a:p>
        </p:txBody>
      </p:sp>
      <p:cxnSp>
        <p:nvCxnSpPr>
          <p:cNvPr id="36" name="Connector 35"/>
          <p:cNvCxnSpPr/>
          <p:nvPr/>
        </p:nvCxnSpPr>
        <p:spPr>
          <a:xfrm>
            <a:off x="594360" y="6464808"/>
            <a:ext cx="11002975"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94360" y="6574536"/>
            <a:ext cx="3474720" cy="146304"/>
          </a:xfrm>
          <a:prstGeom prst="rect">
            <a:avLst/>
          </a:prstGeom>
          <a:noFill/>
        </p:spPr>
        <p:txBody>
          <a:bodyPr wrap="square" lIns="0" tIns="0" rIns="0" bIns="0" anchor="t">
            <a:spAutoFit/>
          </a:bodyPr>
          <a:lstStyle/>
          <a:p>
            <a:pPr algn="l">
              <a:spcBef>
                <a:spcPts val="0"/>
              </a:spcBef>
              <a:spcAft>
                <a:spcPts val="0"/>
              </a:spcAft>
            </a:pPr>
            <a:r>
              <a:rPr sz="850" b="0" i="0">
                <a:solidFill>
                  <a:srgbClr val="6E6E6E"/>
                </a:solidFill>
                <a:latin typeface="Cascadia Mono"/>
              </a:rPr>
              <a:t>Appendix / misconception research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TotalTime>
  <Words>3331</Words>
  <Application>Microsoft Office PowerPoint</Application>
  <PresentationFormat>Widescreen</PresentationFormat>
  <Paragraphs>516</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Cascadia Mono</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Avenire — Learning that remembers</dc:title>
  <dc:subject>TBI incubation pitch deck</dc:subject>
  <dc:creator>Abhiram</dc:creator>
  <cp:keywords/>
  <dc:description>Editable PowerPoint deck. Charts are native shapes and the pricing appendix uses a real PowerPoint table.</dc:description>
  <cp:lastModifiedBy>damodara.abhiram@gmail.com</cp:lastModifiedBy>
  <cp:revision>10</cp:revision>
  <dcterms:created xsi:type="dcterms:W3CDTF">2013-01-27T09:14:16Z</dcterms:created>
  <dcterms:modified xsi:type="dcterms:W3CDTF">2026-08-09T19:43:21Z</dcterms:modified>
  <cp:category/>
</cp:coreProperties>
</file>