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15"/>
    <p:sldId id="270" r:id="rId16"/>
    <p:sldId id="271" r:id="rId17"/>
    <p:sldId id="272" r:id="rId18"/>
    <p:sldId id="273"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1414"/>
    <a:srgbClr val="ABC4FF"/>
    <a:srgbClr val="FF0000"/>
    <a:srgbClr val="78C4D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755"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47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Abhiram, and I'm building Avenire.</a:t>
            </a:r>
          </a:p>
          <a:p>
            <a:endParaRPr/>
          </a:p>
          <a:p>
            <a:r>
              <a:t>Avenire is an AI-native learning platform built around one simple idea: learning should remember.</a:t>
            </a:r>
          </a:p>
          <a:p>
            <a:endParaRPr/>
          </a:p>
          <a:p>
            <a:r>
              <a:t>Today, students have access to more information and AI tools than ever before, but the actual learning experience is still fragmented.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student might learn a topic from a lecture, look something up in a PDF, ask ChatGPT a question, make notes somewhere else, and later use a completely different app for flashcards.</a:t>
            </a:r>
          </a:p>
          <a:p>
            <a:endParaRPr/>
          </a:p>
          <a:p>
            <a:r>
              <a:t>Each of these tools solves one part of learning.</a:t>
            </a:r>
          </a:p>
          <a:p>
            <a:endParaRPr/>
          </a:p>
          <a:p>
            <a:r>
              <a:t>But none of them really knows what the student has learned, what they're struggling with, or what they should do next.</a:t>
            </a:r>
          </a:p>
          <a:p>
            <a:endParaRPr/>
          </a:p>
          <a:p>
            <a:r>
              <a:t>So every session starts with fragmented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most common learning failures is: I read this somewhere, but I forgot.</a:t>
            </a:r>
          </a:p>
          <a:p>
            <a:endParaRPr/>
          </a:p>
          <a:p>
            <a:r>
              <a:t>The student does not only lose the answer. They lose the source, the surrounding context and the path back to the idea.</a:t>
            </a:r>
          </a:p>
          <a:p>
            <a:endParaRPr/>
          </a:p>
          <a:p>
            <a:r>
              <a:t>That is why retrieval is central to Avenire. We combine multiple retrieval signals across PDFs, videos, notes, chats and other material, then rerank the evidence and use an evidence threshold so the system can abstain when it cannot support an answer.</a:t>
            </a:r>
          </a:p>
          <a:p>
            <a:endParaRPr/>
          </a:p>
          <a:p>
            <a:r>
              <a:t>The goal is not just to answer again. It is to reconnect the student with the context so the next interaction can become practice and memory.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Avenire.</a:t>
            </a:r>
          </a:p>
          <a:p>
            <a:endParaRPr/>
          </a:p>
          <a:p>
            <a:r>
              <a:t>We call the experience Conversational Learning.</a:t>
            </a:r>
          </a:p>
          <a:p>
            <a:endParaRPr/>
          </a:p>
          <a:p>
            <a:r>
              <a:t>A student can ask a question, explore an explanation, interact with a visualization, create notes, generate practice material and eventually review that concept again.</a:t>
            </a:r>
          </a:p>
          <a:p>
            <a:endParaRPr/>
          </a:p>
          <a:p>
            <a:r>
              <a:t>We have also been working out three learning actions that make the experience compound: visualizations for abstract concepts, spaced repetition for bringing concepts back at the right time, and a misconception engine that is currently being built to diagnose why an answer is wrong rather than only marking it wrong.</a:t>
            </a:r>
          </a:p>
          <a:p>
            <a:endParaRPr/>
          </a:p>
          <a:p>
            <a:r>
              <a:t>These aren't separate workflows. They're connected parts of the same learning process.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fundamental difference between Avenire and a generic AI assistant.</a:t>
            </a:r>
          </a:p>
          <a:p>
            <a:endParaRPr/>
          </a:p>
          <a:p>
            <a:r>
              <a:t>With a normal chatbot, I ask a question, get an answer, and move on.</a:t>
            </a:r>
          </a:p>
          <a:p>
            <a:endParaRPr/>
          </a:p>
          <a:p>
            <a:r>
              <a:t>With Avenire, that interaction can become part of my learning system. A conversation can become knowledge. Knowledge can become practice. Practice can become memory.</a:t>
            </a:r>
          </a:p>
          <a:p>
            <a:endParaRPr/>
          </a:p>
          <a:p>
            <a:r>
              <a:t>The next layer is what makes the loop useful over time: spaced repetition brings the right concept back when it is likely to be forgotten, while the misconception engine we are building will diagnose patterns in wrong answers.</a:t>
            </a:r>
          </a:p>
          <a:p>
            <a:endParaRPr/>
          </a:p>
          <a:p>
            <a:r>
              <a:t>And visualizations make abstract ideas something the student can manipulate, not only read about.</a:t>
            </a:r>
          </a:p>
          <a:p>
            <a:endParaRPr/>
          </a:p>
          <a:p>
            <a:r>
              <a:t>That is one continuous learning loop — with review that compounds.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product experience is powered by a learning intelligence layer we have been building underneath it.</a:t>
            </a:r>
          </a:p>
          <a:p>
            <a:endParaRPr/>
          </a:p>
          <a:p>
            <a:r>
              <a:t>Avenire can take PDFs, videos, images, web content and notes and turn them into searchable knowledge.</a:t>
            </a:r>
          </a:p>
          <a:p>
            <a:endParaRPr/>
          </a:p>
          <a:p>
            <a:r>
              <a:t>The retrieval work is deliberately multi-signal: semantic search for meaning, lexical and exact-match paths for names and formulas, fusion and reranking for evidence quality, and an abstention threshold when the evidence is not sufficient.</a:t>
            </a:r>
          </a:p>
          <a:p>
            <a:endParaRPr/>
          </a:p>
          <a:p>
            <a:r>
              <a:t>Our research work is about making that evidence path measurable across difficult slices such as cross-file, multi-hop, formula/chart, timestamp, paraphrase and unanswerable queries.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timing matters.</a:t>
            </a:r>
          </a:p>
          <a:p>
            <a:endParaRPr/>
          </a:p>
          <a:p>
            <a:r>
              <a:t>AI has made getting an explanation dramatically easier. A student can ask almost anything and get an answer in seconds.</a:t>
            </a:r>
          </a:p>
          <a:p>
            <a:endParaRPr/>
          </a:p>
          <a:p>
            <a:r>
              <a:t>But getting an answer isn't the same thing as learning.</a:t>
            </a:r>
          </a:p>
          <a:p>
            <a:endParaRPr/>
          </a:p>
          <a:p>
            <a:r>
              <a:t>The opportunity now is to build the layer that comes after the answer — understanding, practice, retention and personalization.</a:t>
            </a:r>
          </a:p>
          <a:p>
            <a:endParaRPr/>
          </a:p>
          <a:p>
            <a:r>
              <a:t>That's the space we want Avenire to own.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initial customer is the student — particularly university students who already learn across many different digital resources.</a:t>
            </a:r>
          </a:p>
          <a:p>
            <a:endParaRPr/>
          </a:p>
          <a:p>
            <a:r>
              <a:t>We start with a direct-to-student product because it gives us a short feedback loop and lets us understand learning behavior directly.</a:t>
            </a:r>
          </a:p>
          <a:p>
            <a:endParaRPr/>
          </a:p>
          <a:p>
            <a:r>
              <a:t>Once the product is proven, we see an institutional opportunity as well: universities and colleges can use Avenire as a layer across their existing learning material.</a:t>
            </a:r>
          </a:p>
          <a:p>
            <a:endParaRPr/>
          </a:p>
          <a:p>
            <a:r>
              <a:t>We're intentionally starting narrow rather than trying to sell to every learner on day one.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business model is straightforward.</a:t>
            </a:r>
          </a:p>
          <a:p>
            <a:endParaRPr/>
          </a:p>
          <a:p>
            <a:r>
              <a:t>We have a free tier to reduce adoption friction, a ₹450 monthly core plan for regular students, and a ₹1,350 plan for heavier users.</a:t>
            </a:r>
          </a:p>
          <a:p>
            <a:endParaRPr/>
          </a:p>
          <a:p>
            <a:r>
              <a:t>We are also working toward an institutional tier for universities and organizations.</a:t>
            </a:r>
          </a:p>
          <a:p>
            <a:endParaRPr/>
          </a:p>
          <a:p>
            <a:r>
              <a:t>At this stage, these are pricing hypotheses rather than proven unit economics. The next goal is validating willingness to pay with real users.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deliberately early.</a:t>
            </a:r>
          </a:p>
          <a:p>
            <a:endParaRPr/>
          </a:p>
          <a:p>
            <a:r>
              <a:t>We currently have a working product and a waitlist of around 50 people, but we don't have meaningful active usage or revenue yet.</a:t>
            </a:r>
          </a:p>
          <a:p>
            <a:endParaRPr/>
          </a:p>
          <a:p>
            <a:r>
              <a:t>So we don't want to present the waitlist as product-market fit.</a:t>
            </a:r>
          </a:p>
          <a:p>
            <a:endParaRPr/>
          </a:p>
          <a:p>
            <a:r>
              <a:t>This slide is intentionally a status path, not a performance chart: product working, waitlist 50+, active users pre-launch, and revenue pre-revenue.</a:t>
            </a:r>
          </a:p>
          <a:p>
            <a:endParaRPr/>
          </a:p>
          <a:p>
            <a:r>
              <a:t>Our next milestone is to get these first users into the product, measure retention, understand which workflows they actually use, and validate whether they'll pay for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roadmap follows the same progression.</a:t>
            </a:r>
          </a:p>
          <a:p>
            <a:endParaRPr/>
          </a:p>
          <a:p>
            <a:r>
              <a:t>First, we need to prove the core learning loop with individual students, including the misconception engine that is currently being built.</a:t>
            </a:r>
          </a:p>
          <a:p>
            <a:endParaRPr/>
          </a:p>
          <a:p>
            <a:r>
              <a:t>Then we deepen personalization: spaced repetition, mastery tracking, and understanding what a student knows, what they've forgotten and what they should work on next.</a:t>
            </a:r>
          </a:p>
          <a:p>
            <a:endParaRPr/>
          </a:p>
          <a:p>
            <a:r>
              <a:t>Finally, we take that system into institutions, where Avenire can sit across the learning material and workflows of an entire university.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building this from inside the problem.</a:t>
            </a:r>
          </a:p>
          <a:p>
            <a:endParaRPr/>
          </a:p>
          <a:p>
            <a:r>
              <a:t>We're students ourselves, so we experience the fragmented learning workflow we're trying to solve every day.</a:t>
            </a:r>
          </a:p>
          <a:p>
            <a:endParaRPr/>
          </a:p>
          <a:p>
            <a:r>
              <a:t>At the same time, we've already built the product and the underlying technology ourselves.</a:t>
            </a:r>
          </a:p>
          <a:p>
            <a:endParaRPr/>
          </a:p>
          <a:p>
            <a:r>
              <a:t>What we need now isn't another prototype. We need to turn what we've built into something students repeatedly use and eventually pay for.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we're approaching TBI.</a:t>
            </a:r>
          </a:p>
          <a:p>
            <a:endParaRPr/>
          </a:p>
          <a:p>
            <a:r>
              <a:t>We have the product foundation, but we're at the point where we need to validate the business.</a:t>
            </a:r>
          </a:p>
          <a:p>
            <a:endParaRPr/>
          </a:p>
          <a:p>
            <a:r>
              <a:t>We're looking for incubation, mentorship, access to the BITS ecosystem, and capital to help us move from a working product to our first real cohort of users and paying customers.</a:t>
            </a:r>
          </a:p>
          <a:p>
            <a:endParaRPr/>
          </a:p>
          <a:p>
            <a:r>
              <a:t>We want to use the BITS ecosystem itself as one of our earliest environments for testing and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This is the point where I would switch from the deck to the live product.</a:t>
            </a:r>
          </a:p>
          <a:p>
            <a:endParaRPr/>
          </a:p>
          <a:p>
            <a:r>
              <a:t>Show one or two interactive concepts — for example a double pendulum or a DNA double helix — and demonstrate that the student can manipulate the model, not just look at a static image.</a:t>
            </a:r>
          </a:p>
          <a:p>
            <a:endParaRPr/>
          </a:p>
          <a:p>
            <a:r>
              <a:t>The point is not visual polish by itself. The visualization is a learning action: it gives the student a mental model they can question, connect to notes and return to during review.</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the technical architecture behind the learning intelligence layer.</a:t>
            </a:r>
          </a:p>
          <a:p>
            <a:endParaRPr/>
          </a:p>
          <a:p>
            <a:r>
              <a:t>The key idea is not a list of vendor technologies. It is the path from raw content to a learning action a student can use.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retrieval evaluation across cross-file, multi-hop, formula/chart, timestamp, paraphrase and unanswerable slices.</a:t>
            </a:r>
          </a:p>
          <a:p>
            <a:endParaRPr/>
          </a:p>
          <a:p>
            <a:r>
              <a:t>These are engineering signals from small evaluation slices, not a claim that retrieval is solved or that the results generalize to every corpus.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learning memory and the next layer of the product.</a:t>
            </a:r>
          </a:p>
          <a:p>
            <a:endParaRPr/>
          </a:p>
          <a:p>
            <a:r>
              <a:t>Avenire is not only storing what a student learned. We are building toward modeling what they are likely to remember, what they are likely to forget, and when a concept should return for review.</a:t>
            </a:r>
          </a:p>
          <a:p>
            <a:endParaRPr/>
          </a:p>
          <a:p>
            <a:r>
              <a:t>Spaced repetition is the mechanism for timing that review. The misconception engine is being built to identify patterns in wrong answers. And interactive visualizations help students form a mental model before the review loop begins.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the full current pricing structure.</a:t>
            </a:r>
          </a:p>
          <a:p>
            <a:endParaRPr/>
          </a:p>
          <a:p>
            <a:r>
              <a:t>The important caveat is that these are pricing hypotheses, not proven unit economics. The next step is to put the plans in front of real users and learn which workflows create enough repeated value to pay for.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3"/>
          </p:nvPr>
        </p:nvSpPr>
        <p:spPr/>
        <p:txBody>
          <a:bodyPr/>
          <a:lstStyle/>
          <a:p>
            <a:r>
              <a:t>This is a research direction we are actively thinking through for the misconception engine.</a:t>
            </a:r>
          </a:p>
          <a:p>
            <a:endParaRPr/>
          </a:p>
          <a:p>
            <a:r>
              <a:t>The current approach embeds a full misconception record, uses cosine similarity to find candidates, and then calls an LLM classifier to decide whether the learner is actually expressing that misconception. The risk is topic bleed: a normal question about Newton's third law can look similar to a record about a specific wrong belief.</a:t>
            </a:r>
          </a:p>
          <a:p>
            <a:endParaRPr/>
          </a:p>
          <a:p>
            <a:r>
              <a:t>The proposed direction stores two anchors: a topic embedding and a full misconception embedding. Their difference gives a misconception delta direction. We can project away the topic component, score alignment with the delta, and use the residual magnitude as a novelty signal.</a:t>
            </a:r>
          </a:p>
          <a:p>
            <a:endParaRPr/>
          </a:p>
          <a:p>
            <a:r>
              <a:t>Known matches can be handled online. Novel or ambiguous cases can be flagged for post-hoc review, where the system can create a new record without hallucinating an intervention in the middle of the tutoring turn.</a:t>
            </a:r>
          </a:p>
          <a:p>
            <a:endParaRPr/>
          </a:p>
          <a:p>
            <a:r>
              <a:t>This is proposal-stage research, with thresholds and stability requirements still to be validated.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venire-logo-full.png"/>
          <p:cNvPicPr>
            <a:picLocks noChangeAspect="1"/>
          </p:cNvPicPr>
          <p:nvPr/>
        </p:nvPicPr>
        <p:blipFill>
          <a:blip r:embed="rId3"/>
          <a:stretch>
            <a:fillRect/>
          </a:stretch>
        </p:blipFill>
        <p:spPr>
          <a:xfrm>
            <a:off x="594360" y="3180721"/>
            <a:ext cx="530352" cy="530352"/>
          </a:xfrm>
          <a:prstGeom prst="rect">
            <a:avLst/>
          </a:prstGeom>
        </p:spPr>
      </p:pic>
      <p:sp>
        <p:nvSpPr>
          <p:cNvPr id="21" name="TextBox 20"/>
          <p:cNvSpPr txBox="1"/>
          <p:nvPr/>
        </p:nvSpPr>
        <p:spPr>
          <a:xfrm>
            <a:off x="1307592" y="3180721"/>
            <a:ext cx="2011680" cy="566928"/>
          </a:xfrm>
          <a:prstGeom prst="rect">
            <a:avLst/>
          </a:prstGeom>
          <a:noFill/>
        </p:spPr>
        <p:txBody>
          <a:bodyPr wrap="square" lIns="0" tIns="0" rIns="0" bIns="0" anchor="ctr">
            <a:spAutoFit/>
          </a:bodyPr>
          <a:lstStyle/>
          <a:p>
            <a:pPr algn="l">
              <a:spcBef>
                <a:spcPts val="0"/>
              </a:spcBef>
              <a:spcAft>
                <a:spcPts val="0"/>
              </a:spcAft>
            </a:pPr>
            <a:r>
              <a:rPr sz="3100" b="1" i="0" dirty="0" err="1">
                <a:solidFill>
                  <a:srgbClr val="F4F4F4"/>
                </a:solidFill>
                <a:latin typeface="Inter"/>
              </a:rPr>
              <a:t>Avenire</a:t>
            </a:r>
            <a:endParaRPr sz="3100" b="1" i="0" dirty="0">
              <a:solidFill>
                <a:srgbClr val="F4F4F4"/>
              </a:solidFill>
              <a:latin typeface="Inter"/>
            </a:endParaRPr>
          </a:p>
        </p:txBody>
      </p:sp>
      <p:sp>
        <p:nvSpPr>
          <p:cNvPr id="22" name="TextBox 21"/>
          <p:cNvSpPr txBox="1"/>
          <p:nvPr/>
        </p:nvSpPr>
        <p:spPr>
          <a:xfrm>
            <a:off x="594360" y="4129266"/>
            <a:ext cx="8046720" cy="603504"/>
          </a:xfrm>
          <a:prstGeom prst="rect">
            <a:avLst/>
          </a:prstGeom>
          <a:noFill/>
        </p:spPr>
        <p:txBody>
          <a:bodyPr wrap="square" lIns="0" tIns="0" rIns="0" bIns="0" anchor="t">
            <a:spAutoFit/>
          </a:bodyPr>
          <a:lstStyle/>
          <a:p>
            <a:pPr algn="l">
              <a:spcBef>
                <a:spcPts val="0"/>
              </a:spcBef>
              <a:spcAft>
                <a:spcPts val="0"/>
              </a:spcAft>
            </a:pPr>
            <a:r>
              <a:rPr sz="3200" b="1" i="0">
                <a:solidFill>
                  <a:srgbClr val="E4E4E4"/>
                </a:solidFill>
                <a:latin typeface="Inter"/>
              </a:rPr>
              <a:t>Learning that remembers.</a:t>
            </a:r>
          </a:p>
        </p:txBody>
      </p:sp>
      <p:sp>
        <p:nvSpPr>
          <p:cNvPr id="23" name="TextBox 22"/>
          <p:cNvSpPr txBox="1"/>
          <p:nvPr/>
        </p:nvSpPr>
        <p:spPr>
          <a:xfrm>
            <a:off x="594360" y="4872361"/>
            <a:ext cx="5852160" cy="365760"/>
          </a:xfrm>
          <a:prstGeom prst="rect">
            <a:avLst/>
          </a:prstGeom>
          <a:noFill/>
        </p:spPr>
        <p:txBody>
          <a:bodyPr wrap="square" lIns="0" tIns="0" rIns="0" bIns="0" anchor="t">
            <a:spAutoFit/>
          </a:bodyPr>
          <a:lstStyle/>
          <a:p>
            <a:pPr algn="l">
              <a:spcBef>
                <a:spcPts val="0"/>
              </a:spcBef>
              <a:spcAft>
                <a:spcPts val="0"/>
              </a:spcAft>
            </a:pPr>
            <a:r>
              <a:rPr sz="1600" b="0" i="0">
                <a:solidFill>
                  <a:srgbClr val="9C9C9C"/>
                </a:solidFill>
                <a:latin typeface="Inter"/>
              </a:rPr>
              <a:t>AI-native learning for students.</a:t>
            </a:r>
          </a:p>
        </p:txBody>
      </p:sp>
      <p:sp>
        <p:nvSpPr>
          <p:cNvPr id="24" name="TextBox 23"/>
          <p:cNvSpPr txBox="1"/>
          <p:nvPr/>
        </p:nvSpPr>
        <p:spPr>
          <a:xfrm>
            <a:off x="594360" y="6144768"/>
            <a:ext cx="5943600" cy="182880"/>
          </a:xfrm>
          <a:prstGeom prst="rect">
            <a:avLst/>
          </a:prstGeom>
          <a:noFill/>
        </p:spPr>
        <p:txBody>
          <a:bodyPr wrap="square" lIns="0" tIns="0" rIns="0" bIns="0" anchor="t">
            <a:spAutoFit/>
          </a:bodyPr>
          <a:lstStyle/>
          <a:p>
            <a:pPr algn="l">
              <a:spcBef>
                <a:spcPts val="0"/>
              </a:spcBef>
              <a:spcAft>
                <a:spcPts val="0"/>
              </a:spcAft>
            </a:pPr>
            <a:r>
              <a:rPr sz="1000" b="0" i="0">
                <a:solidFill>
                  <a:srgbClr val="6E6E6E"/>
                </a:solidFill>
                <a:latin typeface="Cascadia Mono"/>
              </a:rPr>
              <a:t>Abhiram — Founder | BITS Pilani, Hyderabad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02</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PROBLEM</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Learning is fragmented.</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Context is scattered across the tools students already use.</a:t>
            </a:r>
          </a:p>
        </p:txBody>
      </p:sp>
      <p:cxnSp>
        <p:nvCxnSpPr>
          <p:cNvPr id="9" name="Connector 8"/>
          <p:cNvCxnSpPr/>
          <p:nvPr/>
        </p:nvCxnSpPr>
        <p:spPr>
          <a:xfrm flipH="1" flipV="1">
            <a:off x="2514600" y="2586244"/>
            <a:ext cx="3474720" cy="731520"/>
          </a:xfrm>
          <a:prstGeom prst="line">
            <a:avLst/>
          </a:prstGeom>
          <a:ln w="17780">
            <a:solidFill>
              <a:srgbClr val="F0A87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965960" y="2357644"/>
            <a:ext cx="1463040" cy="502920"/>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12264" y="2478024"/>
            <a:ext cx="1243584" cy="219456"/>
          </a:xfrm>
          <a:prstGeom prst="rect">
            <a:avLst/>
          </a:prstGeom>
          <a:noFill/>
        </p:spPr>
        <p:txBody>
          <a:bodyPr wrap="square" lIns="0" tIns="0" rIns="0" bIns="0" anchor="ctr">
            <a:spAutoFit/>
          </a:bodyPr>
          <a:lstStyle/>
          <a:p>
            <a:pPr algn="ctr">
              <a:spcBef>
                <a:spcPts val="0"/>
              </a:spcBef>
              <a:spcAft>
                <a:spcPts val="0"/>
              </a:spcAft>
            </a:pPr>
            <a:r>
              <a:rPr sz="1200" b="1" i="0">
                <a:solidFill>
                  <a:srgbClr val="E4E4E4"/>
                </a:solidFill>
                <a:latin typeface="Inter"/>
              </a:rPr>
              <a:t>PDF</a:t>
            </a:r>
          </a:p>
        </p:txBody>
      </p:sp>
      <p:grpSp>
        <p:nvGrpSpPr>
          <p:cNvPr id="39" name="Group 38">
            <a:extLst>
              <a:ext uri="{FF2B5EF4-FFF2-40B4-BE49-F238E27FC236}">
                <a16:creationId xmlns:a16="http://schemas.microsoft.com/office/drawing/2014/main" id="{0AAE5348-BD50-E670-6B7A-3E26CF276676}"/>
              </a:ext>
            </a:extLst>
          </p:cNvPr>
          <p:cNvGrpSpPr/>
          <p:nvPr/>
        </p:nvGrpSpPr>
        <p:grpSpPr>
          <a:xfrm>
            <a:off x="2112264" y="2432304"/>
            <a:ext cx="256032" cy="310896"/>
            <a:chOff x="2075688" y="2467372"/>
            <a:chExt cx="256032" cy="310896"/>
          </a:xfrm>
        </p:grpSpPr>
        <p:sp>
          <p:nvSpPr>
            <p:cNvPr id="12" name="Rounded Rectangle 11"/>
            <p:cNvSpPr/>
            <p:nvPr/>
          </p:nvSpPr>
          <p:spPr>
            <a:xfrm>
              <a:off x="2075688" y="2467372"/>
              <a:ext cx="256032" cy="310896"/>
            </a:xfrm>
            <a:prstGeom prst="roundRect">
              <a:avLst/>
            </a:prstGeom>
            <a:solidFill>
              <a:srgbClr val="222222"/>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2130552" y="2567956"/>
              <a:ext cx="146304" cy="0"/>
            </a:xfrm>
            <a:prstGeom prst="line">
              <a:avLst/>
            </a:prstGeom>
            <a:ln w="12700">
              <a:solidFill>
                <a:srgbClr val="F0A8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30552" y="2631964"/>
              <a:ext cx="118872" cy="0"/>
            </a:xfrm>
            <a:prstGeom prst="line">
              <a:avLst/>
            </a:prstGeom>
            <a:ln w="12700">
              <a:solidFill>
                <a:srgbClr val="F0A873"/>
              </a:solidFill>
            </a:ln>
          </p:spPr>
          <p:style>
            <a:lnRef idx="2">
              <a:schemeClr val="accent1"/>
            </a:lnRef>
            <a:fillRef idx="0">
              <a:schemeClr val="accent1"/>
            </a:fillRef>
            <a:effectRef idx="1">
              <a:schemeClr val="accent1"/>
            </a:effectRef>
            <a:fontRef idx="minor">
              <a:schemeClr val="tx1"/>
            </a:fontRef>
          </p:style>
        </p:cxnSp>
      </p:grpSp>
      <p:cxnSp>
        <p:nvCxnSpPr>
          <p:cNvPr id="15" name="Connector 14"/>
          <p:cNvCxnSpPr/>
          <p:nvPr/>
        </p:nvCxnSpPr>
        <p:spPr>
          <a:xfrm flipV="1">
            <a:off x="5989320" y="1763284"/>
            <a:ext cx="45720" cy="1554480"/>
          </a:xfrm>
          <a:prstGeom prst="line">
            <a:avLst/>
          </a:prstGeom>
          <a:ln w="17780">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486400" y="1534684"/>
            <a:ext cx="1463040" cy="502920"/>
          </a:xfrm>
          <a:prstGeom prst="rect">
            <a:avLst/>
          </a:prstGeom>
          <a:solidFill>
            <a:srgbClr val="1D1D1D"/>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5989320" y="2586244"/>
            <a:ext cx="3886199" cy="731520"/>
          </a:xfrm>
          <a:prstGeom prst="line">
            <a:avLst/>
          </a:prstGeom>
          <a:ln w="17780">
            <a:solidFill>
              <a:srgbClr val="78C4D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326880" y="2357644"/>
            <a:ext cx="1463040" cy="50292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5" name="Connector 24"/>
          <p:cNvCxnSpPr/>
          <p:nvPr/>
        </p:nvCxnSpPr>
        <p:spPr>
          <a:xfrm flipH="1">
            <a:off x="2880360" y="3317764"/>
            <a:ext cx="3108960" cy="132588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2331720" y="4415044"/>
            <a:ext cx="1463040" cy="502920"/>
          </a:xfrm>
          <a:prstGeom prst="rect">
            <a:avLst/>
          </a:prstGeom>
          <a:solidFill>
            <a:srgbClr val="1D1D1D"/>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Group 23">
            <a:extLst>
              <a:ext uri="{FF2B5EF4-FFF2-40B4-BE49-F238E27FC236}">
                <a16:creationId xmlns:a16="http://schemas.microsoft.com/office/drawing/2014/main" id="{DCC61D1F-2B43-B525-9699-A1AACBF4A8B4}"/>
              </a:ext>
            </a:extLst>
          </p:cNvPr>
          <p:cNvGrpSpPr/>
          <p:nvPr/>
        </p:nvGrpSpPr>
        <p:grpSpPr>
          <a:xfrm>
            <a:off x="2514600" y="4532983"/>
            <a:ext cx="1243584" cy="256032"/>
            <a:chOff x="2441448" y="4488196"/>
            <a:chExt cx="1243584" cy="256032"/>
          </a:xfrm>
        </p:grpSpPr>
        <p:sp>
          <p:nvSpPr>
            <p:cNvPr id="27" name="TextBox 26"/>
            <p:cNvSpPr txBox="1"/>
            <p:nvPr/>
          </p:nvSpPr>
          <p:spPr>
            <a:xfrm>
              <a:off x="2441448" y="4506484"/>
              <a:ext cx="1243584"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Notes</a:t>
              </a:r>
            </a:p>
          </p:txBody>
        </p:sp>
        <p:sp>
          <p:nvSpPr>
            <p:cNvPr id="28" name="Oval 27"/>
            <p:cNvSpPr/>
            <p:nvPr/>
          </p:nvSpPr>
          <p:spPr>
            <a:xfrm>
              <a:off x="2532888" y="4488196"/>
              <a:ext cx="256032" cy="256032"/>
            </a:xfrm>
            <a:prstGeom prst="ellipse">
              <a:avLst/>
            </a:prstGeom>
            <a:solidFill>
              <a:srgbClr val="222222"/>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29" name="Connector 28"/>
          <p:cNvCxnSpPr/>
          <p:nvPr/>
        </p:nvCxnSpPr>
        <p:spPr>
          <a:xfrm>
            <a:off x="5989320" y="3317764"/>
            <a:ext cx="3566160" cy="1325880"/>
          </a:xfrm>
          <a:prstGeom prst="line">
            <a:avLst/>
          </a:prstGeom>
          <a:ln w="17780">
            <a:solidFill>
              <a:srgbClr val="FFDC49"/>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006840" y="4415044"/>
            <a:ext cx="1463040" cy="502920"/>
          </a:xfrm>
          <a:prstGeom prst="rect">
            <a:avLst/>
          </a:prstGeom>
          <a:solidFill>
            <a:srgbClr val="1D1D1D"/>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Group 22">
            <a:extLst>
              <a:ext uri="{FF2B5EF4-FFF2-40B4-BE49-F238E27FC236}">
                <a16:creationId xmlns:a16="http://schemas.microsoft.com/office/drawing/2014/main" id="{01A1DB2A-E92F-0C95-5B61-696BA2A2EE09}"/>
              </a:ext>
            </a:extLst>
          </p:cNvPr>
          <p:cNvGrpSpPr/>
          <p:nvPr/>
        </p:nvGrpSpPr>
        <p:grpSpPr>
          <a:xfrm>
            <a:off x="9166918" y="4532983"/>
            <a:ext cx="1293935" cy="256032"/>
            <a:chOff x="9116567" y="4524772"/>
            <a:chExt cx="1293935" cy="256032"/>
          </a:xfrm>
        </p:grpSpPr>
        <p:sp>
          <p:nvSpPr>
            <p:cNvPr id="31" name="TextBox 30"/>
            <p:cNvSpPr txBox="1"/>
            <p:nvPr/>
          </p:nvSpPr>
          <p:spPr>
            <a:xfrm>
              <a:off x="9166918" y="4543060"/>
              <a:ext cx="1243584"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Flashcards</a:t>
              </a:r>
            </a:p>
          </p:txBody>
        </p:sp>
        <p:sp>
          <p:nvSpPr>
            <p:cNvPr id="32" name="Oval 31"/>
            <p:cNvSpPr/>
            <p:nvPr/>
          </p:nvSpPr>
          <p:spPr>
            <a:xfrm>
              <a:off x="9116567" y="4524772"/>
              <a:ext cx="256032" cy="256032"/>
            </a:xfrm>
            <a:prstGeom prst="ellipse">
              <a:avLst/>
            </a:prstGeom>
            <a:solidFill>
              <a:srgbClr val="222222"/>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3" name="Oval 32"/>
          <p:cNvSpPr/>
          <p:nvPr/>
        </p:nvSpPr>
        <p:spPr>
          <a:xfrm>
            <a:off x="5572088" y="2837273"/>
            <a:ext cx="903473" cy="903473"/>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141414"/>
                </a:solidFill>
              </a:rPr>
              <a:t>Student</a:t>
            </a:r>
            <a:endParaRPr sz="1000" dirty="0">
              <a:solidFill>
                <a:srgbClr val="141414"/>
              </a:solidFill>
            </a:endParaRPr>
          </a:p>
        </p:txBody>
      </p:sp>
      <p:sp>
        <p:nvSpPr>
          <p:cNvPr id="35" name="TextBox 34"/>
          <p:cNvSpPr txBox="1"/>
          <p:nvPr/>
        </p:nvSpPr>
        <p:spPr>
          <a:xfrm>
            <a:off x="594360" y="5786644"/>
            <a:ext cx="4754880" cy="310896"/>
          </a:xfrm>
          <a:prstGeom prst="rect">
            <a:avLst/>
          </a:prstGeom>
          <a:noFill/>
        </p:spPr>
        <p:txBody>
          <a:bodyPr wrap="square" lIns="0" tIns="0" rIns="0" bIns="0" anchor="t">
            <a:spAutoFit/>
          </a:bodyPr>
          <a:lstStyle/>
          <a:p>
            <a:pPr algn="l">
              <a:spcBef>
                <a:spcPts val="0"/>
              </a:spcBef>
              <a:spcAft>
                <a:spcPts val="0"/>
              </a:spcAft>
            </a:pPr>
            <a:r>
              <a:rPr sz="1900" b="1" i="0">
                <a:solidFill>
                  <a:srgbClr val="E4E4E4"/>
                </a:solidFill>
                <a:latin typeface="Inter"/>
              </a:rPr>
              <a:t>Every tool knows a piece.</a:t>
            </a:r>
          </a:p>
        </p:txBody>
      </p:sp>
      <p:sp>
        <p:nvSpPr>
          <p:cNvPr id="36" name="TextBox 35"/>
          <p:cNvSpPr txBox="1"/>
          <p:nvPr/>
        </p:nvSpPr>
        <p:spPr>
          <a:xfrm>
            <a:off x="6400800" y="5786644"/>
            <a:ext cx="5029200" cy="310896"/>
          </a:xfrm>
          <a:prstGeom prst="rect">
            <a:avLst/>
          </a:prstGeom>
          <a:noFill/>
        </p:spPr>
        <p:txBody>
          <a:bodyPr wrap="square" lIns="0" tIns="0" rIns="0" bIns="0" anchor="t">
            <a:spAutoFit/>
          </a:bodyPr>
          <a:lstStyle/>
          <a:p>
            <a:pPr algn="r">
              <a:spcBef>
                <a:spcPts val="0"/>
              </a:spcBef>
              <a:spcAft>
                <a:spcPts val="0"/>
              </a:spcAft>
            </a:pPr>
            <a:r>
              <a:rPr sz="1900" b="1" i="0">
                <a:solidFill>
                  <a:srgbClr val="ABC4FF"/>
                </a:solidFill>
                <a:latin typeface="Inter"/>
              </a:rPr>
              <a:t>None knows the learner.</a:t>
            </a:r>
          </a:p>
        </p:txBody>
      </p:sp>
      <p:cxnSp>
        <p:nvCxnSpPr>
          <p:cNvPr id="37" name="Connector 3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grpSp>
        <p:nvGrpSpPr>
          <p:cNvPr id="19" name="Group 18">
            <a:extLst>
              <a:ext uri="{FF2B5EF4-FFF2-40B4-BE49-F238E27FC236}">
                <a16:creationId xmlns:a16="http://schemas.microsoft.com/office/drawing/2014/main" id="{5F8BE6A6-13E4-6C46-FCD8-77DC3A0F37B1}"/>
              </a:ext>
            </a:extLst>
          </p:cNvPr>
          <p:cNvGrpSpPr/>
          <p:nvPr/>
        </p:nvGrpSpPr>
        <p:grpSpPr>
          <a:xfrm>
            <a:off x="9567815" y="2493272"/>
            <a:ext cx="981169" cy="219456"/>
            <a:chOff x="9589295" y="2493272"/>
            <a:chExt cx="981169" cy="219456"/>
          </a:xfrm>
        </p:grpSpPr>
        <p:sp>
          <p:nvSpPr>
            <p:cNvPr id="22" name="TextBox 21"/>
            <p:cNvSpPr txBox="1"/>
            <p:nvPr/>
          </p:nvSpPr>
          <p:spPr>
            <a:xfrm>
              <a:off x="9674352" y="2493272"/>
              <a:ext cx="896112"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ChatGPT</a:t>
              </a:r>
            </a:p>
          </p:txBody>
        </p:sp>
        <p:pic>
          <p:nvPicPr>
            <p:cNvPr id="44" name="Graphic 43">
              <a:extLst>
                <a:ext uri="{FF2B5EF4-FFF2-40B4-BE49-F238E27FC236}">
                  <a16:creationId xmlns:a16="http://schemas.microsoft.com/office/drawing/2014/main" id="{76C46BA6-80D6-7BD3-459F-9DB9AA0E73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89295" y="2493272"/>
              <a:ext cx="219456" cy="219456"/>
            </a:xfrm>
            <a:prstGeom prst="rect">
              <a:avLst/>
            </a:prstGeom>
          </p:spPr>
        </p:pic>
      </p:grpSp>
      <p:grpSp>
        <p:nvGrpSpPr>
          <p:cNvPr id="18" name="Group 17">
            <a:extLst>
              <a:ext uri="{FF2B5EF4-FFF2-40B4-BE49-F238E27FC236}">
                <a16:creationId xmlns:a16="http://schemas.microsoft.com/office/drawing/2014/main" id="{00CF359D-00EE-D6F1-7374-4C54FD71D7A5}"/>
              </a:ext>
            </a:extLst>
          </p:cNvPr>
          <p:cNvGrpSpPr/>
          <p:nvPr/>
        </p:nvGrpSpPr>
        <p:grpSpPr>
          <a:xfrm>
            <a:off x="5640611" y="1671844"/>
            <a:ext cx="1154617" cy="219456"/>
            <a:chOff x="5675951" y="1696186"/>
            <a:chExt cx="1154617" cy="219456"/>
          </a:xfrm>
        </p:grpSpPr>
        <p:sp>
          <p:nvSpPr>
            <p:cNvPr id="17" name="TextBox 16"/>
            <p:cNvSpPr txBox="1"/>
            <p:nvPr/>
          </p:nvSpPr>
          <p:spPr>
            <a:xfrm>
              <a:off x="5989320" y="1696186"/>
              <a:ext cx="841248" cy="219456"/>
            </a:xfrm>
            <a:prstGeom prst="rect">
              <a:avLst/>
            </a:prstGeom>
            <a:noFill/>
          </p:spPr>
          <p:txBody>
            <a:bodyPr wrap="square" lIns="0" tIns="0" rIns="0" bIns="0" anchor="ctr">
              <a:spAutoFit/>
            </a:bodyPr>
            <a:lstStyle/>
            <a:p>
              <a:pPr algn="ctr">
                <a:spcBef>
                  <a:spcPts val="0"/>
                </a:spcBef>
                <a:spcAft>
                  <a:spcPts val="0"/>
                </a:spcAft>
              </a:pPr>
              <a:r>
                <a:rPr sz="1200" b="1" i="0" dirty="0">
                  <a:solidFill>
                    <a:srgbClr val="E4E4E4"/>
                  </a:solidFill>
                  <a:latin typeface="Inter"/>
                </a:rPr>
                <a:t>YouTube</a:t>
              </a:r>
            </a:p>
          </p:txBody>
        </p:sp>
        <p:pic>
          <p:nvPicPr>
            <p:cNvPr id="47" name="Graphic 46">
              <a:extLst>
                <a:ext uri="{FF2B5EF4-FFF2-40B4-BE49-F238E27FC236}">
                  <a16:creationId xmlns:a16="http://schemas.microsoft.com/office/drawing/2014/main" id="{90F85760-EF1F-B061-1952-E627B89B49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75951" y="1705330"/>
              <a:ext cx="228600" cy="201168"/>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03</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MISSING PIECE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I read this somewhere. But I forgot.</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Students remember the feeling of understanding — not where the idea lived or how it connected.</a:t>
            </a:r>
          </a:p>
        </p:txBody>
      </p:sp>
      <p:grpSp>
        <p:nvGrpSpPr>
          <p:cNvPr id="40" name="Group 39">
            <a:extLst>
              <a:ext uri="{FF2B5EF4-FFF2-40B4-BE49-F238E27FC236}">
                <a16:creationId xmlns:a16="http://schemas.microsoft.com/office/drawing/2014/main" id="{DA6FE5EF-276F-FC2D-699E-296B8D3F29B2}"/>
              </a:ext>
            </a:extLst>
          </p:cNvPr>
          <p:cNvGrpSpPr/>
          <p:nvPr/>
        </p:nvGrpSpPr>
        <p:grpSpPr>
          <a:xfrm>
            <a:off x="822960" y="2403364"/>
            <a:ext cx="4297680" cy="2514600"/>
            <a:chOff x="822960" y="2403364"/>
            <a:chExt cx="4297680" cy="2514600"/>
          </a:xfrm>
        </p:grpSpPr>
        <p:sp>
          <p:nvSpPr>
            <p:cNvPr id="9" name="TextBox 8"/>
            <p:cNvSpPr txBox="1"/>
            <p:nvPr/>
          </p:nvSpPr>
          <p:spPr>
            <a:xfrm>
              <a:off x="822960" y="2403364"/>
              <a:ext cx="4206240" cy="1325880"/>
            </a:xfrm>
            <a:prstGeom prst="rect">
              <a:avLst/>
            </a:prstGeom>
            <a:noFill/>
          </p:spPr>
          <p:txBody>
            <a:bodyPr wrap="square" lIns="0" tIns="0" rIns="0" bIns="0" anchor="t">
              <a:spAutoFit/>
            </a:bodyPr>
            <a:lstStyle/>
            <a:p>
              <a:pPr algn="l">
                <a:spcBef>
                  <a:spcPts val="0"/>
                </a:spcBef>
                <a:spcAft>
                  <a:spcPts val="0"/>
                </a:spcAft>
              </a:pPr>
              <a:r>
                <a:rPr sz="2800" b="1" i="0" dirty="0">
                  <a:solidFill>
                    <a:srgbClr val="E4E4E4"/>
                  </a:solidFill>
                  <a:latin typeface="Inter"/>
                </a:rPr>
                <a:t>The next search starts
without the context
that made the idea useful.</a:t>
              </a:r>
            </a:p>
          </p:txBody>
        </p:sp>
        <p:cxnSp>
          <p:nvCxnSpPr>
            <p:cNvPr id="10" name="Connector 9"/>
            <p:cNvCxnSpPr>
              <a:cxnSpLocks/>
            </p:cNvCxnSpPr>
            <p:nvPr/>
          </p:nvCxnSpPr>
          <p:spPr>
            <a:xfrm>
              <a:off x="822960" y="4140724"/>
              <a:ext cx="3703320" cy="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4369324"/>
              <a:ext cx="4297680" cy="548640"/>
            </a:xfrm>
            <a:prstGeom prst="rect">
              <a:avLst/>
            </a:prstGeom>
            <a:noFill/>
          </p:spPr>
          <p:txBody>
            <a:bodyPr wrap="square" lIns="0" tIns="0" rIns="0" bIns="0" anchor="t">
              <a:spAutoFit/>
            </a:bodyPr>
            <a:lstStyle/>
            <a:p>
              <a:pPr algn="l">
                <a:spcBef>
                  <a:spcPts val="0"/>
                </a:spcBef>
                <a:spcAft>
                  <a:spcPts val="0"/>
                </a:spcAft>
              </a:pPr>
              <a:r>
                <a:rPr sz="1500" b="0" i="0" dirty="0" err="1">
                  <a:solidFill>
                    <a:srgbClr val="9C9C9C"/>
                  </a:solidFill>
                  <a:latin typeface="Inter"/>
                </a:rPr>
                <a:t>Avenire</a:t>
              </a:r>
              <a:r>
                <a:rPr sz="1500" b="0" i="0" dirty="0">
                  <a:solidFill>
                    <a:srgbClr val="9C9C9C"/>
                  </a:solidFill>
                  <a:latin typeface="Inter"/>
                </a:rPr>
                <a:t> turns scattered learning material into
searchable, connected evidence.</a:t>
              </a:r>
            </a:p>
          </p:txBody>
        </p:sp>
      </p:grpSp>
      <p:grpSp>
        <p:nvGrpSpPr>
          <p:cNvPr id="41" name="Group 40">
            <a:extLst>
              <a:ext uri="{FF2B5EF4-FFF2-40B4-BE49-F238E27FC236}">
                <a16:creationId xmlns:a16="http://schemas.microsoft.com/office/drawing/2014/main" id="{BC99124B-A9F7-65FD-F6E8-9C2648E5A07B}"/>
              </a:ext>
            </a:extLst>
          </p:cNvPr>
          <p:cNvGrpSpPr/>
          <p:nvPr/>
        </p:nvGrpSpPr>
        <p:grpSpPr>
          <a:xfrm>
            <a:off x="6016867" y="2403364"/>
            <a:ext cx="5605272" cy="3063240"/>
            <a:chOff x="5276088" y="2403364"/>
            <a:chExt cx="5605272" cy="3063240"/>
          </a:xfrm>
        </p:grpSpPr>
        <p:sp>
          <p:nvSpPr>
            <p:cNvPr id="12" name="TextBox 11"/>
            <p:cNvSpPr txBox="1"/>
            <p:nvPr/>
          </p:nvSpPr>
          <p:spPr>
            <a:xfrm>
              <a:off x="5276088" y="2403364"/>
              <a:ext cx="5212080" cy="256032"/>
            </a:xfrm>
            <a:prstGeom prst="rect">
              <a:avLst/>
            </a:prstGeom>
            <a:noFill/>
          </p:spPr>
          <p:txBody>
            <a:bodyPr wrap="square" lIns="0" tIns="0" rIns="0" bIns="0" anchor="t">
              <a:spAutoFit/>
            </a:bodyPr>
            <a:lstStyle/>
            <a:p>
              <a:pPr algn="l">
                <a:spcBef>
                  <a:spcPts val="0"/>
                </a:spcBef>
                <a:spcAft>
                  <a:spcPts val="0"/>
                </a:spcAft>
              </a:pPr>
              <a:r>
                <a:rPr sz="1600" b="1" i="0" dirty="0">
                  <a:solidFill>
                    <a:srgbClr val="ABC4FF"/>
                  </a:solidFill>
                  <a:latin typeface="Inter"/>
                </a:rPr>
                <a:t>Retrieval that brings the idea back</a:t>
              </a:r>
            </a:p>
          </p:txBody>
        </p:sp>
        <p:grpSp>
          <p:nvGrpSpPr>
            <p:cNvPr id="39" name="Group 38">
              <a:extLst>
                <a:ext uri="{FF2B5EF4-FFF2-40B4-BE49-F238E27FC236}">
                  <a16:creationId xmlns:a16="http://schemas.microsoft.com/office/drawing/2014/main" id="{5EC646FB-090C-623E-A49D-08CA4632C8C9}"/>
                </a:ext>
              </a:extLst>
            </p:cNvPr>
            <p:cNvGrpSpPr/>
            <p:nvPr/>
          </p:nvGrpSpPr>
          <p:grpSpPr>
            <a:xfrm>
              <a:off x="5276088" y="3399601"/>
              <a:ext cx="5605272" cy="1079450"/>
              <a:chOff x="5276088" y="3399601"/>
              <a:chExt cx="5605272" cy="1079450"/>
            </a:xfrm>
          </p:grpSpPr>
          <p:sp>
            <p:nvSpPr>
              <p:cNvPr id="13" name="Oval 12"/>
              <p:cNvSpPr/>
              <p:nvPr/>
            </p:nvSpPr>
            <p:spPr>
              <a:xfrm>
                <a:off x="5532120" y="3399601"/>
                <a:ext cx="566928" cy="566928"/>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5" name="TextBox 14"/>
              <p:cNvSpPr txBox="1"/>
              <p:nvPr/>
            </p:nvSpPr>
            <p:spPr>
              <a:xfrm>
                <a:off x="527608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Scattered
material</a:t>
                </a:r>
              </a:p>
            </p:txBody>
          </p:sp>
          <p:grpSp>
            <p:nvGrpSpPr>
              <p:cNvPr id="35" name="Group 34">
                <a:extLst>
                  <a:ext uri="{FF2B5EF4-FFF2-40B4-BE49-F238E27FC236}">
                    <a16:creationId xmlns:a16="http://schemas.microsoft.com/office/drawing/2014/main" id="{B7A01E70-D936-0509-5098-3FE8987684B9}"/>
                  </a:ext>
                </a:extLst>
              </p:cNvPr>
              <p:cNvGrpSpPr/>
              <p:nvPr/>
            </p:nvGrpSpPr>
            <p:grpSpPr>
              <a:xfrm>
                <a:off x="6213348" y="3559621"/>
                <a:ext cx="713232" cy="246888"/>
                <a:chOff x="6280803" y="3454924"/>
                <a:chExt cx="713232" cy="246888"/>
              </a:xfrm>
            </p:grpSpPr>
            <p:cxnSp>
              <p:nvCxnSpPr>
                <p:cNvPr id="16" name="Connector 15"/>
                <p:cNvCxnSpPr>
                  <a:cxnSpLocks/>
                </p:cNvCxnSpPr>
                <p:nvPr/>
              </p:nvCxnSpPr>
              <p:spPr>
                <a:xfrm>
                  <a:off x="6280803" y="3578368"/>
                  <a:ext cx="713232"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6811155" y="3454924"/>
                  <a:ext cx="182880" cy="246888"/>
                </a:xfrm>
                <a:prstGeom prst="chevron">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8" name="Oval 17"/>
              <p:cNvSpPr/>
              <p:nvPr/>
            </p:nvSpPr>
            <p:spPr>
              <a:xfrm>
                <a:off x="7040880" y="3399601"/>
                <a:ext cx="566928" cy="56692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20" name="TextBox 19"/>
              <p:cNvSpPr txBox="1"/>
              <p:nvPr/>
            </p:nvSpPr>
            <p:spPr>
              <a:xfrm>
                <a:off x="678484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Retrieve
evidence</a:t>
                </a:r>
              </a:p>
            </p:txBody>
          </p:sp>
          <p:grpSp>
            <p:nvGrpSpPr>
              <p:cNvPr id="36" name="Group 35">
                <a:extLst>
                  <a:ext uri="{FF2B5EF4-FFF2-40B4-BE49-F238E27FC236}">
                    <a16:creationId xmlns:a16="http://schemas.microsoft.com/office/drawing/2014/main" id="{49992A60-1EA1-DED6-0579-DA8E07950584}"/>
                  </a:ext>
                </a:extLst>
              </p:cNvPr>
              <p:cNvGrpSpPr/>
              <p:nvPr/>
            </p:nvGrpSpPr>
            <p:grpSpPr>
              <a:xfrm>
                <a:off x="7722108" y="3559621"/>
                <a:ext cx="713232" cy="246888"/>
                <a:chOff x="7789562" y="3454924"/>
                <a:chExt cx="713232" cy="246888"/>
              </a:xfrm>
            </p:grpSpPr>
            <p:cxnSp>
              <p:nvCxnSpPr>
                <p:cNvPr id="21" name="Connector 20"/>
                <p:cNvCxnSpPr>
                  <a:cxnSpLocks/>
                </p:cNvCxnSpPr>
                <p:nvPr/>
              </p:nvCxnSpPr>
              <p:spPr>
                <a:xfrm>
                  <a:off x="7789562" y="3578368"/>
                  <a:ext cx="713232"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8319914" y="3454924"/>
                  <a:ext cx="182880" cy="246888"/>
                </a:xfrm>
                <a:prstGeom prst="chevron">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3" name="Oval 22"/>
              <p:cNvSpPr/>
              <p:nvPr/>
            </p:nvSpPr>
            <p:spPr>
              <a:xfrm>
                <a:off x="8549640" y="3399601"/>
                <a:ext cx="566928" cy="56692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5" name="TextBox 24"/>
              <p:cNvSpPr txBox="1"/>
              <p:nvPr/>
            </p:nvSpPr>
            <p:spPr>
              <a:xfrm>
                <a:off x="829360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Reconnect
context</a:t>
                </a:r>
              </a:p>
            </p:txBody>
          </p:sp>
          <p:grpSp>
            <p:nvGrpSpPr>
              <p:cNvPr id="37" name="Group 36">
                <a:extLst>
                  <a:ext uri="{FF2B5EF4-FFF2-40B4-BE49-F238E27FC236}">
                    <a16:creationId xmlns:a16="http://schemas.microsoft.com/office/drawing/2014/main" id="{8891D8AD-0856-51B5-C3AC-4AFF682AB57E}"/>
                  </a:ext>
                </a:extLst>
              </p:cNvPr>
              <p:cNvGrpSpPr/>
              <p:nvPr/>
            </p:nvGrpSpPr>
            <p:grpSpPr>
              <a:xfrm>
                <a:off x="9230868" y="3559621"/>
                <a:ext cx="713232" cy="246888"/>
                <a:chOff x="9283229" y="3454924"/>
                <a:chExt cx="713232" cy="246888"/>
              </a:xfrm>
            </p:grpSpPr>
            <p:cxnSp>
              <p:nvCxnSpPr>
                <p:cNvPr id="26" name="Connector 25"/>
                <p:cNvCxnSpPr>
                  <a:cxnSpLocks/>
                </p:cNvCxnSpPr>
                <p:nvPr/>
              </p:nvCxnSpPr>
              <p:spPr>
                <a:xfrm>
                  <a:off x="9283229" y="3578368"/>
                  <a:ext cx="713232"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813581" y="3454924"/>
                  <a:ext cx="182880" cy="246888"/>
                </a:xfrm>
                <a:prstGeom prst="chevron">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8" name="Oval 27"/>
              <p:cNvSpPr/>
              <p:nvPr/>
            </p:nvSpPr>
            <p:spPr>
              <a:xfrm>
                <a:off x="10058400" y="3399601"/>
                <a:ext cx="566928" cy="56692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endParaRPr dirty="0">
                  <a:solidFill>
                    <a:srgbClr val="141414"/>
                  </a:solidFill>
                </a:endParaRPr>
              </a:p>
            </p:txBody>
          </p:sp>
          <p:sp>
            <p:nvSpPr>
              <p:cNvPr id="30" name="TextBox 29"/>
              <p:cNvSpPr txBox="1"/>
              <p:nvPr/>
            </p:nvSpPr>
            <p:spPr>
              <a:xfrm>
                <a:off x="9802368" y="4040139"/>
                <a:ext cx="1078992" cy="438912"/>
              </a:xfrm>
              <a:prstGeom prst="rect">
                <a:avLst/>
              </a:prstGeom>
              <a:noFill/>
            </p:spPr>
            <p:txBody>
              <a:bodyPr wrap="square" lIns="0" tIns="0" rIns="0" bIns="0" anchor="ctr">
                <a:spAutoFit/>
              </a:bodyPr>
              <a:lstStyle/>
              <a:p>
                <a:pPr algn="ctr">
                  <a:spcBef>
                    <a:spcPts val="0"/>
                  </a:spcBef>
                  <a:spcAft>
                    <a:spcPts val="0"/>
                  </a:spcAft>
                </a:pPr>
                <a:r>
                  <a:rPr sz="1050" b="1" i="0">
                    <a:solidFill>
                      <a:srgbClr val="E4E4E4"/>
                    </a:solidFill>
                    <a:latin typeface="Inter"/>
                  </a:rPr>
                  <a:t>Practice +
remember</a:t>
                </a:r>
              </a:p>
            </p:txBody>
          </p:sp>
        </p:grpSp>
        <p:cxnSp>
          <p:nvCxnSpPr>
            <p:cNvPr id="31" name="Connector 30"/>
            <p:cNvCxnSpPr>
              <a:cxnSpLocks/>
            </p:cNvCxnSpPr>
            <p:nvPr/>
          </p:nvCxnSpPr>
          <p:spPr>
            <a:xfrm>
              <a:off x="5276088" y="5055124"/>
              <a:ext cx="544068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276088" y="5283724"/>
              <a:ext cx="5440680" cy="182880"/>
            </a:xfrm>
            <a:prstGeom prst="rect">
              <a:avLst/>
            </a:prstGeom>
            <a:noFill/>
          </p:spPr>
          <p:txBody>
            <a:bodyPr wrap="square" lIns="0" tIns="0" rIns="0" bIns="0" anchor="t">
              <a:spAutoFit/>
            </a:bodyPr>
            <a:lstStyle/>
            <a:p>
              <a:pPr algn="ctr">
                <a:spcBef>
                  <a:spcPts val="0"/>
                </a:spcBef>
                <a:spcAft>
                  <a:spcPts val="0"/>
                </a:spcAft>
              </a:pPr>
              <a:r>
                <a:rPr sz="950" b="0" i="0" dirty="0">
                  <a:solidFill>
                    <a:srgbClr val="9C9C9C"/>
                  </a:solidFill>
                  <a:latin typeface="Cascadia Mono"/>
                </a:rPr>
                <a:t>Semantic  ·  lexical  ·  exact-match  ·  reranking  ·  evidence threshold</a:t>
              </a:r>
            </a:p>
          </p:txBody>
        </p:sp>
      </p:gr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04</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PRODUCT</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Meet Avenire.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Conversational Learning: ask, learn, create, remember.</a:t>
            </a:r>
          </a:p>
        </p:txBody>
      </p:sp>
      <p:pic>
        <p:nvPicPr>
          <p:cNvPr id="10" name="Picture 9" descr="avenire.png"/>
          <p:cNvPicPr>
            <a:picLocks noChangeAspect="1"/>
          </p:cNvPicPr>
          <p:nvPr/>
        </p:nvPicPr>
        <p:blipFill>
          <a:blip r:embed="rId4"/>
          <a:stretch>
            <a:fillRect/>
          </a:stretch>
        </p:blipFill>
        <p:spPr>
          <a:xfrm>
            <a:off x="804672" y="2108214"/>
            <a:ext cx="7168896" cy="3767328"/>
          </a:xfrm>
          <a:prstGeom prst="rect">
            <a:avLst/>
          </a:prstGeom>
        </p:spPr>
      </p:pic>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cxnSp>
        <p:nvCxnSpPr>
          <p:cNvPr id="35" name="Connector 34"/>
          <p:cNvCxnSpPr/>
          <p:nvPr/>
        </p:nvCxnSpPr>
        <p:spPr>
          <a:xfrm>
            <a:off x="8321040" y="2040527"/>
            <a:ext cx="0" cy="3877056"/>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BB91AE4C-53FE-309E-8BAE-25C5ACEAC897}"/>
              </a:ext>
            </a:extLst>
          </p:cNvPr>
          <p:cNvGrpSpPr/>
          <p:nvPr/>
        </p:nvGrpSpPr>
        <p:grpSpPr>
          <a:xfrm>
            <a:off x="8732520" y="2195975"/>
            <a:ext cx="2468880" cy="868680"/>
            <a:chOff x="8732520" y="2195975"/>
            <a:chExt cx="2468880" cy="868680"/>
          </a:xfrm>
        </p:grpSpPr>
        <p:cxnSp>
          <p:nvCxnSpPr>
            <p:cNvPr id="36" name="Connector 35"/>
            <p:cNvCxnSpPr>
              <a:cxnSpLocks/>
            </p:cNvCxnSpPr>
            <p:nvPr/>
          </p:nvCxnSpPr>
          <p:spPr>
            <a:xfrm>
              <a:off x="8732520" y="2195975"/>
              <a:ext cx="2468880"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732520" y="232399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ABC4FF"/>
                  </a:solidFill>
                  <a:latin typeface="Inter"/>
                </a:rPr>
                <a:t>Visualize</a:t>
              </a:r>
            </a:p>
          </p:txBody>
        </p:sp>
        <p:sp>
          <p:nvSpPr>
            <p:cNvPr id="38" name="TextBox 37"/>
            <p:cNvSpPr txBox="1"/>
            <p:nvPr/>
          </p:nvSpPr>
          <p:spPr>
            <a:xfrm>
              <a:off x="8732520" y="268060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Turn abstract concepts into interactive models.</a:t>
              </a:r>
            </a:p>
          </p:txBody>
        </p:sp>
      </p:grpSp>
      <p:grpSp>
        <p:nvGrpSpPr>
          <p:cNvPr id="12" name="Group 11">
            <a:extLst>
              <a:ext uri="{FF2B5EF4-FFF2-40B4-BE49-F238E27FC236}">
                <a16:creationId xmlns:a16="http://schemas.microsoft.com/office/drawing/2014/main" id="{B0A9B665-A9E4-55BC-D12D-2195859C6FB3}"/>
              </a:ext>
            </a:extLst>
          </p:cNvPr>
          <p:cNvGrpSpPr/>
          <p:nvPr/>
        </p:nvGrpSpPr>
        <p:grpSpPr>
          <a:xfrm>
            <a:off x="8732520" y="3293255"/>
            <a:ext cx="2468880" cy="868680"/>
            <a:chOff x="8732520" y="3293255"/>
            <a:chExt cx="2468880" cy="868680"/>
          </a:xfrm>
        </p:grpSpPr>
        <p:cxnSp>
          <p:nvCxnSpPr>
            <p:cNvPr id="39" name="Connector 38"/>
            <p:cNvCxnSpPr>
              <a:cxnSpLocks/>
            </p:cNvCxnSpPr>
            <p:nvPr/>
          </p:nvCxnSpPr>
          <p:spPr>
            <a:xfrm>
              <a:off x="8732520" y="3293255"/>
              <a:ext cx="2468880"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32520" y="342127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78C4D5"/>
                  </a:solidFill>
                  <a:latin typeface="Inter"/>
                </a:rPr>
                <a:t>Review</a:t>
              </a:r>
            </a:p>
          </p:txBody>
        </p:sp>
        <p:sp>
          <p:nvSpPr>
            <p:cNvPr id="41" name="TextBox 40"/>
            <p:cNvSpPr txBox="1"/>
            <p:nvPr/>
          </p:nvSpPr>
          <p:spPr>
            <a:xfrm>
              <a:off x="8732520" y="377788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Use spaced repetition to bring back what matters.</a:t>
              </a:r>
            </a:p>
          </p:txBody>
        </p:sp>
      </p:grpSp>
      <p:grpSp>
        <p:nvGrpSpPr>
          <p:cNvPr id="16" name="Group 15">
            <a:extLst>
              <a:ext uri="{FF2B5EF4-FFF2-40B4-BE49-F238E27FC236}">
                <a16:creationId xmlns:a16="http://schemas.microsoft.com/office/drawing/2014/main" id="{D44DA29C-FE13-BC95-7AB2-8E2ECEF155E9}"/>
              </a:ext>
            </a:extLst>
          </p:cNvPr>
          <p:cNvGrpSpPr/>
          <p:nvPr/>
        </p:nvGrpSpPr>
        <p:grpSpPr>
          <a:xfrm>
            <a:off x="8732520" y="4390535"/>
            <a:ext cx="2468880" cy="868680"/>
            <a:chOff x="8732520" y="4390535"/>
            <a:chExt cx="2468880" cy="868680"/>
          </a:xfrm>
        </p:grpSpPr>
        <p:cxnSp>
          <p:nvCxnSpPr>
            <p:cNvPr id="42" name="Connector 41"/>
            <p:cNvCxnSpPr>
              <a:cxnSpLocks/>
            </p:cNvCxnSpPr>
            <p:nvPr/>
          </p:nvCxnSpPr>
          <p:spPr>
            <a:xfrm>
              <a:off x="8732520" y="4390535"/>
              <a:ext cx="2468880"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732520" y="4518551"/>
              <a:ext cx="2194560" cy="228600"/>
            </a:xfrm>
            <a:prstGeom prst="rect">
              <a:avLst/>
            </a:prstGeom>
            <a:noFill/>
          </p:spPr>
          <p:txBody>
            <a:bodyPr wrap="square" lIns="0" tIns="0" rIns="0" bIns="0" anchor="t">
              <a:spAutoFit/>
            </a:bodyPr>
            <a:lstStyle/>
            <a:p>
              <a:pPr algn="l">
                <a:spcBef>
                  <a:spcPts val="0"/>
                </a:spcBef>
                <a:spcAft>
                  <a:spcPts val="0"/>
                </a:spcAft>
              </a:pPr>
              <a:r>
                <a:rPr sz="1600" b="1" i="0">
                  <a:solidFill>
                    <a:srgbClr val="F0A873"/>
                  </a:solidFill>
                  <a:latin typeface="Inter"/>
                </a:rPr>
                <a:t>Diagnose</a:t>
              </a:r>
            </a:p>
          </p:txBody>
        </p:sp>
        <p:sp>
          <p:nvSpPr>
            <p:cNvPr id="44" name="TextBox 43"/>
            <p:cNvSpPr txBox="1"/>
            <p:nvPr/>
          </p:nvSpPr>
          <p:spPr>
            <a:xfrm>
              <a:off x="8732520" y="4875167"/>
              <a:ext cx="2423160" cy="38404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Spot misconception patterns while the engine is being built.</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05</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DIFFERENCE</a:t>
            </a:r>
          </a:p>
        </p:txBody>
      </p:sp>
      <p:sp>
        <p:nvSpPr>
          <p:cNvPr id="7" name="TextBox 6"/>
          <p:cNvSpPr txBox="1"/>
          <p:nvPr/>
        </p:nvSpPr>
        <p:spPr>
          <a:xfrm>
            <a:off x="594360" y="1001268"/>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conversation doesn't end when the chat ends.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generic assistant returns an answer. Avenire compounds learning.</a:t>
            </a:r>
          </a:p>
        </p:txBody>
      </p:sp>
      <p:sp>
        <p:nvSpPr>
          <p:cNvPr id="9" name="Oval 8"/>
          <p:cNvSpPr/>
          <p:nvPr/>
        </p:nvSpPr>
        <p:spPr>
          <a:xfrm>
            <a:off x="1051560" y="2856324"/>
            <a:ext cx="658368" cy="658368"/>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1" name="TextBox 10"/>
          <p:cNvSpPr txBox="1"/>
          <p:nvPr/>
        </p:nvSpPr>
        <p:spPr>
          <a:xfrm>
            <a:off x="731519"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Conversation</a:t>
            </a:r>
          </a:p>
        </p:txBody>
      </p:sp>
      <p:cxnSp>
        <p:nvCxnSpPr>
          <p:cNvPr id="12" name="Connector 11"/>
          <p:cNvCxnSpPr/>
          <p:nvPr/>
        </p:nvCxnSpPr>
        <p:spPr>
          <a:xfrm>
            <a:off x="1783080" y="3185508"/>
            <a:ext cx="1325880" cy="0"/>
          </a:xfrm>
          <a:prstGeom prst="line">
            <a:avLst/>
          </a:prstGeom>
          <a:ln w="20320">
            <a:solidFill>
              <a:srgbClr val="ABC4FF"/>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2999232" y="3048348"/>
            <a:ext cx="201168" cy="274320"/>
          </a:xfrm>
          <a:prstGeom prst="chevron">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200400" y="2856324"/>
            <a:ext cx="658368" cy="65836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16" name="TextBox 15"/>
          <p:cNvSpPr txBox="1"/>
          <p:nvPr/>
        </p:nvSpPr>
        <p:spPr>
          <a:xfrm>
            <a:off x="288036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Knowledge</a:t>
            </a:r>
          </a:p>
        </p:txBody>
      </p:sp>
      <p:cxnSp>
        <p:nvCxnSpPr>
          <p:cNvPr id="17" name="Connector 16"/>
          <p:cNvCxnSpPr/>
          <p:nvPr/>
        </p:nvCxnSpPr>
        <p:spPr>
          <a:xfrm>
            <a:off x="3931920" y="3185508"/>
            <a:ext cx="1325880" cy="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5148072" y="3048348"/>
            <a:ext cx="201168" cy="274320"/>
          </a:xfrm>
          <a:prstGeom prst="chevron">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49240" y="2856324"/>
            <a:ext cx="658368" cy="65836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1" name="TextBox 20"/>
          <p:cNvSpPr txBox="1"/>
          <p:nvPr/>
        </p:nvSpPr>
        <p:spPr>
          <a:xfrm>
            <a:off x="5029200" y="3770724"/>
            <a:ext cx="1298448" cy="228600"/>
          </a:xfrm>
          <a:prstGeom prst="rect">
            <a:avLst/>
          </a:prstGeom>
          <a:noFill/>
        </p:spPr>
        <p:txBody>
          <a:bodyPr wrap="square" lIns="0" tIns="0" rIns="0" bIns="0" anchor="ctr">
            <a:spAutoFit/>
          </a:bodyPr>
          <a:lstStyle/>
          <a:p>
            <a:pPr algn="ctr">
              <a:spcBef>
                <a:spcPts val="0"/>
              </a:spcBef>
              <a:spcAft>
                <a:spcPts val="0"/>
              </a:spcAft>
            </a:pPr>
            <a:r>
              <a:rPr sz="1200" b="1" i="0">
                <a:solidFill>
                  <a:srgbClr val="E4E4E4"/>
                </a:solidFill>
                <a:latin typeface="Inter"/>
              </a:rPr>
              <a:t>Notes</a:t>
            </a:r>
          </a:p>
        </p:txBody>
      </p:sp>
      <p:cxnSp>
        <p:nvCxnSpPr>
          <p:cNvPr id="22" name="Connector 21"/>
          <p:cNvCxnSpPr/>
          <p:nvPr/>
        </p:nvCxnSpPr>
        <p:spPr>
          <a:xfrm>
            <a:off x="6080759" y="3185508"/>
            <a:ext cx="1325881" cy="0"/>
          </a:xfrm>
          <a:prstGeom prst="line">
            <a:avLst/>
          </a:prstGeom>
          <a:ln w="20320">
            <a:solidFill>
              <a:srgbClr val="F0A873"/>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296912" y="3048348"/>
            <a:ext cx="201168" cy="274320"/>
          </a:xfrm>
          <a:prstGeom prst="chevron">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498079" y="2856324"/>
            <a:ext cx="658368" cy="658368"/>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endParaRPr dirty="0">
              <a:solidFill>
                <a:srgbClr val="141414"/>
              </a:solidFill>
            </a:endParaRPr>
          </a:p>
        </p:txBody>
      </p:sp>
      <p:sp>
        <p:nvSpPr>
          <p:cNvPr id="26" name="TextBox 25"/>
          <p:cNvSpPr txBox="1"/>
          <p:nvPr/>
        </p:nvSpPr>
        <p:spPr>
          <a:xfrm>
            <a:off x="717804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Practice</a:t>
            </a:r>
          </a:p>
        </p:txBody>
      </p:sp>
      <p:cxnSp>
        <p:nvCxnSpPr>
          <p:cNvPr id="27" name="Connector 26"/>
          <p:cNvCxnSpPr/>
          <p:nvPr/>
        </p:nvCxnSpPr>
        <p:spPr>
          <a:xfrm>
            <a:off x="8229600" y="3185508"/>
            <a:ext cx="1325880" cy="0"/>
          </a:xfrm>
          <a:prstGeom prst="line">
            <a:avLst/>
          </a:prstGeom>
          <a:ln w="20320">
            <a:solidFill>
              <a:srgbClr val="ED84BD"/>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445752" y="3048348"/>
            <a:ext cx="201168" cy="274320"/>
          </a:xfrm>
          <a:prstGeom prst="chevron">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646920" y="2856324"/>
            <a:ext cx="658368" cy="65836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5</a:t>
            </a:r>
          </a:p>
        </p:txBody>
      </p:sp>
      <p:sp>
        <p:nvSpPr>
          <p:cNvPr id="31" name="TextBox 30"/>
          <p:cNvSpPr txBox="1"/>
          <p:nvPr/>
        </p:nvSpPr>
        <p:spPr>
          <a:xfrm>
            <a:off x="9326880" y="3770724"/>
            <a:ext cx="1298448" cy="228600"/>
          </a:xfrm>
          <a:prstGeom prst="rect">
            <a:avLst/>
          </a:prstGeom>
          <a:noFill/>
        </p:spPr>
        <p:txBody>
          <a:bodyPr wrap="square" lIns="0" tIns="0" rIns="0" bIns="0" anchor="t">
            <a:spAutoFit/>
          </a:bodyPr>
          <a:lstStyle/>
          <a:p>
            <a:pPr algn="ctr">
              <a:spcBef>
                <a:spcPts val="0"/>
              </a:spcBef>
              <a:spcAft>
                <a:spcPts val="0"/>
              </a:spcAft>
            </a:pPr>
            <a:r>
              <a:rPr sz="1200" b="1" i="0">
                <a:solidFill>
                  <a:srgbClr val="E4E4E4"/>
                </a:solidFill>
                <a:latin typeface="Inter"/>
              </a:rPr>
              <a:t>Memory + review</a:t>
            </a:r>
          </a:p>
        </p:txBody>
      </p:sp>
      <p:cxnSp>
        <p:nvCxnSpPr>
          <p:cNvPr id="32" name="Connector 31"/>
          <p:cNvCxnSpPr/>
          <p:nvPr/>
        </p:nvCxnSpPr>
        <p:spPr>
          <a:xfrm flipV="1">
            <a:off x="10058400" y="2216244"/>
            <a:ext cx="0" cy="64008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371600" y="2216244"/>
            <a:ext cx="8686800" cy="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71600" y="2216244"/>
            <a:ext cx="0" cy="594360"/>
          </a:xfrm>
          <a:prstGeom prst="line">
            <a:avLst/>
          </a:prstGeom>
          <a:ln w="17780">
            <a:solidFill>
              <a:srgbClr val="A99AD1"/>
            </a:solidFill>
          </a:ln>
        </p:spPr>
        <p:style>
          <a:lnRef idx="2">
            <a:schemeClr val="accent1"/>
          </a:lnRef>
          <a:fillRef idx="0">
            <a:schemeClr val="accent1"/>
          </a:fillRef>
          <a:effectRef idx="1">
            <a:schemeClr val="accent1"/>
          </a:effectRef>
          <a:fontRef idx="minor">
            <a:schemeClr val="tx1"/>
          </a:fontRef>
        </p:style>
      </p:cxnSp>
      <p:sp>
        <p:nvSpPr>
          <p:cNvPr id="35" name="Chevron 34"/>
          <p:cNvSpPr/>
          <p:nvPr/>
        </p:nvSpPr>
        <p:spPr>
          <a:xfrm rot="5610272">
            <a:off x="1243584" y="2578044"/>
            <a:ext cx="256032" cy="274320"/>
          </a:xfrm>
          <a:prstGeom prst="chevron">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697090"/>
            <a:ext cx="10881360" cy="411480"/>
          </a:xfrm>
          <a:prstGeom prst="rect">
            <a:avLst/>
          </a:prstGeom>
          <a:noFill/>
        </p:spPr>
        <p:txBody>
          <a:bodyPr wrap="square" lIns="0" tIns="0" rIns="0" bIns="0" anchor="t">
            <a:spAutoFit/>
          </a:bodyPr>
          <a:lstStyle/>
          <a:p>
            <a:pPr algn="ctr">
              <a:spcBef>
                <a:spcPts val="0"/>
              </a:spcBef>
              <a:spcAft>
                <a:spcPts val="0"/>
              </a:spcAft>
            </a:pPr>
            <a:r>
              <a:rPr sz="2200" b="1" i="0">
                <a:solidFill>
                  <a:srgbClr val="ABC4FF"/>
                </a:solidFill>
                <a:latin typeface="Inter"/>
              </a:rPr>
              <a:t>One continuous learning loop — with review that compounds.</a:t>
            </a:r>
          </a:p>
        </p:txBody>
      </p:sp>
      <p:cxnSp>
        <p:nvCxnSpPr>
          <p:cNvPr id="37" name="Connector 3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39" name="TextBox 38"/>
          <p:cNvSpPr txBox="1"/>
          <p:nvPr/>
        </p:nvSpPr>
        <p:spPr>
          <a:xfrm>
            <a:off x="82296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F0A873"/>
                </a:solidFill>
                <a:latin typeface="Inter"/>
              </a:rPr>
              <a:t>Misconception engine</a:t>
            </a:r>
          </a:p>
        </p:txBody>
      </p:sp>
      <p:sp>
        <p:nvSpPr>
          <p:cNvPr id="40" name="TextBox 39"/>
          <p:cNvSpPr txBox="1"/>
          <p:nvPr/>
        </p:nvSpPr>
        <p:spPr>
          <a:xfrm>
            <a:off x="822960" y="4864608"/>
            <a:ext cx="38862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Diagnose what is wrong, not only what was missed.</a:t>
            </a:r>
          </a:p>
        </p:txBody>
      </p:sp>
      <p:sp>
        <p:nvSpPr>
          <p:cNvPr id="41" name="TextBox 40"/>
          <p:cNvSpPr txBox="1"/>
          <p:nvPr/>
        </p:nvSpPr>
        <p:spPr>
          <a:xfrm>
            <a:off x="758952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78C4D5"/>
                </a:solidFill>
                <a:latin typeface="Inter"/>
              </a:rPr>
              <a:t>Spaced repetition</a:t>
            </a:r>
          </a:p>
        </p:txBody>
      </p:sp>
      <p:sp>
        <p:nvSpPr>
          <p:cNvPr id="42" name="TextBox 41"/>
          <p:cNvSpPr txBox="1"/>
          <p:nvPr/>
        </p:nvSpPr>
        <p:spPr>
          <a:xfrm>
            <a:off x="7589520" y="4864608"/>
            <a:ext cx="36576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Bring the right concept back when memory needs it.</a:t>
            </a:r>
          </a:p>
        </p:txBody>
      </p:sp>
      <p:sp>
        <p:nvSpPr>
          <p:cNvPr id="43" name="TextBox 42"/>
          <p:cNvSpPr txBox="1"/>
          <p:nvPr/>
        </p:nvSpPr>
        <p:spPr>
          <a:xfrm>
            <a:off x="82296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F0A873"/>
                </a:solidFill>
                <a:latin typeface="Inter"/>
              </a:rPr>
              <a:t>Misconception engine</a:t>
            </a:r>
          </a:p>
        </p:txBody>
      </p:sp>
      <p:sp>
        <p:nvSpPr>
          <p:cNvPr id="44" name="TextBox 43"/>
          <p:cNvSpPr txBox="1"/>
          <p:nvPr/>
        </p:nvSpPr>
        <p:spPr>
          <a:xfrm>
            <a:off x="822960" y="4864608"/>
            <a:ext cx="38862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Diagnose what is wrong, not only what was missed.</a:t>
            </a:r>
          </a:p>
        </p:txBody>
      </p:sp>
      <p:sp>
        <p:nvSpPr>
          <p:cNvPr id="45" name="TextBox 44"/>
          <p:cNvSpPr txBox="1"/>
          <p:nvPr/>
        </p:nvSpPr>
        <p:spPr>
          <a:xfrm>
            <a:off x="7589520" y="4572000"/>
            <a:ext cx="2377440" cy="201168"/>
          </a:xfrm>
          <a:prstGeom prst="rect">
            <a:avLst/>
          </a:prstGeom>
          <a:noFill/>
        </p:spPr>
        <p:txBody>
          <a:bodyPr wrap="square" lIns="0" tIns="0" rIns="0" bIns="0" anchor="t">
            <a:spAutoFit/>
          </a:bodyPr>
          <a:lstStyle/>
          <a:p>
            <a:pPr algn="l">
              <a:spcBef>
                <a:spcPts val="0"/>
              </a:spcBef>
              <a:spcAft>
                <a:spcPts val="0"/>
              </a:spcAft>
            </a:pPr>
            <a:r>
              <a:rPr sz="1300" b="1" i="0">
                <a:solidFill>
                  <a:srgbClr val="78C4D5"/>
                </a:solidFill>
                <a:latin typeface="Inter"/>
              </a:rPr>
              <a:t>Spaced repetition</a:t>
            </a:r>
          </a:p>
        </p:txBody>
      </p:sp>
      <p:sp>
        <p:nvSpPr>
          <p:cNvPr id="46" name="TextBox 45"/>
          <p:cNvSpPr txBox="1"/>
          <p:nvPr/>
        </p:nvSpPr>
        <p:spPr>
          <a:xfrm>
            <a:off x="7589520" y="4864608"/>
            <a:ext cx="365760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Bring the right concept back when memory needs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06</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TECHNOLOGY</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A learning intelligence layer underneath.</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Multimodal material in. Contextual, evidence-aware learning out.</a:t>
            </a:r>
          </a:p>
        </p:txBody>
      </p:sp>
      <p:grpSp>
        <p:nvGrpSpPr>
          <p:cNvPr id="54" name="Group 53">
            <a:extLst>
              <a:ext uri="{FF2B5EF4-FFF2-40B4-BE49-F238E27FC236}">
                <a16:creationId xmlns:a16="http://schemas.microsoft.com/office/drawing/2014/main" id="{143F0C8D-883F-BA04-2E41-2E6B4962718B}"/>
              </a:ext>
            </a:extLst>
          </p:cNvPr>
          <p:cNvGrpSpPr/>
          <p:nvPr/>
        </p:nvGrpSpPr>
        <p:grpSpPr>
          <a:xfrm>
            <a:off x="1108592" y="2437846"/>
            <a:ext cx="2514600" cy="2743200"/>
            <a:chOff x="731520" y="2268561"/>
            <a:chExt cx="2514600" cy="2743200"/>
          </a:xfrm>
        </p:grpSpPr>
        <p:cxnSp>
          <p:nvCxnSpPr>
            <p:cNvPr id="9" name="Connector 8"/>
            <p:cNvCxnSpPr>
              <a:cxnSpLocks/>
            </p:cNvCxnSpPr>
            <p:nvPr/>
          </p:nvCxnSpPr>
          <p:spPr>
            <a:xfrm>
              <a:off x="731520" y="2570313"/>
              <a:ext cx="251460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268561"/>
              <a:ext cx="219456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YOUR MATERIAL</a:t>
              </a:r>
            </a:p>
          </p:txBody>
        </p:sp>
        <p:grpSp>
          <p:nvGrpSpPr>
            <p:cNvPr id="53" name="Group 52">
              <a:extLst>
                <a:ext uri="{FF2B5EF4-FFF2-40B4-BE49-F238E27FC236}">
                  <a16:creationId xmlns:a16="http://schemas.microsoft.com/office/drawing/2014/main" id="{F24A46D2-9756-B982-EFD6-28C067620A84}"/>
                </a:ext>
              </a:extLst>
            </p:cNvPr>
            <p:cNvGrpSpPr/>
            <p:nvPr/>
          </p:nvGrpSpPr>
          <p:grpSpPr>
            <a:xfrm>
              <a:off x="731520" y="2862921"/>
              <a:ext cx="2340864" cy="1481328"/>
              <a:chOff x="987552" y="2862921"/>
              <a:chExt cx="2340864" cy="1481328"/>
            </a:xfrm>
          </p:grpSpPr>
          <p:grpSp>
            <p:nvGrpSpPr>
              <p:cNvPr id="51" name="Group 50">
                <a:extLst>
                  <a:ext uri="{FF2B5EF4-FFF2-40B4-BE49-F238E27FC236}">
                    <a16:creationId xmlns:a16="http://schemas.microsoft.com/office/drawing/2014/main" id="{C2E63649-D7E1-FFB1-1DEC-D93FA15D3FBC}"/>
                  </a:ext>
                </a:extLst>
              </p:cNvPr>
              <p:cNvGrpSpPr/>
              <p:nvPr/>
            </p:nvGrpSpPr>
            <p:grpSpPr>
              <a:xfrm>
                <a:off x="987552" y="2862921"/>
                <a:ext cx="1088136" cy="1481328"/>
                <a:chOff x="987552" y="2862921"/>
                <a:chExt cx="1088136" cy="1481328"/>
              </a:xfrm>
            </p:grpSpPr>
            <p:grpSp>
              <p:nvGrpSpPr>
                <p:cNvPr id="47" name="Group 46">
                  <a:extLst>
                    <a:ext uri="{FF2B5EF4-FFF2-40B4-BE49-F238E27FC236}">
                      <a16:creationId xmlns:a16="http://schemas.microsoft.com/office/drawing/2014/main" id="{9B893950-4FB9-91D2-52B2-F571631AC739}"/>
                    </a:ext>
                  </a:extLst>
                </p:cNvPr>
                <p:cNvGrpSpPr/>
                <p:nvPr/>
              </p:nvGrpSpPr>
              <p:grpSpPr>
                <a:xfrm>
                  <a:off x="987552" y="2862921"/>
                  <a:ext cx="1088136" cy="201168"/>
                  <a:chOff x="987552" y="2862921"/>
                  <a:chExt cx="1088136" cy="201168"/>
                </a:xfrm>
              </p:grpSpPr>
              <p:sp>
                <p:nvSpPr>
                  <p:cNvPr id="11" name="Oval 10"/>
                  <p:cNvSpPr/>
                  <p:nvPr/>
                </p:nvSpPr>
                <p:spPr>
                  <a:xfrm>
                    <a:off x="987552" y="2890353"/>
                    <a:ext cx="146304" cy="14630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07008" y="286292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PDFs</a:t>
                    </a:r>
                  </a:p>
                </p:txBody>
              </p:sp>
            </p:grpSp>
            <p:grpSp>
              <p:nvGrpSpPr>
                <p:cNvPr id="48" name="Group 47">
                  <a:extLst>
                    <a:ext uri="{FF2B5EF4-FFF2-40B4-BE49-F238E27FC236}">
                      <a16:creationId xmlns:a16="http://schemas.microsoft.com/office/drawing/2014/main" id="{F97AC932-C131-3631-CDAA-B34C05A3FEAC}"/>
                    </a:ext>
                  </a:extLst>
                </p:cNvPr>
                <p:cNvGrpSpPr/>
                <p:nvPr/>
              </p:nvGrpSpPr>
              <p:grpSpPr>
                <a:xfrm>
                  <a:off x="987552" y="3503001"/>
                  <a:ext cx="1088136" cy="201168"/>
                  <a:chOff x="987552" y="3503001"/>
                  <a:chExt cx="1088136" cy="201168"/>
                </a:xfrm>
              </p:grpSpPr>
              <p:sp>
                <p:nvSpPr>
                  <p:cNvPr id="15" name="Oval 14"/>
                  <p:cNvSpPr/>
                  <p:nvPr/>
                </p:nvSpPr>
                <p:spPr>
                  <a:xfrm>
                    <a:off x="987552" y="3530433"/>
                    <a:ext cx="146304" cy="14630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350300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Images</a:t>
                    </a:r>
                  </a:p>
                </p:txBody>
              </p:sp>
            </p:grpSp>
            <p:grpSp>
              <p:nvGrpSpPr>
                <p:cNvPr id="49" name="Group 48">
                  <a:extLst>
                    <a:ext uri="{FF2B5EF4-FFF2-40B4-BE49-F238E27FC236}">
                      <a16:creationId xmlns:a16="http://schemas.microsoft.com/office/drawing/2014/main" id="{29AB4F23-FF10-3C28-6E28-61464846B8CA}"/>
                    </a:ext>
                  </a:extLst>
                </p:cNvPr>
                <p:cNvGrpSpPr/>
                <p:nvPr/>
              </p:nvGrpSpPr>
              <p:grpSpPr>
                <a:xfrm>
                  <a:off x="987552" y="4143081"/>
                  <a:ext cx="1088136" cy="201168"/>
                  <a:chOff x="987552" y="4143081"/>
                  <a:chExt cx="1088136" cy="201168"/>
                </a:xfrm>
              </p:grpSpPr>
              <p:sp>
                <p:nvSpPr>
                  <p:cNvPr id="19" name="Oval 18"/>
                  <p:cNvSpPr/>
                  <p:nvPr/>
                </p:nvSpPr>
                <p:spPr>
                  <a:xfrm>
                    <a:off x="987552" y="4170513"/>
                    <a:ext cx="146304" cy="146304"/>
                  </a:xfrm>
                  <a:prstGeom prst="ellipse">
                    <a:avLst/>
                  </a:prstGeom>
                  <a:solidFill>
                    <a:srgbClr val="FFD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07008" y="4143081"/>
                    <a:ext cx="868680" cy="201168"/>
                  </a:xfrm>
                  <a:prstGeom prst="rect">
                    <a:avLst/>
                  </a:prstGeom>
                  <a:noFill/>
                </p:spPr>
                <p:txBody>
                  <a:bodyPr wrap="square" lIns="0" tIns="0" rIns="0" bIns="0" anchor="ctr">
                    <a:spAutoFit/>
                  </a:bodyPr>
                  <a:lstStyle/>
                  <a:p>
                    <a:pPr algn="l">
                      <a:spcBef>
                        <a:spcPts val="0"/>
                      </a:spcBef>
                      <a:spcAft>
                        <a:spcPts val="0"/>
                      </a:spcAft>
                    </a:pPr>
                    <a:r>
                      <a:rPr sz="1100" b="0" i="0" dirty="0">
                        <a:solidFill>
                          <a:srgbClr val="E4E4E4"/>
                        </a:solidFill>
                        <a:latin typeface="Inter"/>
                      </a:rPr>
                      <a:t>Notes</a:t>
                    </a:r>
                  </a:p>
                </p:txBody>
              </p:sp>
            </p:grpSp>
          </p:grpSp>
          <p:grpSp>
            <p:nvGrpSpPr>
              <p:cNvPr id="52" name="Group 51">
                <a:extLst>
                  <a:ext uri="{FF2B5EF4-FFF2-40B4-BE49-F238E27FC236}">
                    <a16:creationId xmlns:a16="http://schemas.microsoft.com/office/drawing/2014/main" id="{602FF9FE-9F52-325E-BF82-1F725235C63A}"/>
                  </a:ext>
                </a:extLst>
              </p:cNvPr>
              <p:cNvGrpSpPr/>
              <p:nvPr/>
            </p:nvGrpSpPr>
            <p:grpSpPr>
              <a:xfrm>
                <a:off x="2240280" y="2862921"/>
                <a:ext cx="1088136" cy="1481328"/>
                <a:chOff x="2240280" y="2862921"/>
                <a:chExt cx="1088136" cy="1481328"/>
              </a:xfrm>
            </p:grpSpPr>
            <p:grpSp>
              <p:nvGrpSpPr>
                <p:cNvPr id="40" name="Group 39">
                  <a:extLst>
                    <a:ext uri="{FF2B5EF4-FFF2-40B4-BE49-F238E27FC236}">
                      <a16:creationId xmlns:a16="http://schemas.microsoft.com/office/drawing/2014/main" id="{02EA2218-46C9-2A6E-824E-3F82ED179476}"/>
                    </a:ext>
                  </a:extLst>
                </p:cNvPr>
                <p:cNvGrpSpPr/>
                <p:nvPr/>
              </p:nvGrpSpPr>
              <p:grpSpPr>
                <a:xfrm>
                  <a:off x="2240280" y="2862921"/>
                  <a:ext cx="1088136" cy="201168"/>
                  <a:chOff x="2240280" y="2862921"/>
                  <a:chExt cx="1088136" cy="201168"/>
                </a:xfrm>
              </p:grpSpPr>
              <p:sp>
                <p:nvSpPr>
                  <p:cNvPr id="13" name="Oval 12"/>
                  <p:cNvSpPr/>
                  <p:nvPr/>
                </p:nvSpPr>
                <p:spPr>
                  <a:xfrm>
                    <a:off x="2240280" y="2890353"/>
                    <a:ext cx="146304" cy="146304"/>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59736" y="2862921"/>
                    <a:ext cx="868680" cy="201168"/>
                  </a:xfrm>
                  <a:prstGeom prst="rect">
                    <a:avLst/>
                  </a:prstGeom>
                  <a:noFill/>
                </p:spPr>
                <p:txBody>
                  <a:bodyPr wrap="square" lIns="0" tIns="0" rIns="0" bIns="0" anchor="t">
                    <a:spAutoFit/>
                  </a:bodyPr>
                  <a:lstStyle/>
                  <a:p>
                    <a:pPr algn="l">
                      <a:spcBef>
                        <a:spcPts val="0"/>
                      </a:spcBef>
                      <a:spcAft>
                        <a:spcPts val="0"/>
                      </a:spcAft>
                    </a:pPr>
                    <a:r>
                      <a:rPr sz="1100" b="0" i="0" dirty="0">
                        <a:solidFill>
                          <a:srgbClr val="E4E4E4"/>
                        </a:solidFill>
                        <a:latin typeface="Inter"/>
                      </a:rPr>
                      <a:t>Videos</a:t>
                    </a:r>
                  </a:p>
                </p:txBody>
              </p:sp>
            </p:grpSp>
            <p:grpSp>
              <p:nvGrpSpPr>
                <p:cNvPr id="39" name="Group 38">
                  <a:extLst>
                    <a:ext uri="{FF2B5EF4-FFF2-40B4-BE49-F238E27FC236}">
                      <a16:creationId xmlns:a16="http://schemas.microsoft.com/office/drawing/2014/main" id="{E885B34E-F515-3479-820C-634DA92C8E17}"/>
                    </a:ext>
                  </a:extLst>
                </p:cNvPr>
                <p:cNvGrpSpPr/>
                <p:nvPr/>
              </p:nvGrpSpPr>
              <p:grpSpPr>
                <a:xfrm>
                  <a:off x="2240280" y="3503001"/>
                  <a:ext cx="1088136" cy="201168"/>
                  <a:chOff x="2240280" y="3503001"/>
                  <a:chExt cx="1088136" cy="201168"/>
                </a:xfrm>
              </p:grpSpPr>
              <p:sp>
                <p:nvSpPr>
                  <p:cNvPr id="17" name="Oval 16"/>
                  <p:cNvSpPr/>
                  <p:nvPr/>
                </p:nvSpPr>
                <p:spPr>
                  <a:xfrm>
                    <a:off x="2240280" y="3530433"/>
                    <a:ext cx="146304" cy="146304"/>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59736" y="3503001"/>
                    <a:ext cx="868680" cy="201168"/>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Web</a:t>
                    </a:r>
                  </a:p>
                </p:txBody>
              </p:sp>
            </p:grpSp>
            <p:grpSp>
              <p:nvGrpSpPr>
                <p:cNvPr id="35" name="Group 34">
                  <a:extLst>
                    <a:ext uri="{FF2B5EF4-FFF2-40B4-BE49-F238E27FC236}">
                      <a16:creationId xmlns:a16="http://schemas.microsoft.com/office/drawing/2014/main" id="{006BCC66-DF16-C581-FFA1-F58A134B8EF6}"/>
                    </a:ext>
                  </a:extLst>
                </p:cNvPr>
                <p:cNvGrpSpPr/>
                <p:nvPr/>
              </p:nvGrpSpPr>
              <p:grpSpPr>
                <a:xfrm>
                  <a:off x="2240280" y="4143081"/>
                  <a:ext cx="1088136" cy="201168"/>
                  <a:chOff x="2240280" y="4143081"/>
                  <a:chExt cx="1088136" cy="201168"/>
                </a:xfrm>
              </p:grpSpPr>
              <p:sp>
                <p:nvSpPr>
                  <p:cNvPr id="21" name="Oval 20"/>
                  <p:cNvSpPr/>
                  <p:nvPr/>
                </p:nvSpPr>
                <p:spPr>
                  <a:xfrm>
                    <a:off x="2240280" y="4170513"/>
                    <a:ext cx="146304" cy="14630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59736" y="4143081"/>
                    <a:ext cx="868680" cy="201168"/>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Chats</a:t>
                    </a:r>
                  </a:p>
                </p:txBody>
              </p:sp>
            </p:grpSp>
          </p:grpSp>
        </p:grpSp>
        <p:sp>
          <p:nvSpPr>
            <p:cNvPr id="23" name="TextBox 22"/>
            <p:cNvSpPr txBox="1"/>
            <p:nvPr/>
          </p:nvSpPr>
          <p:spPr>
            <a:xfrm>
              <a:off x="731520" y="4600281"/>
              <a:ext cx="2011680" cy="411480"/>
            </a:xfrm>
            <a:prstGeom prst="rect">
              <a:avLst/>
            </a:prstGeom>
            <a:noFill/>
          </p:spPr>
          <p:txBody>
            <a:bodyPr wrap="square" lIns="0" tIns="0" rIns="0" bIns="0" anchor="t">
              <a:spAutoFit/>
            </a:bodyPr>
            <a:lstStyle/>
            <a:p>
              <a:pPr algn="l">
                <a:spcBef>
                  <a:spcPts val="0"/>
                </a:spcBef>
                <a:spcAft>
                  <a:spcPts val="0"/>
                </a:spcAft>
              </a:pPr>
              <a:r>
                <a:rPr sz="1300" b="0" i="0">
                  <a:solidFill>
                    <a:srgbClr val="9C9C9C"/>
                  </a:solidFill>
                  <a:latin typeface="Inter"/>
                </a:rPr>
                <a:t>Many formats.
One learning context.</a:t>
              </a:r>
            </a:p>
          </p:txBody>
        </p:sp>
      </p:grpSp>
      <p:grpSp>
        <p:nvGrpSpPr>
          <p:cNvPr id="26" name="Group 25">
            <a:extLst>
              <a:ext uri="{FF2B5EF4-FFF2-40B4-BE49-F238E27FC236}">
                <a16:creationId xmlns:a16="http://schemas.microsoft.com/office/drawing/2014/main" id="{B9354B26-F808-4AC3-36B4-42D8D1F127DA}"/>
              </a:ext>
            </a:extLst>
          </p:cNvPr>
          <p:cNvGrpSpPr/>
          <p:nvPr/>
        </p:nvGrpSpPr>
        <p:grpSpPr>
          <a:xfrm>
            <a:off x="4789052" y="2602438"/>
            <a:ext cx="2148840" cy="2414016"/>
            <a:chOff x="4581625" y="2329683"/>
            <a:chExt cx="2148840" cy="2414016"/>
          </a:xfrm>
        </p:grpSpPr>
        <p:sp>
          <p:nvSpPr>
            <p:cNvPr id="24" name="Rectangle 23"/>
            <p:cNvSpPr/>
            <p:nvPr/>
          </p:nvSpPr>
          <p:spPr>
            <a:xfrm>
              <a:off x="4581625" y="2329683"/>
              <a:ext cx="2148840" cy="438912"/>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UNDERSTAND</a:t>
              </a:r>
              <a:endParaRPr dirty="0"/>
            </a:p>
          </p:txBody>
        </p:sp>
        <p:sp>
          <p:nvSpPr>
            <p:cNvPr id="28" name="Down Arrow 27"/>
            <p:cNvSpPr/>
            <p:nvPr/>
          </p:nvSpPr>
          <p:spPr>
            <a:xfrm>
              <a:off x="5592037" y="2800599"/>
              <a:ext cx="128016" cy="155448"/>
            </a:xfrm>
            <a:prstGeom prst="downArrow">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81625" y="2988051"/>
              <a:ext cx="2148840" cy="438912"/>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CONNECT</a:t>
              </a:r>
              <a:endParaRPr dirty="0"/>
            </a:p>
          </p:txBody>
        </p:sp>
        <p:sp>
          <p:nvSpPr>
            <p:cNvPr id="32" name="Down Arrow 31"/>
            <p:cNvSpPr/>
            <p:nvPr/>
          </p:nvSpPr>
          <p:spPr>
            <a:xfrm>
              <a:off x="5592037" y="3458967"/>
              <a:ext cx="128016" cy="155448"/>
            </a:xfrm>
            <a:prstGeom prst="downArrow">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81625" y="3646419"/>
              <a:ext cx="2148840" cy="438912"/>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RETRIEVE</a:t>
              </a:r>
            </a:p>
          </p:txBody>
        </p:sp>
        <p:sp>
          <p:nvSpPr>
            <p:cNvPr id="36" name="Down Arrow 35"/>
            <p:cNvSpPr/>
            <p:nvPr/>
          </p:nvSpPr>
          <p:spPr>
            <a:xfrm>
              <a:off x="5592037" y="4117335"/>
              <a:ext cx="128016" cy="155448"/>
            </a:xfrm>
            <a:prstGeom prst="downArrow">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81625" y="4304787"/>
              <a:ext cx="2148840" cy="438912"/>
            </a:xfrm>
            <a:prstGeom prst="rect">
              <a:avLst/>
            </a:prstGeom>
            <a:solidFill>
              <a:srgbClr val="1D1D1D"/>
            </a:solidFill>
            <a:ln w="12700">
              <a:solidFill>
                <a:srgbClr val="ED84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E4E4E4"/>
                  </a:solidFill>
                  <a:latin typeface="Inter"/>
                </a:rPr>
                <a:t>REASON</a:t>
              </a:r>
            </a:p>
          </p:txBody>
        </p:sp>
      </p:grpSp>
      <p:grpSp>
        <p:nvGrpSpPr>
          <p:cNvPr id="27" name="Group 26">
            <a:extLst>
              <a:ext uri="{FF2B5EF4-FFF2-40B4-BE49-F238E27FC236}">
                <a16:creationId xmlns:a16="http://schemas.microsoft.com/office/drawing/2014/main" id="{64E568E1-39B6-7DAA-DA36-9559E9BE8681}"/>
              </a:ext>
            </a:extLst>
          </p:cNvPr>
          <p:cNvGrpSpPr/>
          <p:nvPr/>
        </p:nvGrpSpPr>
        <p:grpSpPr>
          <a:xfrm>
            <a:off x="8103751" y="2904190"/>
            <a:ext cx="3566161" cy="1810512"/>
            <a:chOff x="7726679" y="3091521"/>
            <a:chExt cx="3566161" cy="1810512"/>
          </a:xfrm>
        </p:grpSpPr>
        <p:cxnSp>
          <p:nvCxnSpPr>
            <p:cNvPr id="41" name="Connector 40"/>
            <p:cNvCxnSpPr/>
            <p:nvPr/>
          </p:nvCxnSpPr>
          <p:spPr>
            <a:xfrm>
              <a:off x="7726679" y="3091521"/>
              <a:ext cx="3566161"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726679" y="4902033"/>
              <a:ext cx="3566161"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001000" y="3676737"/>
              <a:ext cx="3063240" cy="640080"/>
            </a:xfrm>
            <a:prstGeom prst="rect">
              <a:avLst/>
            </a:prstGeom>
            <a:noFill/>
          </p:spPr>
          <p:txBody>
            <a:bodyPr wrap="square" lIns="0" tIns="0" rIns="0" bIns="0" anchor="ctr">
              <a:spAutoFit/>
            </a:bodyPr>
            <a:lstStyle/>
            <a:p>
              <a:pPr algn="ctr">
                <a:spcBef>
                  <a:spcPts val="0"/>
                </a:spcBef>
                <a:spcAft>
                  <a:spcPts val="0"/>
                </a:spcAft>
              </a:pPr>
              <a:r>
                <a:rPr sz="2300" b="1" i="0">
                  <a:solidFill>
                    <a:srgbClr val="ABC4FF"/>
                  </a:solidFill>
                  <a:latin typeface="Inter"/>
                </a:rPr>
                <a:t>PERSONALIZED
LEARNING</a:t>
              </a:r>
            </a:p>
          </p:txBody>
        </p:sp>
      </p:grpSp>
      <p:sp>
        <p:nvSpPr>
          <p:cNvPr id="44" name="TextBox 43"/>
          <p:cNvSpPr txBox="1"/>
          <p:nvPr/>
        </p:nvSpPr>
        <p:spPr>
          <a:xfrm>
            <a:off x="777240" y="5743281"/>
            <a:ext cx="10698480" cy="201168"/>
          </a:xfrm>
          <a:prstGeom prst="rect">
            <a:avLst/>
          </a:prstGeom>
          <a:noFill/>
        </p:spPr>
        <p:txBody>
          <a:bodyPr wrap="square" lIns="0" tIns="0" rIns="0" bIns="0" anchor="t">
            <a:spAutoFit/>
          </a:bodyPr>
          <a:lstStyle/>
          <a:p>
            <a:pPr algn="ctr">
              <a:spcBef>
                <a:spcPts val="0"/>
              </a:spcBef>
              <a:spcAft>
                <a:spcPts val="0"/>
              </a:spcAft>
            </a:pPr>
            <a:r>
              <a:rPr sz="850" b="0" i="0">
                <a:solidFill>
                  <a:srgbClr val="6E6E6E"/>
                </a:solidFill>
                <a:latin typeface="Cascadia Mono"/>
              </a:rPr>
              <a:t>Retrieval stack  •  semantic + lexical + exact-match  •  reranking  •  abstention</a:t>
            </a:r>
          </a:p>
        </p:txBody>
      </p:sp>
      <p:cxnSp>
        <p:nvCxnSpPr>
          <p:cNvPr id="45" name="Connector 44"/>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07</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WHY NOW</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AI has commoditized answers.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next problem is learning.</a:t>
            </a:r>
          </a:p>
        </p:txBody>
      </p:sp>
      <p:cxnSp>
        <p:nvCxnSpPr>
          <p:cNvPr id="9" name="Connector 8"/>
          <p:cNvCxnSpPr/>
          <p:nvPr/>
        </p:nvCxnSpPr>
        <p:spPr>
          <a:xfrm>
            <a:off x="6089904" y="1920240"/>
            <a:ext cx="0" cy="306324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97280" y="2176272"/>
            <a:ext cx="2377440" cy="201168"/>
          </a:xfrm>
          <a:prstGeom prst="rect">
            <a:avLst/>
          </a:prstGeom>
          <a:noFill/>
        </p:spPr>
        <p:txBody>
          <a:bodyPr wrap="square" lIns="0" tIns="0" rIns="0" bIns="0" anchor="t">
            <a:spAutoFit/>
          </a:bodyPr>
          <a:lstStyle/>
          <a:p>
            <a:pPr algn="l">
              <a:spcBef>
                <a:spcPts val="0"/>
              </a:spcBef>
              <a:spcAft>
                <a:spcPts val="0"/>
              </a:spcAft>
            </a:pPr>
            <a:r>
              <a:rPr sz="1000" b="1" i="0">
                <a:solidFill>
                  <a:srgbClr val="9C9C9C"/>
                </a:solidFill>
                <a:latin typeface="Cascadia Mono"/>
              </a:rPr>
              <a:t>BEFORE AI</a:t>
            </a:r>
          </a:p>
        </p:txBody>
      </p:sp>
      <p:sp>
        <p:nvSpPr>
          <p:cNvPr id="11" name="TextBox 10"/>
          <p:cNvSpPr txBox="1"/>
          <p:nvPr/>
        </p:nvSpPr>
        <p:spPr>
          <a:xfrm>
            <a:off x="6647688" y="2176272"/>
            <a:ext cx="237744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WITH AI</a:t>
            </a:r>
          </a:p>
        </p:txBody>
      </p:sp>
      <p:grpSp>
        <p:nvGrpSpPr>
          <p:cNvPr id="14" name="Group 13">
            <a:extLst>
              <a:ext uri="{FF2B5EF4-FFF2-40B4-BE49-F238E27FC236}">
                <a16:creationId xmlns:a16="http://schemas.microsoft.com/office/drawing/2014/main" id="{E28F461C-E298-1AEC-AAE7-ECE1C9076DC9}"/>
              </a:ext>
            </a:extLst>
          </p:cNvPr>
          <p:cNvGrpSpPr/>
          <p:nvPr/>
        </p:nvGrpSpPr>
        <p:grpSpPr>
          <a:xfrm>
            <a:off x="1097280" y="2743200"/>
            <a:ext cx="3931920" cy="274320"/>
            <a:chOff x="1097280" y="2743200"/>
            <a:chExt cx="3931920" cy="274320"/>
          </a:xfrm>
        </p:grpSpPr>
        <p:sp>
          <p:nvSpPr>
            <p:cNvPr id="12" name="Oval 11"/>
            <p:cNvSpPr/>
            <p:nvPr/>
          </p:nvSpPr>
          <p:spPr>
            <a:xfrm>
              <a:off x="1097280" y="2779776"/>
              <a:ext cx="201168" cy="201168"/>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40" y="2743200"/>
              <a:ext cx="3566160" cy="27432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Find information</a:t>
              </a:r>
            </a:p>
          </p:txBody>
        </p:sp>
      </p:grpSp>
      <p:sp>
        <p:nvSpPr>
          <p:cNvPr id="15" name="Down Arrow 14"/>
          <p:cNvSpPr/>
          <p:nvPr/>
        </p:nvSpPr>
        <p:spPr>
          <a:xfrm>
            <a:off x="1097280" y="3131820"/>
            <a:ext cx="128016" cy="155448"/>
          </a:xfrm>
          <a:prstGeom prst="downArrow">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402AED16-7858-901E-5E95-C134D54CAD4D}"/>
              </a:ext>
            </a:extLst>
          </p:cNvPr>
          <p:cNvGrpSpPr/>
          <p:nvPr/>
        </p:nvGrpSpPr>
        <p:grpSpPr>
          <a:xfrm>
            <a:off x="1097280" y="3401568"/>
            <a:ext cx="3931920" cy="274320"/>
            <a:chOff x="1097280" y="3401568"/>
            <a:chExt cx="3931920" cy="274320"/>
          </a:xfrm>
        </p:grpSpPr>
        <p:sp>
          <p:nvSpPr>
            <p:cNvPr id="16" name="Oval 15"/>
            <p:cNvSpPr/>
            <p:nvPr/>
          </p:nvSpPr>
          <p:spPr>
            <a:xfrm>
              <a:off x="1097280" y="3438144"/>
              <a:ext cx="201168" cy="201168"/>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63040" y="3401568"/>
              <a:ext cx="3566160" cy="274320"/>
            </a:xfrm>
            <a:prstGeom prst="rect">
              <a:avLst/>
            </a:prstGeom>
            <a:noFill/>
          </p:spPr>
          <p:txBody>
            <a:bodyPr wrap="square" lIns="0" tIns="0" rIns="0" bIns="0" anchor="t">
              <a:spAutoFit/>
            </a:bodyPr>
            <a:lstStyle/>
            <a:p>
              <a:pPr algn="l">
                <a:spcBef>
                  <a:spcPts val="0"/>
                </a:spcBef>
                <a:spcAft>
                  <a:spcPts val="0"/>
                </a:spcAft>
              </a:pPr>
              <a:r>
                <a:rPr sz="1700" b="1" i="0" dirty="0">
                  <a:solidFill>
                    <a:srgbClr val="E4E4E4"/>
                  </a:solidFill>
                  <a:latin typeface="Inter"/>
                </a:rPr>
                <a:t>Understand it</a:t>
              </a:r>
            </a:p>
          </p:txBody>
        </p:sp>
      </p:grpSp>
      <p:sp>
        <p:nvSpPr>
          <p:cNvPr id="19" name="Down Arrow 18"/>
          <p:cNvSpPr/>
          <p:nvPr/>
        </p:nvSpPr>
        <p:spPr>
          <a:xfrm>
            <a:off x="1097280" y="3790188"/>
            <a:ext cx="128016" cy="155448"/>
          </a:xfrm>
          <a:prstGeom prst="downArrow">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Group 22">
            <a:extLst>
              <a:ext uri="{FF2B5EF4-FFF2-40B4-BE49-F238E27FC236}">
                <a16:creationId xmlns:a16="http://schemas.microsoft.com/office/drawing/2014/main" id="{675071C1-A6D9-77A5-1AA5-6AE055402814}"/>
              </a:ext>
            </a:extLst>
          </p:cNvPr>
          <p:cNvGrpSpPr/>
          <p:nvPr/>
        </p:nvGrpSpPr>
        <p:grpSpPr>
          <a:xfrm>
            <a:off x="1097280" y="4059935"/>
            <a:ext cx="3931920" cy="274320"/>
            <a:chOff x="1097280" y="4059935"/>
            <a:chExt cx="3931920" cy="274320"/>
          </a:xfrm>
        </p:grpSpPr>
        <p:sp>
          <p:nvSpPr>
            <p:cNvPr id="20" name="Oval 19"/>
            <p:cNvSpPr/>
            <p:nvPr/>
          </p:nvSpPr>
          <p:spPr>
            <a:xfrm>
              <a:off x="1097280" y="4096511"/>
              <a:ext cx="201168" cy="201168"/>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63040" y="4059935"/>
              <a:ext cx="3566160" cy="274320"/>
            </a:xfrm>
            <a:prstGeom prst="rect">
              <a:avLst/>
            </a:prstGeom>
            <a:noFill/>
          </p:spPr>
          <p:txBody>
            <a:bodyPr wrap="square" lIns="0" tIns="0" rIns="0" bIns="0" anchor="t">
              <a:spAutoFit/>
            </a:bodyPr>
            <a:lstStyle/>
            <a:p>
              <a:pPr algn="l">
                <a:spcBef>
                  <a:spcPts val="0"/>
                </a:spcBef>
                <a:spcAft>
                  <a:spcPts val="0"/>
                </a:spcAft>
              </a:pPr>
              <a:r>
                <a:rPr sz="1700" b="1" i="0" dirty="0">
                  <a:solidFill>
                    <a:srgbClr val="E4E4E4"/>
                  </a:solidFill>
                  <a:latin typeface="Inter"/>
                </a:rPr>
                <a:t>Remember it</a:t>
              </a:r>
            </a:p>
          </p:txBody>
        </p:sp>
      </p:grpSp>
      <p:sp>
        <p:nvSpPr>
          <p:cNvPr id="22" name="TextBox 21"/>
          <p:cNvSpPr txBox="1"/>
          <p:nvPr/>
        </p:nvSpPr>
        <p:spPr>
          <a:xfrm>
            <a:off x="6647688" y="3258968"/>
            <a:ext cx="694943" cy="320040"/>
          </a:xfrm>
          <a:prstGeom prst="rect">
            <a:avLst/>
          </a:prstGeom>
          <a:noFill/>
        </p:spPr>
        <p:txBody>
          <a:bodyPr wrap="square" lIns="0" tIns="0" rIns="0" bIns="0" anchor="t">
            <a:spAutoFit/>
          </a:bodyPr>
          <a:lstStyle/>
          <a:p>
            <a:pPr algn="l">
              <a:spcBef>
                <a:spcPts val="0"/>
              </a:spcBef>
              <a:spcAft>
                <a:spcPts val="0"/>
              </a:spcAft>
            </a:pPr>
            <a:r>
              <a:rPr sz="2000" b="1" i="0" dirty="0">
                <a:solidFill>
                  <a:srgbClr val="E4E4E4"/>
                </a:solidFill>
                <a:latin typeface="Inter"/>
              </a:rPr>
              <a:t>Ask</a:t>
            </a:r>
          </a:p>
        </p:txBody>
      </p:sp>
      <p:sp>
        <p:nvSpPr>
          <p:cNvPr id="24" name="Down Arrow 23"/>
          <p:cNvSpPr/>
          <p:nvPr/>
        </p:nvSpPr>
        <p:spPr>
          <a:xfrm rot="16200000">
            <a:off x="8485779" y="2031849"/>
            <a:ext cx="121707" cy="2792046"/>
          </a:xfrm>
          <a:prstGeom prst="downArrow">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88575" y="3264638"/>
            <a:ext cx="3566160" cy="274320"/>
          </a:xfrm>
          <a:prstGeom prst="rect">
            <a:avLst/>
          </a:prstGeom>
          <a:noFill/>
        </p:spPr>
        <p:txBody>
          <a:bodyPr wrap="square" lIns="0" tIns="0" rIns="0" bIns="0" anchor="t">
            <a:spAutoFit/>
          </a:bodyPr>
          <a:lstStyle/>
          <a:p>
            <a:pPr algn="l">
              <a:spcBef>
                <a:spcPts val="0"/>
              </a:spcBef>
              <a:spcAft>
                <a:spcPts val="0"/>
              </a:spcAft>
            </a:pPr>
            <a:r>
              <a:rPr sz="2000" b="1" i="0" dirty="0">
                <a:solidFill>
                  <a:srgbClr val="ABC4FF"/>
                </a:solidFill>
                <a:latin typeface="Inter"/>
              </a:rPr>
              <a:t>Answer</a:t>
            </a:r>
          </a:p>
        </p:txBody>
      </p:sp>
      <p:sp>
        <p:nvSpPr>
          <p:cNvPr id="26" name="TextBox 25"/>
          <p:cNvSpPr txBox="1"/>
          <p:nvPr/>
        </p:nvSpPr>
        <p:spPr>
          <a:xfrm>
            <a:off x="594360" y="5650992"/>
            <a:ext cx="10881360" cy="384048"/>
          </a:xfrm>
          <a:prstGeom prst="rect">
            <a:avLst/>
          </a:prstGeom>
          <a:noFill/>
        </p:spPr>
        <p:txBody>
          <a:bodyPr wrap="square" lIns="0" tIns="0" rIns="0" bIns="0" anchor="t">
            <a:spAutoFit/>
          </a:bodyPr>
          <a:lstStyle/>
          <a:p>
            <a:pPr algn="ctr">
              <a:spcBef>
                <a:spcPts val="0"/>
              </a:spcBef>
              <a:spcAft>
                <a:spcPts val="0"/>
              </a:spcAft>
            </a:pPr>
            <a:r>
              <a:rPr sz="2000" b="1" i="0">
                <a:solidFill>
                  <a:srgbClr val="E4E4E4"/>
                </a:solidFill>
                <a:latin typeface="Inter"/>
              </a:rPr>
              <a:t>The missing layer is everything after the answer.</a:t>
            </a:r>
          </a:p>
        </p:txBody>
      </p:sp>
      <p:cxnSp>
        <p:nvCxnSpPr>
          <p:cNvPr id="27" name="Connector 26"/>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08</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MARKET</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Start with the student. Expand into the institution.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focused wedge with a natural platform expansion.</a:t>
            </a:r>
          </a:p>
        </p:txBody>
      </p:sp>
      <p:sp>
        <p:nvSpPr>
          <p:cNvPr id="9" name="Rectangle 8"/>
          <p:cNvSpPr/>
          <p:nvPr/>
        </p:nvSpPr>
        <p:spPr>
          <a:xfrm>
            <a:off x="4892040" y="1828800"/>
            <a:ext cx="2377440" cy="566928"/>
          </a:xfrm>
          <a:prstGeom prst="rect">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01768" y="1986795"/>
            <a:ext cx="2157984" cy="246221"/>
          </a:xfrm>
          <a:prstGeom prst="rect">
            <a:avLst/>
          </a:prstGeom>
          <a:noFill/>
        </p:spPr>
        <p:txBody>
          <a:bodyPr wrap="square" lIns="0" tIns="0" rIns="0" bIns="0" anchor="ctr">
            <a:spAutoFit/>
          </a:bodyPr>
          <a:lstStyle/>
          <a:p>
            <a:pPr algn="ctr">
              <a:spcBef>
                <a:spcPts val="0"/>
              </a:spcBef>
              <a:spcAft>
                <a:spcPts val="0"/>
              </a:spcAft>
            </a:pPr>
            <a:r>
              <a:rPr sz="1600" b="1" i="0" dirty="0">
                <a:solidFill>
                  <a:srgbClr val="141414"/>
                </a:solidFill>
                <a:latin typeface="Inter"/>
              </a:rPr>
              <a:t>AVENIRE</a:t>
            </a:r>
          </a:p>
        </p:txBody>
      </p:sp>
      <p:cxnSp>
        <p:nvCxnSpPr>
          <p:cNvPr id="11" name="Connector 10"/>
          <p:cNvCxnSpPr/>
          <p:nvPr/>
        </p:nvCxnSpPr>
        <p:spPr>
          <a:xfrm>
            <a:off x="6080760" y="2414016"/>
            <a:ext cx="0" cy="374904"/>
          </a:xfrm>
          <a:prstGeom prst="line">
            <a:avLst/>
          </a:prstGeom>
          <a:ln w="2286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520440" y="2788920"/>
            <a:ext cx="2560320" cy="457200"/>
          </a:xfrm>
          <a:prstGeom prst="line">
            <a:avLst/>
          </a:prstGeom>
          <a:ln w="2286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80760" y="2788920"/>
            <a:ext cx="2560320" cy="457200"/>
          </a:xfrm>
          <a:prstGeom prst="line">
            <a:avLst/>
          </a:prstGeom>
          <a:ln w="22860">
            <a:solidFill>
              <a:srgbClr val="78C4D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240280" y="3246120"/>
            <a:ext cx="2377440" cy="566928"/>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dirty="0">
                <a:solidFill>
                  <a:srgbClr val="E4E4E4"/>
                </a:solidFill>
                <a:latin typeface="Inter"/>
              </a:rPr>
              <a:t>Students</a:t>
            </a:r>
          </a:p>
        </p:txBody>
      </p:sp>
      <p:sp>
        <p:nvSpPr>
          <p:cNvPr id="18" name="Rectangle 17"/>
          <p:cNvSpPr/>
          <p:nvPr/>
        </p:nvSpPr>
        <p:spPr>
          <a:xfrm>
            <a:off x="7543800" y="3246120"/>
            <a:ext cx="2651760" cy="566928"/>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lang="en-US" sz="1500" b="1" dirty="0">
                <a:solidFill>
                  <a:srgbClr val="E4E4E4"/>
                </a:solidFill>
                <a:latin typeface="Inter"/>
              </a:rPr>
              <a:t>Institutions</a:t>
            </a:r>
          </a:p>
        </p:txBody>
      </p:sp>
      <p:cxnSp>
        <p:nvCxnSpPr>
          <p:cNvPr id="20" name="Connector 19"/>
          <p:cNvCxnSpPr/>
          <p:nvPr/>
        </p:nvCxnSpPr>
        <p:spPr>
          <a:xfrm>
            <a:off x="3429000" y="3840480"/>
            <a:ext cx="0" cy="502920"/>
          </a:xfrm>
          <a:prstGeom prst="line">
            <a:avLst/>
          </a:prstGeom>
          <a:ln w="2032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69680" y="3840480"/>
            <a:ext cx="0" cy="50292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543800" y="4370832"/>
            <a:ext cx="2651760" cy="658368"/>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lang="en-US" sz="1500" b="1" dirty="0">
                <a:solidFill>
                  <a:srgbClr val="E4E4E4"/>
                </a:solidFill>
                <a:latin typeface="Inter"/>
              </a:rPr>
              <a:t>Universities
&amp; colleges</a:t>
            </a:r>
          </a:p>
        </p:txBody>
      </p:sp>
      <p:sp>
        <p:nvSpPr>
          <p:cNvPr id="27" name="Rectangle 26"/>
          <p:cNvSpPr/>
          <p:nvPr/>
        </p:nvSpPr>
        <p:spPr>
          <a:xfrm>
            <a:off x="2240280" y="4343400"/>
            <a:ext cx="2377440" cy="548640"/>
          </a:xfrm>
          <a:prstGeom prst="rect">
            <a:avLst/>
          </a:prstGeom>
          <a:solidFill>
            <a:srgbClr val="222222"/>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E4E4E4"/>
                </a:solidFill>
                <a:latin typeface="Inter"/>
              </a:rPr>
              <a:t>Self-directed
</a:t>
            </a:r>
            <a:r>
              <a:rPr lang="en-US" sz="1500" b="1" dirty="0">
                <a:solidFill>
                  <a:srgbClr val="E4E4E4"/>
                </a:solidFill>
                <a:latin typeface="Inter"/>
              </a:rPr>
              <a:t>learning</a:t>
            </a:r>
          </a:p>
        </p:txBody>
      </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09</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BUSINESS MODEL</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Simple, usage-based pricing.</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current hypothesis designed to reduce adoption friction and learn what students will pay for.</a:t>
            </a:r>
          </a:p>
        </p:txBody>
      </p:sp>
      <p:cxnSp>
        <p:nvCxnSpPr>
          <p:cNvPr id="9" name="Connector 8"/>
          <p:cNvCxnSpPr/>
          <p:nvPr/>
        </p:nvCxnSpPr>
        <p:spPr>
          <a:xfrm>
            <a:off x="777240" y="2148840"/>
            <a:ext cx="2651760" cy="0"/>
          </a:xfrm>
          <a:prstGeom prst="line">
            <a:avLst/>
          </a:prstGeom>
          <a:ln w="25400">
            <a:solidFill>
              <a:srgbClr val="ABC4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Access</a:t>
            </a:r>
          </a:p>
        </p:txBody>
      </p:sp>
      <p:sp>
        <p:nvSpPr>
          <p:cNvPr id="11" name="TextBox 10"/>
          <p:cNvSpPr txBox="1"/>
          <p:nvPr/>
        </p:nvSpPr>
        <p:spPr>
          <a:xfrm>
            <a:off x="77724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ABC4FF"/>
                </a:solidFill>
                <a:latin typeface="Inter"/>
              </a:rPr>
              <a:t>₹0</a:t>
            </a:r>
          </a:p>
        </p:txBody>
      </p:sp>
      <p:sp>
        <p:nvSpPr>
          <p:cNvPr id="12" name="TextBox 11"/>
          <p:cNvSpPr txBox="1"/>
          <p:nvPr/>
        </p:nvSpPr>
        <p:spPr>
          <a:xfrm>
            <a:off x="77724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students getting started.</a:t>
            </a:r>
          </a:p>
        </p:txBody>
      </p:sp>
      <p:sp>
        <p:nvSpPr>
          <p:cNvPr id="13" name="Oval 12"/>
          <p:cNvSpPr/>
          <p:nvPr/>
        </p:nvSpPr>
        <p:spPr>
          <a:xfrm>
            <a:off x="777240" y="4014215"/>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977639"/>
            <a:ext cx="2423160" cy="182880"/>
          </a:xfrm>
          <a:prstGeom prst="rect">
            <a:avLst/>
          </a:prstGeom>
          <a:noFill/>
        </p:spPr>
        <p:txBody>
          <a:bodyPr wrap="square" lIns="0" tIns="0" rIns="0" bIns="0" anchor="ctr">
            <a:spAutoFit/>
          </a:bodyPr>
          <a:lstStyle/>
          <a:p>
            <a:pPr algn="l">
              <a:spcBef>
                <a:spcPts val="0"/>
              </a:spcBef>
              <a:spcAft>
                <a:spcPts val="0"/>
              </a:spcAft>
            </a:pPr>
            <a:r>
              <a:rPr sz="1050" b="0" i="0" dirty="0">
                <a:solidFill>
                  <a:srgbClr val="E4E4E4"/>
                </a:solidFill>
                <a:latin typeface="Inter"/>
              </a:rPr>
              <a:t>330 Apollo credits</a:t>
            </a:r>
          </a:p>
        </p:txBody>
      </p:sp>
      <p:sp>
        <p:nvSpPr>
          <p:cNvPr id="15" name="Oval 14"/>
          <p:cNvSpPr/>
          <p:nvPr/>
        </p:nvSpPr>
        <p:spPr>
          <a:xfrm>
            <a:off x="777240" y="4343400"/>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2 GB storage</a:t>
            </a:r>
          </a:p>
        </p:txBody>
      </p:sp>
      <p:sp>
        <p:nvSpPr>
          <p:cNvPr id="17" name="Oval 16"/>
          <p:cNvSpPr/>
          <p:nvPr/>
        </p:nvSpPr>
        <p:spPr>
          <a:xfrm>
            <a:off x="777240" y="4672583"/>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AI tutor</a:t>
            </a:r>
          </a:p>
        </p:txBody>
      </p:sp>
      <p:sp>
        <p:nvSpPr>
          <p:cNvPr id="19" name="Oval 18"/>
          <p:cNvSpPr/>
          <p:nvPr/>
        </p:nvSpPr>
        <p:spPr>
          <a:xfrm>
            <a:off x="777240" y="5001768"/>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Interactive concepts</a:t>
            </a:r>
          </a:p>
        </p:txBody>
      </p:sp>
      <p:sp>
        <p:nvSpPr>
          <p:cNvPr id="21" name="Oval 20"/>
          <p:cNvSpPr/>
          <p:nvPr/>
        </p:nvSpPr>
        <p:spPr>
          <a:xfrm>
            <a:off x="777240" y="5330951"/>
            <a:ext cx="100584" cy="100584"/>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5294375"/>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Flashcards</a:t>
            </a:r>
          </a:p>
        </p:txBody>
      </p:sp>
      <p:cxnSp>
        <p:nvCxnSpPr>
          <p:cNvPr id="23" name="Connector 22"/>
          <p:cNvCxnSpPr/>
          <p:nvPr/>
        </p:nvCxnSpPr>
        <p:spPr>
          <a:xfrm>
            <a:off x="3904487"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60520" y="2148840"/>
            <a:ext cx="2651759" cy="0"/>
          </a:xfrm>
          <a:prstGeom prst="line">
            <a:avLst/>
          </a:prstGeom>
          <a:ln w="25400">
            <a:solidFill>
              <a:srgbClr val="78C4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6052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Core</a:t>
            </a:r>
          </a:p>
        </p:txBody>
      </p:sp>
      <p:sp>
        <p:nvSpPr>
          <p:cNvPr id="26" name="TextBox 25"/>
          <p:cNvSpPr txBox="1"/>
          <p:nvPr/>
        </p:nvSpPr>
        <p:spPr>
          <a:xfrm>
            <a:off x="416052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78C4D5"/>
                </a:solidFill>
                <a:latin typeface="Inter"/>
              </a:rPr>
              <a:t>₹450</a:t>
            </a:r>
          </a:p>
        </p:txBody>
      </p:sp>
      <p:sp>
        <p:nvSpPr>
          <p:cNvPr id="27" name="TextBox 26"/>
          <p:cNvSpPr txBox="1"/>
          <p:nvPr/>
        </p:nvSpPr>
        <p:spPr>
          <a:xfrm>
            <a:off x="416052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daily study.</a:t>
            </a:r>
          </a:p>
        </p:txBody>
      </p:sp>
      <p:sp>
        <p:nvSpPr>
          <p:cNvPr id="28" name="Oval 27"/>
          <p:cNvSpPr/>
          <p:nvPr/>
        </p:nvSpPr>
        <p:spPr>
          <a:xfrm>
            <a:off x="4160520" y="4014215"/>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89120" y="3977639"/>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1,880 Apollo credits</a:t>
            </a:r>
          </a:p>
        </p:txBody>
      </p:sp>
      <p:sp>
        <p:nvSpPr>
          <p:cNvPr id="30" name="Oval 29"/>
          <p:cNvSpPr/>
          <p:nvPr/>
        </p:nvSpPr>
        <p:spPr>
          <a:xfrm>
            <a:off x="4160520" y="4343400"/>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15 GB storage</a:t>
            </a:r>
          </a:p>
        </p:txBody>
      </p:sp>
      <p:sp>
        <p:nvSpPr>
          <p:cNvPr id="32" name="Oval 31"/>
          <p:cNvSpPr/>
          <p:nvPr/>
        </p:nvSpPr>
        <p:spPr>
          <a:xfrm>
            <a:off x="4160520" y="4672583"/>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Priority response</a:t>
            </a:r>
          </a:p>
        </p:txBody>
      </p:sp>
      <p:sp>
        <p:nvSpPr>
          <p:cNvPr id="34" name="Oval 33"/>
          <p:cNvSpPr/>
          <p:nvPr/>
        </p:nvSpPr>
        <p:spPr>
          <a:xfrm>
            <a:off x="4160520" y="5001768"/>
            <a:ext cx="100584" cy="100584"/>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Everything in Access</a:t>
            </a:r>
          </a:p>
        </p:txBody>
      </p:sp>
      <p:cxnSp>
        <p:nvCxnSpPr>
          <p:cNvPr id="36" name="Connector 35"/>
          <p:cNvCxnSpPr/>
          <p:nvPr/>
        </p:nvCxnSpPr>
        <p:spPr>
          <a:xfrm>
            <a:off x="7287768"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543800" y="2148840"/>
            <a:ext cx="2651760" cy="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543800" y="2359152"/>
            <a:ext cx="2194560" cy="274320"/>
          </a:xfrm>
          <a:prstGeom prst="rect">
            <a:avLst/>
          </a:prstGeom>
          <a:noFill/>
        </p:spPr>
        <p:txBody>
          <a:bodyPr wrap="square" lIns="0" tIns="0" rIns="0" bIns="0" anchor="t">
            <a:spAutoFit/>
          </a:bodyPr>
          <a:lstStyle/>
          <a:p>
            <a:pPr algn="l">
              <a:spcBef>
                <a:spcPts val="0"/>
              </a:spcBef>
              <a:spcAft>
                <a:spcPts val="0"/>
              </a:spcAft>
            </a:pPr>
            <a:r>
              <a:rPr sz="2000" b="1" i="0">
                <a:solidFill>
                  <a:srgbClr val="E4E4E4"/>
                </a:solidFill>
                <a:latin typeface="Inter"/>
              </a:rPr>
              <a:t>Scholar</a:t>
            </a:r>
          </a:p>
        </p:txBody>
      </p:sp>
      <p:sp>
        <p:nvSpPr>
          <p:cNvPr id="39" name="TextBox 38"/>
          <p:cNvSpPr txBox="1"/>
          <p:nvPr/>
        </p:nvSpPr>
        <p:spPr>
          <a:xfrm>
            <a:off x="7543800" y="2816352"/>
            <a:ext cx="2194560" cy="411480"/>
          </a:xfrm>
          <a:prstGeom prst="rect">
            <a:avLst/>
          </a:prstGeom>
          <a:noFill/>
        </p:spPr>
        <p:txBody>
          <a:bodyPr wrap="square" lIns="0" tIns="0" rIns="0" bIns="0" anchor="ctr">
            <a:spAutoFit/>
          </a:bodyPr>
          <a:lstStyle/>
          <a:p>
            <a:pPr algn="l">
              <a:spcBef>
                <a:spcPts val="0"/>
              </a:spcBef>
              <a:spcAft>
                <a:spcPts val="0"/>
              </a:spcAft>
            </a:pPr>
            <a:r>
              <a:rPr sz="2800" b="1" i="0">
                <a:solidFill>
                  <a:srgbClr val="F0A873"/>
                </a:solidFill>
                <a:latin typeface="Inter"/>
              </a:rPr>
              <a:t>₹1,350</a:t>
            </a:r>
          </a:p>
        </p:txBody>
      </p:sp>
      <p:sp>
        <p:nvSpPr>
          <p:cNvPr id="40" name="TextBox 39"/>
          <p:cNvSpPr txBox="1"/>
          <p:nvPr/>
        </p:nvSpPr>
        <p:spPr>
          <a:xfrm>
            <a:off x="7543800" y="3337560"/>
            <a:ext cx="2651760" cy="27432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For research-heavy work.</a:t>
            </a:r>
          </a:p>
        </p:txBody>
      </p:sp>
      <p:sp>
        <p:nvSpPr>
          <p:cNvPr id="41" name="Oval 40"/>
          <p:cNvSpPr/>
          <p:nvPr/>
        </p:nvSpPr>
        <p:spPr>
          <a:xfrm>
            <a:off x="7543800" y="4014215"/>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72400" y="3977639"/>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6,680 Apollo credits</a:t>
            </a:r>
          </a:p>
        </p:txBody>
      </p:sp>
      <p:sp>
        <p:nvSpPr>
          <p:cNvPr id="43" name="Oval 42"/>
          <p:cNvSpPr/>
          <p:nvPr/>
        </p:nvSpPr>
        <p:spPr>
          <a:xfrm>
            <a:off x="7543800" y="4343400"/>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72400" y="4306824"/>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50 GB storage</a:t>
            </a:r>
          </a:p>
        </p:txBody>
      </p:sp>
      <p:sp>
        <p:nvSpPr>
          <p:cNvPr id="45" name="Oval 44"/>
          <p:cNvSpPr/>
          <p:nvPr/>
        </p:nvSpPr>
        <p:spPr>
          <a:xfrm>
            <a:off x="7543800" y="4672583"/>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0" y="4636007"/>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Mastery tracking</a:t>
            </a:r>
          </a:p>
        </p:txBody>
      </p:sp>
      <p:sp>
        <p:nvSpPr>
          <p:cNvPr id="47" name="Oval 46"/>
          <p:cNvSpPr/>
          <p:nvPr/>
        </p:nvSpPr>
        <p:spPr>
          <a:xfrm>
            <a:off x="7543800" y="5001768"/>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72400" y="4965192"/>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Custom study plans</a:t>
            </a:r>
          </a:p>
        </p:txBody>
      </p:sp>
      <p:sp>
        <p:nvSpPr>
          <p:cNvPr id="49" name="Oval 48"/>
          <p:cNvSpPr/>
          <p:nvPr/>
        </p:nvSpPr>
        <p:spPr>
          <a:xfrm>
            <a:off x="7543800" y="5330951"/>
            <a:ext cx="100584" cy="100584"/>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72400" y="5294375"/>
            <a:ext cx="2423160" cy="182880"/>
          </a:xfrm>
          <a:prstGeom prst="rect">
            <a:avLst/>
          </a:prstGeom>
          <a:noFill/>
        </p:spPr>
        <p:txBody>
          <a:bodyPr wrap="square" lIns="0" tIns="0" rIns="0" bIns="0" anchor="ctr">
            <a:spAutoFit/>
          </a:bodyPr>
          <a:lstStyle/>
          <a:p>
            <a:pPr algn="l">
              <a:spcBef>
                <a:spcPts val="0"/>
              </a:spcBef>
              <a:spcAft>
                <a:spcPts val="0"/>
              </a:spcAft>
            </a:pPr>
            <a:r>
              <a:rPr sz="1050" b="0" i="0">
                <a:solidFill>
                  <a:srgbClr val="E4E4E4"/>
                </a:solidFill>
                <a:latin typeface="Inter"/>
              </a:rPr>
              <a:t>Experimental features</a:t>
            </a:r>
          </a:p>
        </p:txBody>
      </p:sp>
      <p:cxnSp>
        <p:nvCxnSpPr>
          <p:cNvPr id="51" name="Connector 50"/>
          <p:cNvCxnSpPr/>
          <p:nvPr/>
        </p:nvCxnSpPr>
        <p:spPr>
          <a:xfrm>
            <a:off x="777240" y="5623560"/>
            <a:ext cx="10607040" cy="0"/>
          </a:xfrm>
          <a:prstGeom prst="line">
            <a:avLst/>
          </a:prstGeom>
          <a:ln w="15240">
            <a:solidFill>
              <a:srgbClr val="A99AD1"/>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77240" y="5806440"/>
            <a:ext cx="1143000" cy="182880"/>
          </a:xfrm>
          <a:prstGeom prst="rect">
            <a:avLst/>
          </a:prstGeom>
          <a:noFill/>
        </p:spPr>
        <p:txBody>
          <a:bodyPr wrap="square" lIns="0" tIns="0" rIns="0" bIns="0" anchor="t">
            <a:spAutoFit/>
          </a:bodyPr>
          <a:lstStyle/>
          <a:p>
            <a:pPr algn="l">
              <a:spcBef>
                <a:spcPts val="0"/>
              </a:spcBef>
              <a:spcAft>
                <a:spcPts val="0"/>
              </a:spcAft>
            </a:pPr>
            <a:r>
              <a:rPr sz="1000" b="1" i="0">
                <a:solidFill>
                  <a:srgbClr val="A99AD1"/>
                </a:solidFill>
                <a:latin typeface="Cascadia Mono"/>
              </a:rPr>
              <a:t>Coming next</a:t>
            </a:r>
          </a:p>
        </p:txBody>
      </p:sp>
      <p:sp>
        <p:nvSpPr>
          <p:cNvPr id="53" name="TextBox 52"/>
          <p:cNvSpPr txBox="1"/>
          <p:nvPr/>
        </p:nvSpPr>
        <p:spPr>
          <a:xfrm>
            <a:off x="2057400" y="5779008"/>
            <a:ext cx="9235440" cy="256032"/>
          </a:xfrm>
          <a:prstGeom prst="rect">
            <a:avLst/>
          </a:prstGeom>
          <a:noFill/>
        </p:spPr>
        <p:txBody>
          <a:bodyPr wrap="square" lIns="0" tIns="0" rIns="0" bIns="0" anchor="t">
            <a:spAutoFit/>
          </a:bodyPr>
          <a:lstStyle/>
          <a:p>
            <a:pPr algn="l">
              <a:spcBef>
                <a:spcPts val="0"/>
              </a:spcBef>
              <a:spcAft>
                <a:spcPts val="0"/>
              </a:spcAft>
            </a:pPr>
            <a:r>
              <a:rPr sz="1100" b="0" i="0">
                <a:solidFill>
                  <a:srgbClr val="E4E4E4"/>
                </a:solidFill>
                <a:latin typeface="Inter"/>
              </a:rPr>
              <a:t>Institutional / Enterprise — university workspaces, educator tools and deployment across institutional knowledge.</a:t>
            </a:r>
          </a:p>
        </p:txBody>
      </p:sp>
      <p:cxnSp>
        <p:nvCxnSpPr>
          <p:cNvPr id="54" name="Connector 5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10</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TRACTION</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Early validation.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We are deliberately early — and precise about what is not proven yet.</a:t>
            </a:r>
          </a:p>
        </p:txBody>
      </p:sp>
      <p:sp>
        <p:nvSpPr>
          <p:cNvPr id="10" name="TextBox 9"/>
          <p:cNvSpPr txBox="1"/>
          <p:nvPr/>
        </p:nvSpPr>
        <p:spPr>
          <a:xfrm>
            <a:off x="777240" y="2575364"/>
            <a:ext cx="2286000" cy="822960"/>
          </a:xfrm>
          <a:prstGeom prst="rect">
            <a:avLst/>
          </a:prstGeom>
          <a:noFill/>
        </p:spPr>
        <p:txBody>
          <a:bodyPr wrap="square" lIns="0" tIns="0" rIns="0" bIns="0" anchor="t">
            <a:spAutoFit/>
          </a:bodyPr>
          <a:lstStyle/>
          <a:p>
            <a:pPr algn="l">
              <a:spcBef>
                <a:spcPts val="0"/>
              </a:spcBef>
              <a:spcAft>
                <a:spcPts val="0"/>
              </a:spcAft>
            </a:pPr>
            <a:r>
              <a:rPr sz="5200" b="1" i="0">
                <a:solidFill>
                  <a:srgbClr val="ABC4FF"/>
                </a:solidFill>
                <a:latin typeface="Inter"/>
              </a:rPr>
              <a:t>50+</a:t>
            </a:r>
          </a:p>
        </p:txBody>
      </p:sp>
      <p:sp>
        <p:nvSpPr>
          <p:cNvPr id="11" name="TextBox 10"/>
          <p:cNvSpPr txBox="1"/>
          <p:nvPr/>
        </p:nvSpPr>
        <p:spPr>
          <a:xfrm>
            <a:off x="822960" y="3599492"/>
            <a:ext cx="2651760" cy="27432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people on our waitlist</a:t>
            </a:r>
          </a:p>
        </p:txBody>
      </p:sp>
      <p:sp>
        <p:nvSpPr>
          <p:cNvPr id="12" name="TextBox 11"/>
          <p:cNvSpPr txBox="1"/>
          <p:nvPr/>
        </p:nvSpPr>
        <p:spPr>
          <a:xfrm>
            <a:off x="822960" y="4175564"/>
            <a:ext cx="2560320" cy="59436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 working product with early interest — before active usage or revenue.</a:t>
            </a:r>
          </a:p>
        </p:txBody>
      </p:sp>
      <p:sp>
        <p:nvSpPr>
          <p:cNvPr id="13" name="TextBox 12"/>
          <p:cNvSpPr txBox="1"/>
          <p:nvPr/>
        </p:nvSpPr>
        <p:spPr>
          <a:xfrm>
            <a:off x="4160520" y="2282756"/>
            <a:ext cx="310896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Where we are today</a:t>
            </a:r>
          </a:p>
        </p:txBody>
      </p:sp>
      <p:cxnSp>
        <p:nvCxnSpPr>
          <p:cNvPr id="14" name="Connector 13"/>
          <p:cNvCxnSpPr/>
          <p:nvPr/>
        </p:nvCxnSpPr>
        <p:spPr>
          <a:xfrm>
            <a:off x="4343400" y="3288596"/>
            <a:ext cx="6583680" cy="0"/>
          </a:xfrm>
          <a:prstGeom prst="line">
            <a:avLst/>
          </a:prstGeom>
          <a:ln w="20320">
            <a:solidFill>
              <a:srgbClr val="34343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526280" y="3105716"/>
            <a:ext cx="365760" cy="365760"/>
          </a:xfrm>
          <a:prstGeom prst="ellipse">
            <a:avLst/>
          </a:prstGeom>
          <a:solidFill>
            <a:srgbClr val="78C4D5"/>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1</a:t>
            </a:r>
            <a:endParaRPr dirty="0">
              <a:solidFill>
                <a:srgbClr val="141414"/>
              </a:solidFill>
            </a:endParaRPr>
          </a:p>
        </p:txBody>
      </p:sp>
      <p:sp>
        <p:nvSpPr>
          <p:cNvPr id="17" name="TextBox 16"/>
          <p:cNvSpPr txBox="1"/>
          <p:nvPr/>
        </p:nvSpPr>
        <p:spPr>
          <a:xfrm>
            <a:off x="411480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Product</a:t>
            </a:r>
          </a:p>
        </p:txBody>
      </p:sp>
      <p:sp>
        <p:nvSpPr>
          <p:cNvPr id="18" name="TextBox 17"/>
          <p:cNvSpPr txBox="1"/>
          <p:nvPr/>
        </p:nvSpPr>
        <p:spPr>
          <a:xfrm>
            <a:off x="397764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78C4D5"/>
                </a:solidFill>
                <a:latin typeface="Inter"/>
              </a:rPr>
              <a:t>Working</a:t>
            </a:r>
          </a:p>
        </p:txBody>
      </p:sp>
      <p:sp>
        <p:nvSpPr>
          <p:cNvPr id="19" name="Oval 18"/>
          <p:cNvSpPr/>
          <p:nvPr/>
        </p:nvSpPr>
        <p:spPr>
          <a:xfrm>
            <a:off x="6446520" y="3105716"/>
            <a:ext cx="365760" cy="365760"/>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2</a:t>
            </a:r>
            <a:endParaRPr dirty="0">
              <a:solidFill>
                <a:srgbClr val="141414"/>
              </a:solidFill>
            </a:endParaRPr>
          </a:p>
        </p:txBody>
      </p:sp>
      <p:sp>
        <p:nvSpPr>
          <p:cNvPr id="21" name="TextBox 20"/>
          <p:cNvSpPr txBox="1"/>
          <p:nvPr/>
        </p:nvSpPr>
        <p:spPr>
          <a:xfrm>
            <a:off x="603504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Waitlist</a:t>
            </a:r>
          </a:p>
        </p:txBody>
      </p:sp>
      <p:sp>
        <p:nvSpPr>
          <p:cNvPr id="22" name="TextBox 21"/>
          <p:cNvSpPr txBox="1"/>
          <p:nvPr/>
        </p:nvSpPr>
        <p:spPr>
          <a:xfrm>
            <a:off x="589788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ABC4FF"/>
                </a:solidFill>
                <a:latin typeface="Inter"/>
              </a:rPr>
              <a:t>50+</a:t>
            </a:r>
          </a:p>
        </p:txBody>
      </p:sp>
      <p:sp>
        <p:nvSpPr>
          <p:cNvPr id="23" name="Oval 22"/>
          <p:cNvSpPr/>
          <p:nvPr/>
        </p:nvSpPr>
        <p:spPr>
          <a:xfrm>
            <a:off x="8366760" y="3105716"/>
            <a:ext cx="365760" cy="365760"/>
          </a:xfrm>
          <a:prstGeom prst="ellipse">
            <a:avLst/>
          </a:prstGeom>
          <a:solidFill>
            <a:srgbClr val="9C9C9C"/>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3</a:t>
            </a:r>
            <a:endParaRPr dirty="0">
              <a:solidFill>
                <a:srgbClr val="141414"/>
              </a:solidFill>
            </a:endParaRPr>
          </a:p>
        </p:txBody>
      </p:sp>
      <p:sp>
        <p:nvSpPr>
          <p:cNvPr id="25" name="TextBox 24"/>
          <p:cNvSpPr txBox="1"/>
          <p:nvPr/>
        </p:nvSpPr>
        <p:spPr>
          <a:xfrm>
            <a:off x="795528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Active users</a:t>
            </a:r>
          </a:p>
        </p:txBody>
      </p:sp>
      <p:sp>
        <p:nvSpPr>
          <p:cNvPr id="26" name="TextBox 25"/>
          <p:cNvSpPr txBox="1"/>
          <p:nvPr/>
        </p:nvSpPr>
        <p:spPr>
          <a:xfrm>
            <a:off x="781812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9C9C9C"/>
                </a:solidFill>
                <a:latin typeface="Inter"/>
              </a:rPr>
              <a:t>Pre-launch</a:t>
            </a:r>
          </a:p>
        </p:txBody>
      </p:sp>
      <p:sp>
        <p:nvSpPr>
          <p:cNvPr id="27" name="Oval 26"/>
          <p:cNvSpPr/>
          <p:nvPr/>
        </p:nvSpPr>
        <p:spPr>
          <a:xfrm>
            <a:off x="10287000" y="3105716"/>
            <a:ext cx="365760" cy="365760"/>
          </a:xfrm>
          <a:prstGeom prst="ellipse">
            <a:avLst/>
          </a:prstGeom>
          <a:solidFill>
            <a:srgbClr val="9C9C9C"/>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141414"/>
                </a:solidFill>
              </a:rPr>
              <a:t>4</a:t>
            </a:r>
          </a:p>
        </p:txBody>
      </p:sp>
      <p:sp>
        <p:nvSpPr>
          <p:cNvPr id="29" name="TextBox 28"/>
          <p:cNvSpPr txBox="1"/>
          <p:nvPr/>
        </p:nvSpPr>
        <p:spPr>
          <a:xfrm>
            <a:off x="9875520" y="3745796"/>
            <a:ext cx="1188720" cy="182880"/>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Revenue</a:t>
            </a:r>
          </a:p>
        </p:txBody>
      </p:sp>
      <p:sp>
        <p:nvSpPr>
          <p:cNvPr id="30" name="TextBox 29"/>
          <p:cNvSpPr txBox="1"/>
          <p:nvPr/>
        </p:nvSpPr>
        <p:spPr>
          <a:xfrm>
            <a:off x="9738360" y="4056692"/>
            <a:ext cx="1463040" cy="182880"/>
          </a:xfrm>
          <a:prstGeom prst="rect">
            <a:avLst/>
          </a:prstGeom>
          <a:noFill/>
        </p:spPr>
        <p:txBody>
          <a:bodyPr wrap="square" lIns="0" tIns="0" rIns="0" bIns="0" anchor="t">
            <a:spAutoFit/>
          </a:bodyPr>
          <a:lstStyle/>
          <a:p>
            <a:pPr algn="ctr">
              <a:spcBef>
                <a:spcPts val="0"/>
              </a:spcBef>
              <a:spcAft>
                <a:spcPts val="0"/>
              </a:spcAft>
            </a:pPr>
            <a:r>
              <a:rPr sz="1000" b="1" i="0">
                <a:solidFill>
                  <a:srgbClr val="9C9C9C"/>
                </a:solidFill>
                <a:latin typeface="Inter"/>
              </a:rPr>
              <a:t>Pre-revenue</a:t>
            </a:r>
          </a:p>
        </p:txBody>
      </p:sp>
      <p:cxnSp>
        <p:nvCxnSpPr>
          <p:cNvPr id="31" name="Connector 30"/>
          <p:cNvCxnSpPr/>
          <p:nvPr/>
        </p:nvCxnSpPr>
        <p:spPr>
          <a:xfrm>
            <a:off x="4160520" y="5272844"/>
            <a:ext cx="685800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60520" y="5501444"/>
            <a:ext cx="246888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Cascadia Mono"/>
              </a:rPr>
              <a:t>What we're validating next</a:t>
            </a:r>
          </a:p>
        </p:txBody>
      </p:sp>
      <p:sp>
        <p:nvSpPr>
          <p:cNvPr id="33" name="TextBox 32"/>
          <p:cNvSpPr txBox="1"/>
          <p:nvPr/>
        </p:nvSpPr>
        <p:spPr>
          <a:xfrm>
            <a:off x="6629400" y="5455724"/>
            <a:ext cx="4389120" cy="256032"/>
          </a:xfrm>
          <a:prstGeom prst="rect">
            <a:avLst/>
          </a:prstGeom>
          <a:noFill/>
        </p:spPr>
        <p:txBody>
          <a:bodyPr wrap="square" lIns="0" tIns="0" rIns="0" bIns="0" anchor="t">
            <a:spAutoFit/>
          </a:bodyPr>
          <a:lstStyle/>
          <a:p>
            <a:pPr algn="ctr">
              <a:spcBef>
                <a:spcPts val="0"/>
              </a:spcBef>
              <a:spcAft>
                <a:spcPts val="0"/>
              </a:spcAft>
            </a:pPr>
            <a:r>
              <a:rPr sz="1100" b="1" i="0">
                <a:solidFill>
                  <a:srgbClr val="E4E4E4"/>
                </a:solidFill>
                <a:latin typeface="Inter"/>
              </a:rPr>
              <a:t>Activation  ·  Retention  ·  Willingness to pay  ·  Institutional pilots</a:t>
            </a:r>
          </a:p>
        </p:txBody>
      </p:sp>
      <p:cxnSp>
        <p:nvCxnSpPr>
          <p:cNvPr id="34" name="Connector 3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11</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ROADMAP</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From AI study tool to learning system.</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Prove the loop first. Deepen personalization. Then expand into institutions.</a:t>
            </a:r>
          </a:p>
        </p:txBody>
      </p:sp>
      <p:cxnSp>
        <p:nvCxnSpPr>
          <p:cNvPr id="10" name="Connector 9"/>
          <p:cNvCxnSpPr>
            <a:cxnSpLocks/>
          </p:cNvCxnSpPr>
          <p:nvPr/>
        </p:nvCxnSpPr>
        <p:spPr>
          <a:xfrm>
            <a:off x="1005840" y="2386584"/>
            <a:ext cx="749808" cy="0"/>
          </a:xfrm>
          <a:prstGeom prst="line">
            <a:avLst/>
          </a:prstGeom>
          <a:ln w="12700">
            <a:solidFill>
              <a:srgbClr val="ABC4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ABC4FF"/>
                </a:solidFill>
                <a:latin typeface="Cascadia Mono"/>
              </a:rPr>
              <a:t>NOW</a:t>
            </a:r>
          </a:p>
        </p:txBody>
      </p:sp>
      <p:sp>
        <p:nvSpPr>
          <p:cNvPr id="12" name="TextBox 11"/>
          <p:cNvSpPr txBox="1"/>
          <p:nvPr/>
        </p:nvSpPr>
        <p:spPr>
          <a:xfrm>
            <a:off x="1005840"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Build the learning loop</a:t>
            </a:r>
          </a:p>
        </p:txBody>
      </p:sp>
      <p:grpSp>
        <p:nvGrpSpPr>
          <p:cNvPr id="21" name="Group 20">
            <a:extLst>
              <a:ext uri="{FF2B5EF4-FFF2-40B4-BE49-F238E27FC236}">
                <a16:creationId xmlns:a16="http://schemas.microsoft.com/office/drawing/2014/main" id="{003D3ABF-BAAB-637A-9871-6EC9FB93B92E}"/>
              </a:ext>
            </a:extLst>
          </p:cNvPr>
          <p:cNvGrpSpPr/>
          <p:nvPr/>
        </p:nvGrpSpPr>
        <p:grpSpPr>
          <a:xfrm>
            <a:off x="1005840" y="3246120"/>
            <a:ext cx="2706624" cy="182880"/>
            <a:chOff x="1051560" y="3246120"/>
            <a:chExt cx="2706624" cy="182880"/>
          </a:xfrm>
        </p:grpSpPr>
        <p:sp>
          <p:nvSpPr>
            <p:cNvPr id="13" name="Oval 12"/>
            <p:cNvSpPr/>
            <p:nvPr/>
          </p:nvSpPr>
          <p:spPr>
            <a:xfrm>
              <a:off x="1051560" y="3278124"/>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9304" y="324612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Launch</a:t>
              </a:r>
            </a:p>
          </p:txBody>
        </p:sp>
      </p:grpSp>
      <p:grpSp>
        <p:nvGrpSpPr>
          <p:cNvPr id="22" name="Group 21">
            <a:extLst>
              <a:ext uri="{FF2B5EF4-FFF2-40B4-BE49-F238E27FC236}">
                <a16:creationId xmlns:a16="http://schemas.microsoft.com/office/drawing/2014/main" id="{F876F6CD-EBE1-FA38-DDF6-9388A20D757C}"/>
              </a:ext>
            </a:extLst>
          </p:cNvPr>
          <p:cNvGrpSpPr/>
          <p:nvPr/>
        </p:nvGrpSpPr>
        <p:grpSpPr>
          <a:xfrm>
            <a:off x="1005840" y="3651885"/>
            <a:ext cx="2706624" cy="182880"/>
            <a:chOff x="1051560" y="3685031"/>
            <a:chExt cx="2706624" cy="182880"/>
          </a:xfrm>
        </p:grpSpPr>
        <p:sp>
          <p:nvSpPr>
            <p:cNvPr id="15" name="Oval 14"/>
            <p:cNvSpPr/>
            <p:nvPr/>
          </p:nvSpPr>
          <p:spPr>
            <a:xfrm>
              <a:off x="1051560" y="3717035"/>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9304" y="3685031"/>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Acquire first users</a:t>
              </a:r>
            </a:p>
          </p:txBody>
        </p:sp>
      </p:grpSp>
      <p:grpSp>
        <p:nvGrpSpPr>
          <p:cNvPr id="24" name="Group 23">
            <a:extLst>
              <a:ext uri="{FF2B5EF4-FFF2-40B4-BE49-F238E27FC236}">
                <a16:creationId xmlns:a16="http://schemas.microsoft.com/office/drawing/2014/main" id="{57AC0179-18BF-F549-A195-082244F47145}"/>
              </a:ext>
            </a:extLst>
          </p:cNvPr>
          <p:cNvGrpSpPr/>
          <p:nvPr/>
        </p:nvGrpSpPr>
        <p:grpSpPr>
          <a:xfrm>
            <a:off x="1005840" y="4057650"/>
            <a:ext cx="2706624" cy="182880"/>
            <a:chOff x="1051560" y="4123944"/>
            <a:chExt cx="2706624" cy="182880"/>
          </a:xfrm>
        </p:grpSpPr>
        <p:sp>
          <p:nvSpPr>
            <p:cNvPr id="17" name="Oval 16"/>
            <p:cNvSpPr/>
            <p:nvPr/>
          </p:nvSpPr>
          <p:spPr>
            <a:xfrm>
              <a:off x="1051560" y="4155948"/>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9304" y="4123944"/>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Measure retention</a:t>
              </a:r>
            </a:p>
          </p:txBody>
        </p:sp>
      </p:grpSp>
      <p:grpSp>
        <p:nvGrpSpPr>
          <p:cNvPr id="36" name="Group 35">
            <a:extLst>
              <a:ext uri="{FF2B5EF4-FFF2-40B4-BE49-F238E27FC236}">
                <a16:creationId xmlns:a16="http://schemas.microsoft.com/office/drawing/2014/main" id="{C726CB6D-A69B-1CB0-C885-CA3384EA89DA}"/>
              </a:ext>
            </a:extLst>
          </p:cNvPr>
          <p:cNvGrpSpPr/>
          <p:nvPr/>
        </p:nvGrpSpPr>
        <p:grpSpPr>
          <a:xfrm>
            <a:off x="1005840" y="4463415"/>
            <a:ext cx="2706624" cy="182880"/>
            <a:chOff x="1051560" y="4562856"/>
            <a:chExt cx="2706624" cy="182880"/>
          </a:xfrm>
        </p:grpSpPr>
        <p:sp>
          <p:nvSpPr>
            <p:cNvPr id="19" name="Oval 18"/>
            <p:cNvSpPr/>
            <p:nvPr/>
          </p:nvSpPr>
          <p:spPr>
            <a:xfrm>
              <a:off x="1051560" y="4594860"/>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89304" y="4562856"/>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Improve core workflows</a:t>
              </a:r>
            </a:p>
          </p:txBody>
        </p:sp>
      </p:grpSp>
      <p:cxnSp>
        <p:nvCxnSpPr>
          <p:cNvPr id="23" name="Connector 22"/>
          <p:cNvCxnSpPr>
            <a:cxnSpLocks/>
          </p:cNvCxnSpPr>
          <p:nvPr/>
        </p:nvCxnSpPr>
        <p:spPr>
          <a:xfrm>
            <a:off x="4297680" y="2118167"/>
            <a:ext cx="0" cy="3349945"/>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2386584"/>
            <a:ext cx="749808" cy="0"/>
          </a:xfrm>
          <a:prstGeom prst="line">
            <a:avLst/>
          </a:prstGeom>
          <a:ln w="12700">
            <a:solidFill>
              <a:srgbClr val="78C4D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28032"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78C4D5"/>
                </a:solidFill>
                <a:latin typeface="Cascadia Mono"/>
              </a:rPr>
              <a:t>NEXT</a:t>
            </a:r>
          </a:p>
        </p:txBody>
      </p:sp>
      <p:sp>
        <p:nvSpPr>
          <p:cNvPr id="27" name="TextBox 26"/>
          <p:cNvSpPr txBox="1"/>
          <p:nvPr/>
        </p:nvSpPr>
        <p:spPr>
          <a:xfrm>
            <a:off x="4828032"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Personalize learning</a:t>
            </a:r>
          </a:p>
        </p:txBody>
      </p:sp>
      <p:grpSp>
        <p:nvGrpSpPr>
          <p:cNvPr id="39" name="Group 38">
            <a:extLst>
              <a:ext uri="{FF2B5EF4-FFF2-40B4-BE49-F238E27FC236}">
                <a16:creationId xmlns:a16="http://schemas.microsoft.com/office/drawing/2014/main" id="{F0562A58-C17B-2765-470F-F865F8799070}"/>
              </a:ext>
            </a:extLst>
          </p:cNvPr>
          <p:cNvGrpSpPr/>
          <p:nvPr/>
        </p:nvGrpSpPr>
        <p:grpSpPr>
          <a:xfrm>
            <a:off x="4840225" y="3246120"/>
            <a:ext cx="2706624" cy="182880"/>
            <a:chOff x="4846320" y="3246120"/>
            <a:chExt cx="2706624" cy="182880"/>
          </a:xfrm>
        </p:grpSpPr>
        <p:sp>
          <p:nvSpPr>
            <p:cNvPr id="28" name="Oval 27"/>
            <p:cNvSpPr/>
            <p:nvPr/>
          </p:nvSpPr>
          <p:spPr>
            <a:xfrm>
              <a:off x="4846320" y="3278124"/>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84064" y="324612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Better long-term memory</a:t>
              </a:r>
            </a:p>
          </p:txBody>
        </p:sp>
      </p:grpSp>
      <p:grpSp>
        <p:nvGrpSpPr>
          <p:cNvPr id="55" name="Group 54">
            <a:extLst>
              <a:ext uri="{FF2B5EF4-FFF2-40B4-BE49-F238E27FC236}">
                <a16:creationId xmlns:a16="http://schemas.microsoft.com/office/drawing/2014/main" id="{ECB48300-CE9D-AD94-7CDD-30DDD9829624}"/>
              </a:ext>
            </a:extLst>
          </p:cNvPr>
          <p:cNvGrpSpPr/>
          <p:nvPr/>
        </p:nvGrpSpPr>
        <p:grpSpPr>
          <a:xfrm>
            <a:off x="4843273" y="3685032"/>
            <a:ext cx="2706624" cy="182880"/>
            <a:chOff x="4846320" y="3685031"/>
            <a:chExt cx="2706624" cy="182880"/>
          </a:xfrm>
        </p:grpSpPr>
        <p:sp>
          <p:nvSpPr>
            <p:cNvPr id="30" name="Oval 29"/>
            <p:cNvSpPr/>
            <p:nvPr/>
          </p:nvSpPr>
          <p:spPr>
            <a:xfrm>
              <a:off x="4846320" y="3717035"/>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84064" y="3685031"/>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Mastery tracking</a:t>
              </a:r>
            </a:p>
          </p:txBody>
        </p:sp>
      </p:grpSp>
      <p:grpSp>
        <p:nvGrpSpPr>
          <p:cNvPr id="37" name="Group 36">
            <a:extLst>
              <a:ext uri="{FF2B5EF4-FFF2-40B4-BE49-F238E27FC236}">
                <a16:creationId xmlns:a16="http://schemas.microsoft.com/office/drawing/2014/main" id="{1334B6E0-3E38-3F51-DAEE-F81684300771}"/>
              </a:ext>
            </a:extLst>
          </p:cNvPr>
          <p:cNvGrpSpPr/>
          <p:nvPr/>
        </p:nvGrpSpPr>
        <p:grpSpPr>
          <a:xfrm>
            <a:off x="1005840" y="4869180"/>
            <a:ext cx="2706624" cy="182880"/>
            <a:chOff x="1067728" y="4869180"/>
            <a:chExt cx="2706624" cy="182880"/>
          </a:xfrm>
        </p:grpSpPr>
        <p:sp>
          <p:nvSpPr>
            <p:cNvPr id="32" name="Oval 31"/>
            <p:cNvSpPr/>
            <p:nvPr/>
          </p:nvSpPr>
          <p:spPr>
            <a:xfrm>
              <a:off x="1067728" y="4901184"/>
              <a:ext cx="118872" cy="118872"/>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05472" y="4869180"/>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Spaced repetition</a:t>
              </a:r>
            </a:p>
          </p:txBody>
        </p:sp>
      </p:grpSp>
      <p:grpSp>
        <p:nvGrpSpPr>
          <p:cNvPr id="56" name="Group 55">
            <a:extLst>
              <a:ext uri="{FF2B5EF4-FFF2-40B4-BE49-F238E27FC236}">
                <a16:creationId xmlns:a16="http://schemas.microsoft.com/office/drawing/2014/main" id="{9A1C3D36-1F02-2057-8C08-09B7FEB5DE0E}"/>
              </a:ext>
            </a:extLst>
          </p:cNvPr>
          <p:cNvGrpSpPr/>
          <p:nvPr/>
        </p:nvGrpSpPr>
        <p:grpSpPr>
          <a:xfrm>
            <a:off x="4846320" y="4562856"/>
            <a:ext cx="2706624" cy="182880"/>
            <a:chOff x="4846320" y="4562856"/>
            <a:chExt cx="2706624" cy="182880"/>
          </a:xfrm>
        </p:grpSpPr>
        <p:sp>
          <p:nvSpPr>
            <p:cNvPr id="34" name="Oval 33"/>
            <p:cNvSpPr/>
            <p:nvPr/>
          </p:nvSpPr>
          <p:spPr>
            <a:xfrm>
              <a:off x="4846320" y="4594860"/>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84064" y="4562856"/>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Personalized study plans</a:t>
              </a:r>
            </a:p>
          </p:txBody>
        </p:sp>
      </p:grpSp>
      <p:cxnSp>
        <p:nvCxnSpPr>
          <p:cNvPr id="38" name="Connector 37"/>
          <p:cNvCxnSpPr>
            <a:cxnSpLocks/>
          </p:cNvCxnSpPr>
          <p:nvPr/>
        </p:nvCxnSpPr>
        <p:spPr>
          <a:xfrm>
            <a:off x="8092440" y="2129742"/>
            <a:ext cx="0" cy="333837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22792" y="2386584"/>
            <a:ext cx="749808" cy="0"/>
          </a:xfrm>
          <a:prstGeom prst="line">
            <a:avLst/>
          </a:prstGeom>
          <a:ln w="12700">
            <a:solidFill>
              <a:srgbClr val="A99AD1"/>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622792" y="2139696"/>
            <a:ext cx="749808" cy="164592"/>
          </a:xfrm>
          <a:prstGeom prst="rect">
            <a:avLst/>
          </a:prstGeom>
          <a:noFill/>
        </p:spPr>
        <p:txBody>
          <a:bodyPr wrap="square" lIns="0" tIns="0" rIns="0" bIns="0" anchor="t">
            <a:spAutoFit/>
          </a:bodyPr>
          <a:lstStyle/>
          <a:p>
            <a:pPr algn="ctr">
              <a:spcBef>
                <a:spcPts val="0"/>
              </a:spcBef>
              <a:spcAft>
                <a:spcPts val="0"/>
              </a:spcAft>
            </a:pPr>
            <a:r>
              <a:rPr sz="800" b="1" i="0">
                <a:solidFill>
                  <a:srgbClr val="A99AD1"/>
                </a:solidFill>
                <a:latin typeface="Cascadia Mono"/>
              </a:rPr>
              <a:t>THEN</a:t>
            </a:r>
          </a:p>
        </p:txBody>
      </p:sp>
      <p:sp>
        <p:nvSpPr>
          <p:cNvPr id="42" name="TextBox 41"/>
          <p:cNvSpPr txBox="1"/>
          <p:nvPr/>
        </p:nvSpPr>
        <p:spPr>
          <a:xfrm>
            <a:off x="8622792" y="2651760"/>
            <a:ext cx="2651760" cy="320040"/>
          </a:xfrm>
          <a:prstGeom prst="rect">
            <a:avLst/>
          </a:prstGeom>
          <a:noFill/>
        </p:spPr>
        <p:txBody>
          <a:bodyPr wrap="square" lIns="0" tIns="0" rIns="0" bIns="0" anchor="t">
            <a:spAutoFit/>
          </a:bodyPr>
          <a:lstStyle/>
          <a:p>
            <a:pPr algn="l">
              <a:spcBef>
                <a:spcPts val="0"/>
              </a:spcBef>
              <a:spcAft>
                <a:spcPts val="0"/>
              </a:spcAft>
            </a:pPr>
            <a:r>
              <a:rPr sz="1700" b="1" i="0">
                <a:solidFill>
                  <a:srgbClr val="E4E4E4"/>
                </a:solidFill>
                <a:latin typeface="Inter"/>
              </a:rPr>
              <a:t>Institutional learning</a:t>
            </a:r>
          </a:p>
        </p:txBody>
      </p:sp>
      <p:sp>
        <p:nvSpPr>
          <p:cNvPr id="43" name="Oval 42"/>
          <p:cNvSpPr/>
          <p:nvPr/>
        </p:nvSpPr>
        <p:spPr>
          <a:xfrm>
            <a:off x="8641080" y="3300984"/>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78824" y="3246120"/>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University workspaces</a:t>
            </a:r>
          </a:p>
        </p:txBody>
      </p:sp>
      <p:sp>
        <p:nvSpPr>
          <p:cNvPr id="45" name="Oval 44"/>
          <p:cNvSpPr/>
          <p:nvPr/>
        </p:nvSpPr>
        <p:spPr>
          <a:xfrm>
            <a:off x="8641080" y="3739895"/>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78824" y="3685031"/>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Institutional knowledge</a:t>
            </a:r>
          </a:p>
        </p:txBody>
      </p:sp>
      <p:sp>
        <p:nvSpPr>
          <p:cNvPr id="47" name="Oval 46"/>
          <p:cNvSpPr/>
          <p:nvPr/>
        </p:nvSpPr>
        <p:spPr>
          <a:xfrm>
            <a:off x="8641080" y="4178807"/>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878824" y="4123944"/>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Admin / educator tools</a:t>
            </a:r>
          </a:p>
        </p:txBody>
      </p:sp>
      <p:sp>
        <p:nvSpPr>
          <p:cNvPr id="49" name="Oval 48"/>
          <p:cNvSpPr/>
          <p:nvPr/>
        </p:nvSpPr>
        <p:spPr>
          <a:xfrm>
            <a:off x="8641080" y="4617720"/>
            <a:ext cx="118872" cy="118872"/>
          </a:xfrm>
          <a:prstGeom prst="ellipse">
            <a:avLst/>
          </a:prstGeom>
          <a:solidFill>
            <a:srgbClr val="A99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78824" y="4562856"/>
            <a:ext cx="2468880" cy="182880"/>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Enterprise deployment</a:t>
            </a:r>
          </a:p>
        </p:txBody>
      </p:sp>
      <p:sp>
        <p:nvSpPr>
          <p:cNvPr id="51" name="TextBox 50"/>
          <p:cNvSpPr txBox="1"/>
          <p:nvPr/>
        </p:nvSpPr>
        <p:spPr>
          <a:xfrm>
            <a:off x="594360" y="5806440"/>
            <a:ext cx="10881360" cy="228600"/>
          </a:xfrm>
          <a:prstGeom prst="rect">
            <a:avLst/>
          </a:prstGeom>
          <a:noFill/>
        </p:spPr>
        <p:txBody>
          <a:bodyPr wrap="square" lIns="0" tIns="0" rIns="0" bIns="0" anchor="t">
            <a:spAutoFit/>
          </a:bodyPr>
          <a:lstStyle/>
          <a:p>
            <a:pPr algn="ctr">
              <a:spcBef>
                <a:spcPts val="0"/>
              </a:spcBef>
              <a:spcAft>
                <a:spcPts val="0"/>
              </a:spcAft>
            </a:pPr>
            <a:r>
              <a:rPr sz="1300" b="1" i="0">
                <a:solidFill>
                  <a:srgbClr val="ABC4FF"/>
                </a:solidFill>
                <a:latin typeface="Inter"/>
              </a:rPr>
              <a:t>Now building: misconception diagnosis  ·  Next: spaced repetition + mastery tracking.</a:t>
            </a:r>
          </a:p>
        </p:txBody>
      </p:sp>
      <p:cxnSp>
        <p:nvCxnSpPr>
          <p:cNvPr id="52" name="Connector 51"/>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
        <p:nvSpPr>
          <p:cNvPr id="54" name="TextBox 53"/>
          <p:cNvSpPr txBox="1"/>
          <p:nvPr/>
        </p:nvSpPr>
        <p:spPr>
          <a:xfrm>
            <a:off x="1005840" y="5314169"/>
            <a:ext cx="2560320" cy="201168"/>
          </a:xfrm>
          <a:prstGeom prst="rect">
            <a:avLst/>
          </a:prstGeom>
          <a:noFill/>
        </p:spPr>
        <p:txBody>
          <a:bodyPr wrap="square" lIns="0" tIns="0" rIns="0" bIns="0" anchor="t">
            <a:spAutoFit/>
          </a:bodyPr>
          <a:lstStyle/>
          <a:p>
            <a:pPr algn="l">
              <a:spcBef>
                <a:spcPts val="0"/>
              </a:spcBef>
              <a:spcAft>
                <a:spcPts val="0"/>
              </a:spcAft>
            </a:pPr>
            <a:r>
              <a:rPr sz="1000" b="1" i="0" dirty="0">
                <a:solidFill>
                  <a:srgbClr val="F0A873"/>
                </a:solidFill>
                <a:latin typeface="Inter"/>
              </a:rPr>
              <a:t>Misconception engine / in build</a:t>
            </a:r>
          </a:p>
        </p:txBody>
      </p:sp>
      <p:grpSp>
        <p:nvGrpSpPr>
          <p:cNvPr id="57" name="Group 56">
            <a:extLst>
              <a:ext uri="{FF2B5EF4-FFF2-40B4-BE49-F238E27FC236}">
                <a16:creationId xmlns:a16="http://schemas.microsoft.com/office/drawing/2014/main" id="{8EED53A4-8C37-7138-021C-66F8007EF3F9}"/>
              </a:ext>
            </a:extLst>
          </p:cNvPr>
          <p:cNvGrpSpPr/>
          <p:nvPr/>
        </p:nvGrpSpPr>
        <p:grpSpPr>
          <a:xfrm>
            <a:off x="4837177" y="4123944"/>
            <a:ext cx="2706624" cy="182880"/>
            <a:chOff x="4846320" y="4562856"/>
            <a:chExt cx="2706624" cy="182880"/>
          </a:xfrm>
        </p:grpSpPr>
        <p:sp>
          <p:nvSpPr>
            <p:cNvPr id="58" name="Oval 57">
              <a:extLst>
                <a:ext uri="{FF2B5EF4-FFF2-40B4-BE49-F238E27FC236}">
                  <a16:creationId xmlns:a16="http://schemas.microsoft.com/office/drawing/2014/main" id="{1F03375A-F9C3-8E95-3C2C-09000AD6ACC6}"/>
                </a:ext>
              </a:extLst>
            </p:cNvPr>
            <p:cNvSpPr/>
            <p:nvPr/>
          </p:nvSpPr>
          <p:spPr>
            <a:xfrm>
              <a:off x="4846320" y="4594860"/>
              <a:ext cx="118872" cy="11887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47670968-6514-754D-4F26-18999D71EEC6}"/>
                </a:ext>
              </a:extLst>
            </p:cNvPr>
            <p:cNvSpPr txBox="1"/>
            <p:nvPr/>
          </p:nvSpPr>
          <p:spPr>
            <a:xfrm>
              <a:off x="5084064" y="4562856"/>
              <a:ext cx="2468880" cy="182880"/>
            </a:xfrm>
            <a:prstGeom prst="rect">
              <a:avLst/>
            </a:prstGeom>
            <a:noFill/>
          </p:spPr>
          <p:txBody>
            <a:bodyPr wrap="square" lIns="0" tIns="0" rIns="0" bIns="0" anchor="t">
              <a:spAutoFit/>
            </a:bodyPr>
            <a:lstStyle/>
            <a:p>
              <a:pPr algn="l">
                <a:spcBef>
                  <a:spcPts val="0"/>
                </a:spcBef>
                <a:spcAft>
                  <a:spcPts val="0"/>
                </a:spcAft>
              </a:pPr>
              <a:r>
                <a:rPr sz="1100" b="0" i="0" dirty="0">
                  <a:solidFill>
                    <a:srgbClr val="9C9C9C"/>
                  </a:solidFill>
                  <a:latin typeface="Inter"/>
                </a:rPr>
                <a:t>Personalized study plans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12</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WHY AVENIRE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Built from the student's perspective.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founder is already inside the problem — and has built the product from the ground up.</a:t>
            </a:r>
          </a:p>
        </p:txBody>
      </p:sp>
      <p:sp>
        <p:nvSpPr>
          <p:cNvPr id="10" name="TextBox 9"/>
          <p:cNvSpPr txBox="1"/>
          <p:nvPr/>
        </p:nvSpPr>
        <p:spPr>
          <a:xfrm>
            <a:off x="1051560" y="3246120"/>
            <a:ext cx="2011680" cy="310896"/>
          </a:xfrm>
          <a:prstGeom prst="rect">
            <a:avLst/>
          </a:prstGeom>
          <a:noFill/>
        </p:spPr>
        <p:txBody>
          <a:bodyPr wrap="square" lIns="0" tIns="0" rIns="0" bIns="0" anchor="t">
            <a:spAutoFit/>
          </a:bodyPr>
          <a:lstStyle/>
          <a:p>
            <a:pPr algn="l">
              <a:spcBef>
                <a:spcPts val="0"/>
              </a:spcBef>
              <a:spcAft>
                <a:spcPts val="0"/>
              </a:spcAft>
            </a:pPr>
            <a:r>
              <a:rPr sz="2400" b="1" i="0">
                <a:solidFill>
                  <a:srgbClr val="E4E4E4"/>
                </a:solidFill>
                <a:latin typeface="Inter"/>
              </a:rPr>
              <a:t>Abhiram</a:t>
            </a:r>
          </a:p>
        </p:txBody>
      </p:sp>
      <p:sp>
        <p:nvSpPr>
          <p:cNvPr id="11" name="TextBox 10"/>
          <p:cNvSpPr txBox="1"/>
          <p:nvPr/>
        </p:nvSpPr>
        <p:spPr>
          <a:xfrm>
            <a:off x="1051560" y="3703320"/>
            <a:ext cx="2011680" cy="201168"/>
          </a:xfrm>
          <a:prstGeom prst="rect">
            <a:avLst/>
          </a:prstGeom>
          <a:noFill/>
        </p:spPr>
        <p:txBody>
          <a:bodyPr wrap="square" lIns="0" tIns="0" rIns="0" bIns="0" anchor="t">
            <a:spAutoFit/>
          </a:bodyPr>
          <a:lstStyle/>
          <a:p>
            <a:pPr algn="l">
              <a:spcBef>
                <a:spcPts val="0"/>
              </a:spcBef>
              <a:spcAft>
                <a:spcPts val="0"/>
              </a:spcAft>
            </a:pPr>
            <a:r>
              <a:rPr sz="1300" b="1" i="0">
                <a:solidFill>
                  <a:srgbClr val="ABC4FF"/>
                </a:solidFill>
                <a:latin typeface="Cascadia Mono"/>
              </a:rPr>
              <a:t>Founder</a:t>
            </a:r>
          </a:p>
        </p:txBody>
      </p:sp>
      <p:sp>
        <p:nvSpPr>
          <p:cNvPr id="12" name="TextBox 11"/>
          <p:cNvSpPr txBox="1"/>
          <p:nvPr/>
        </p:nvSpPr>
        <p:spPr>
          <a:xfrm>
            <a:off x="1051560" y="4069080"/>
            <a:ext cx="2148840" cy="219456"/>
          </a:xfrm>
          <a:prstGeom prst="rect">
            <a:avLst/>
          </a:prstGeom>
          <a:noFill/>
        </p:spPr>
        <p:txBody>
          <a:bodyPr wrap="square" lIns="0" tIns="0" rIns="0" bIns="0" anchor="t">
            <a:spAutoFit/>
          </a:bodyPr>
          <a:lstStyle/>
          <a:p>
            <a:pPr algn="l">
              <a:spcBef>
                <a:spcPts val="0"/>
              </a:spcBef>
              <a:spcAft>
                <a:spcPts val="0"/>
              </a:spcAft>
            </a:pPr>
            <a:r>
              <a:rPr sz="1200" b="0" i="0">
                <a:solidFill>
                  <a:srgbClr val="9C9C9C"/>
                </a:solidFill>
                <a:latin typeface="Inter"/>
              </a:rPr>
              <a:t>BITS Pilani, Hyderabad</a:t>
            </a:r>
          </a:p>
        </p:txBody>
      </p:sp>
      <p:cxnSp>
        <p:nvCxnSpPr>
          <p:cNvPr id="13" name="Connector 12"/>
          <p:cNvCxnSpPr/>
          <p:nvPr/>
        </p:nvCxnSpPr>
        <p:spPr>
          <a:xfrm>
            <a:off x="3886200" y="2141317"/>
            <a:ext cx="0" cy="356616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800600" y="2423160"/>
            <a:ext cx="182880" cy="182880"/>
          </a:xfrm>
          <a:prstGeom prst="ellipse">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0" y="2377440"/>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Building Avenire from the ground up</a:t>
            </a:r>
          </a:p>
        </p:txBody>
      </p:sp>
      <p:sp>
        <p:nvSpPr>
          <p:cNvPr id="16" name="TextBox 15"/>
          <p:cNvSpPr txBox="1"/>
          <p:nvPr/>
        </p:nvSpPr>
        <p:spPr>
          <a:xfrm>
            <a:off x="5212080" y="2670048"/>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Product, systems and learning workflows</a:t>
            </a:r>
          </a:p>
        </p:txBody>
      </p:sp>
      <p:sp>
        <p:nvSpPr>
          <p:cNvPr id="17" name="Oval 16"/>
          <p:cNvSpPr/>
          <p:nvPr/>
        </p:nvSpPr>
        <p:spPr>
          <a:xfrm>
            <a:off x="4800600" y="3264408"/>
            <a:ext cx="182880" cy="182880"/>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0" y="3218688"/>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Product + engineering</a:t>
            </a:r>
          </a:p>
        </p:txBody>
      </p:sp>
      <p:sp>
        <p:nvSpPr>
          <p:cNvPr id="19" name="TextBox 18"/>
          <p:cNvSpPr txBox="1"/>
          <p:nvPr/>
        </p:nvSpPr>
        <p:spPr>
          <a:xfrm>
            <a:off x="5212080" y="3511296"/>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A working product, not another prototype</a:t>
            </a:r>
          </a:p>
        </p:txBody>
      </p:sp>
      <p:sp>
        <p:nvSpPr>
          <p:cNvPr id="20" name="Oval 19"/>
          <p:cNvSpPr/>
          <p:nvPr/>
        </p:nvSpPr>
        <p:spPr>
          <a:xfrm>
            <a:off x="4800600" y="4105656"/>
            <a:ext cx="182880" cy="182880"/>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4059936"/>
            <a:ext cx="5394960" cy="219456"/>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Student perspective</a:t>
            </a:r>
          </a:p>
        </p:txBody>
      </p:sp>
      <p:sp>
        <p:nvSpPr>
          <p:cNvPr id="22" name="TextBox 21"/>
          <p:cNvSpPr txBox="1"/>
          <p:nvPr/>
        </p:nvSpPr>
        <p:spPr>
          <a:xfrm>
            <a:off x="5212080" y="4352544"/>
            <a:ext cx="5394960" cy="201168"/>
          </a:xfrm>
          <a:prstGeom prst="rect">
            <a:avLst/>
          </a:prstGeom>
          <a:noFill/>
        </p:spPr>
        <p:txBody>
          <a:bodyPr wrap="square" lIns="0" tIns="0" rIns="0" bIns="0" anchor="t">
            <a:spAutoFit/>
          </a:bodyPr>
          <a:lstStyle/>
          <a:p>
            <a:pPr algn="l">
              <a:spcBef>
                <a:spcPts val="0"/>
              </a:spcBef>
              <a:spcAft>
                <a:spcPts val="0"/>
              </a:spcAft>
            </a:pPr>
            <a:r>
              <a:rPr sz="1100" b="0" i="0">
                <a:solidFill>
                  <a:srgbClr val="9C9C9C"/>
                </a:solidFill>
                <a:latin typeface="Inter"/>
              </a:rPr>
              <a:t>Living the fragmented learning workflow every day</a:t>
            </a:r>
          </a:p>
        </p:txBody>
      </p:sp>
      <p:sp>
        <p:nvSpPr>
          <p:cNvPr id="23" name="TextBox 22"/>
          <p:cNvSpPr txBox="1"/>
          <p:nvPr/>
        </p:nvSpPr>
        <p:spPr>
          <a:xfrm>
            <a:off x="4343400" y="5797296"/>
            <a:ext cx="6949440" cy="228600"/>
          </a:xfrm>
          <a:prstGeom prst="rect">
            <a:avLst/>
          </a:prstGeom>
          <a:noFill/>
        </p:spPr>
        <p:txBody>
          <a:bodyPr wrap="square" lIns="0" tIns="0" rIns="0" bIns="0" anchor="t">
            <a:spAutoFit/>
          </a:bodyPr>
          <a:lstStyle/>
          <a:p>
            <a:pPr algn="ctr">
              <a:spcBef>
                <a:spcPts val="0"/>
              </a:spcBef>
              <a:spcAft>
                <a:spcPts val="0"/>
              </a:spcAft>
            </a:pPr>
            <a:r>
              <a:rPr sz="1300" b="1" i="0">
                <a:solidFill>
                  <a:srgbClr val="ABC4FF"/>
                </a:solidFill>
                <a:latin typeface="Inter"/>
              </a:rPr>
              <a:t>What we need now: turn a working product into repeated student behavior.</a:t>
            </a:r>
          </a:p>
        </p:txBody>
      </p:sp>
      <p:cxnSp>
        <p:nvCxnSpPr>
          <p:cNvPr id="24" name="Connector 2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13</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THE ASK</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We're looking for incubation.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Move Avenire from a working product to a validated company.</a:t>
            </a:r>
          </a:p>
        </p:txBody>
      </p:sp>
      <p:cxnSp>
        <p:nvCxnSpPr>
          <p:cNvPr id="9" name="Connector 8"/>
          <p:cNvCxnSpPr/>
          <p:nvPr/>
        </p:nvCxnSpPr>
        <p:spPr>
          <a:xfrm>
            <a:off x="777240" y="3012543"/>
            <a:ext cx="512063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05840" y="2244447"/>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ABC4FF"/>
                </a:solidFill>
                <a:latin typeface="Cascadia Mono"/>
              </a:rPr>
              <a:t>01</a:t>
            </a:r>
          </a:p>
        </p:txBody>
      </p:sp>
      <p:sp>
        <p:nvSpPr>
          <p:cNvPr id="11" name="TextBox 10"/>
          <p:cNvSpPr txBox="1"/>
          <p:nvPr/>
        </p:nvSpPr>
        <p:spPr>
          <a:xfrm>
            <a:off x="1618488" y="218958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Product validation</a:t>
            </a:r>
          </a:p>
        </p:txBody>
      </p:sp>
      <p:sp>
        <p:nvSpPr>
          <p:cNvPr id="12" name="TextBox 11"/>
          <p:cNvSpPr txBox="1"/>
          <p:nvPr/>
        </p:nvSpPr>
        <p:spPr>
          <a:xfrm>
            <a:off x="1618488" y="251876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Get our first cohort of students using Avenire.</a:t>
            </a:r>
          </a:p>
        </p:txBody>
      </p:sp>
      <p:cxnSp>
        <p:nvCxnSpPr>
          <p:cNvPr id="13" name="Connector 12"/>
          <p:cNvCxnSpPr/>
          <p:nvPr/>
        </p:nvCxnSpPr>
        <p:spPr>
          <a:xfrm>
            <a:off x="6355079" y="3012543"/>
            <a:ext cx="512064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79" y="2244447"/>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78C4D5"/>
                </a:solidFill>
                <a:latin typeface="Cascadia Mono"/>
              </a:rPr>
              <a:t>02</a:t>
            </a:r>
          </a:p>
        </p:txBody>
      </p:sp>
      <p:sp>
        <p:nvSpPr>
          <p:cNvPr id="15" name="TextBox 14"/>
          <p:cNvSpPr txBox="1"/>
          <p:nvPr/>
        </p:nvSpPr>
        <p:spPr>
          <a:xfrm>
            <a:off x="7196327" y="218958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Mentorship</a:t>
            </a:r>
          </a:p>
        </p:txBody>
      </p:sp>
      <p:sp>
        <p:nvSpPr>
          <p:cNvPr id="16" name="TextBox 15"/>
          <p:cNvSpPr txBox="1"/>
          <p:nvPr/>
        </p:nvSpPr>
        <p:spPr>
          <a:xfrm>
            <a:off x="7196327" y="251876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Product, education, GTM and business development.</a:t>
            </a:r>
          </a:p>
        </p:txBody>
      </p:sp>
      <p:cxnSp>
        <p:nvCxnSpPr>
          <p:cNvPr id="17" name="Connector 16"/>
          <p:cNvCxnSpPr/>
          <p:nvPr/>
        </p:nvCxnSpPr>
        <p:spPr>
          <a:xfrm>
            <a:off x="777240" y="4246983"/>
            <a:ext cx="512063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3478886"/>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F0A873"/>
                </a:solidFill>
                <a:latin typeface="Cascadia Mono"/>
              </a:rPr>
              <a:t>03</a:t>
            </a:r>
          </a:p>
        </p:txBody>
      </p:sp>
      <p:sp>
        <p:nvSpPr>
          <p:cNvPr id="19" name="TextBox 18"/>
          <p:cNvSpPr txBox="1"/>
          <p:nvPr/>
        </p:nvSpPr>
        <p:spPr>
          <a:xfrm>
            <a:off x="1618488" y="342402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Institutional access</a:t>
            </a:r>
          </a:p>
        </p:txBody>
      </p:sp>
      <p:sp>
        <p:nvSpPr>
          <p:cNvPr id="20" name="TextBox 19"/>
          <p:cNvSpPr txBox="1"/>
          <p:nvPr/>
        </p:nvSpPr>
        <p:spPr>
          <a:xfrm>
            <a:off x="1618488" y="375320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Pilot with universities and educators.</a:t>
            </a:r>
          </a:p>
        </p:txBody>
      </p:sp>
      <p:cxnSp>
        <p:nvCxnSpPr>
          <p:cNvPr id="21" name="Connector 20"/>
          <p:cNvCxnSpPr/>
          <p:nvPr/>
        </p:nvCxnSpPr>
        <p:spPr>
          <a:xfrm>
            <a:off x="6355079" y="4246983"/>
            <a:ext cx="512064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79" y="3478886"/>
            <a:ext cx="411480" cy="228600"/>
          </a:xfrm>
          <a:prstGeom prst="rect">
            <a:avLst/>
          </a:prstGeom>
          <a:noFill/>
        </p:spPr>
        <p:txBody>
          <a:bodyPr wrap="square" lIns="0" tIns="0" rIns="0" bIns="0" anchor="t">
            <a:spAutoFit/>
          </a:bodyPr>
          <a:lstStyle/>
          <a:p>
            <a:pPr algn="l">
              <a:spcBef>
                <a:spcPts val="0"/>
              </a:spcBef>
              <a:spcAft>
                <a:spcPts val="0"/>
              </a:spcAft>
            </a:pPr>
            <a:r>
              <a:rPr sz="1100" b="1" i="0">
                <a:solidFill>
                  <a:srgbClr val="A99AD1"/>
                </a:solidFill>
                <a:latin typeface="Cascadia Mono"/>
              </a:rPr>
              <a:t>04</a:t>
            </a:r>
          </a:p>
        </p:txBody>
      </p:sp>
      <p:sp>
        <p:nvSpPr>
          <p:cNvPr id="23" name="TextBox 22"/>
          <p:cNvSpPr txBox="1"/>
          <p:nvPr/>
        </p:nvSpPr>
        <p:spPr>
          <a:xfrm>
            <a:off x="7196327" y="3424023"/>
            <a:ext cx="3566160" cy="237744"/>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Capital</a:t>
            </a:r>
          </a:p>
        </p:txBody>
      </p:sp>
      <p:sp>
        <p:nvSpPr>
          <p:cNvPr id="24" name="TextBox 23"/>
          <p:cNvSpPr txBox="1"/>
          <p:nvPr/>
        </p:nvSpPr>
        <p:spPr>
          <a:xfrm>
            <a:off x="7196327" y="3753207"/>
            <a:ext cx="3840480" cy="201168"/>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Infrastructure, development and initial go-to-market.</a:t>
            </a:r>
          </a:p>
        </p:txBody>
      </p:sp>
      <p:sp>
        <p:nvSpPr>
          <p:cNvPr id="25" name="Rectangle 24"/>
          <p:cNvSpPr/>
          <p:nvPr/>
        </p:nvSpPr>
        <p:spPr>
          <a:xfrm>
            <a:off x="777240" y="4982655"/>
            <a:ext cx="10698480" cy="804672"/>
          </a:xfrm>
          <a:prstGeom prst="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5293551"/>
            <a:ext cx="1874519" cy="182880"/>
          </a:xfrm>
          <a:prstGeom prst="rect">
            <a:avLst/>
          </a:prstGeom>
          <a:noFill/>
        </p:spPr>
        <p:txBody>
          <a:bodyPr wrap="square" lIns="0" tIns="0" rIns="0" bIns="0" anchor="t">
            <a:spAutoFit/>
          </a:bodyPr>
          <a:lstStyle/>
          <a:p>
            <a:pPr algn="l">
              <a:spcBef>
                <a:spcPts val="0"/>
              </a:spcBef>
              <a:spcAft>
                <a:spcPts val="0"/>
              </a:spcAft>
            </a:pPr>
            <a:r>
              <a:rPr sz="1000" b="1" i="0">
                <a:solidFill>
                  <a:srgbClr val="141414"/>
                </a:solidFill>
                <a:latin typeface="Cascadia Mono"/>
              </a:rPr>
              <a:t>Our next milestone</a:t>
            </a:r>
          </a:p>
        </p:txBody>
      </p:sp>
      <p:sp>
        <p:nvSpPr>
          <p:cNvPr id="27" name="TextBox 26"/>
          <p:cNvSpPr txBox="1"/>
          <p:nvPr/>
        </p:nvSpPr>
        <p:spPr>
          <a:xfrm>
            <a:off x="3291840" y="5261547"/>
            <a:ext cx="123444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50 waitlist</a:t>
            </a:r>
          </a:p>
        </p:txBody>
      </p:sp>
      <p:sp>
        <p:nvSpPr>
          <p:cNvPr id="28" name="Chevron 27"/>
          <p:cNvSpPr/>
          <p:nvPr/>
        </p:nvSpPr>
        <p:spPr>
          <a:xfrm>
            <a:off x="466344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80" y="5261547"/>
            <a:ext cx="164592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100 active learners</a:t>
            </a:r>
          </a:p>
        </p:txBody>
      </p:sp>
      <p:sp>
        <p:nvSpPr>
          <p:cNvPr id="30" name="Chevron 29"/>
          <p:cNvSpPr/>
          <p:nvPr/>
        </p:nvSpPr>
        <p:spPr>
          <a:xfrm>
            <a:off x="676656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5261547"/>
            <a:ext cx="150876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first paying users</a:t>
            </a:r>
          </a:p>
        </p:txBody>
      </p:sp>
      <p:sp>
        <p:nvSpPr>
          <p:cNvPr id="32" name="Chevron 31"/>
          <p:cNvSpPr/>
          <p:nvPr/>
        </p:nvSpPr>
        <p:spPr>
          <a:xfrm>
            <a:off x="9098280" y="5247831"/>
            <a:ext cx="228600" cy="274320"/>
          </a:xfrm>
          <a:prstGeom prst="chevron">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418320" y="5261547"/>
            <a:ext cx="1600200" cy="246888"/>
          </a:xfrm>
          <a:prstGeom prst="rect">
            <a:avLst/>
          </a:prstGeom>
          <a:noFill/>
        </p:spPr>
        <p:txBody>
          <a:bodyPr wrap="square" lIns="0" tIns="0" rIns="0" bIns="0" anchor="t">
            <a:spAutoFit/>
          </a:bodyPr>
          <a:lstStyle/>
          <a:p>
            <a:pPr algn="ctr">
              <a:spcBef>
                <a:spcPts val="0"/>
              </a:spcBef>
              <a:spcAft>
                <a:spcPts val="0"/>
              </a:spcAft>
            </a:pPr>
            <a:r>
              <a:rPr sz="1400" b="1" i="0">
                <a:solidFill>
                  <a:srgbClr val="141414"/>
                </a:solidFill>
                <a:latin typeface="Inter"/>
              </a:rPr>
              <a:t>institutional pilots</a:t>
            </a:r>
          </a:p>
        </p:txBody>
      </p:sp>
      <p:cxnSp>
        <p:nvCxnSpPr>
          <p:cNvPr id="34" name="Connector 33"/>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15</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LIVE DEMO</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visualization engine.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Avenire turns abstract ideas into things a student can manipulate.</a:t>
            </a:r>
          </a:p>
        </p:txBody>
      </p:sp>
      <p:cxnSp>
        <p:nvCxnSpPr>
          <p:cNvPr id="15" name="Connector 14"/>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Avenire / learning that remembers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16</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A / TECHNICAL ARCHITECTURE</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From content to learning action.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The product claim is backed by a concrete, multimodal pipeline.</a:t>
            </a:r>
          </a:p>
        </p:txBody>
      </p:sp>
      <p:sp>
        <p:nvSpPr>
          <p:cNvPr id="9" name="Rectangle 8"/>
          <p:cNvSpPr/>
          <p:nvPr/>
        </p:nvSpPr>
        <p:spPr>
          <a:xfrm>
            <a:off x="502920" y="2743200"/>
            <a:ext cx="1298448" cy="777240"/>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Content</a:t>
            </a:r>
          </a:p>
        </p:txBody>
      </p:sp>
      <p:sp>
        <p:nvSpPr>
          <p:cNvPr id="12" name="Rectangle 11"/>
          <p:cNvSpPr/>
          <p:nvPr/>
        </p:nvSpPr>
        <p:spPr>
          <a:xfrm>
            <a:off x="1938528" y="3474720"/>
            <a:ext cx="1298448" cy="77724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48256"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Multimodal
ingestion</a:t>
            </a:r>
          </a:p>
        </p:txBody>
      </p:sp>
      <p:sp>
        <p:nvSpPr>
          <p:cNvPr id="15" name="Rectangle 14"/>
          <p:cNvSpPr/>
          <p:nvPr/>
        </p:nvSpPr>
        <p:spPr>
          <a:xfrm>
            <a:off x="3374135" y="2743200"/>
            <a:ext cx="1298448" cy="777240"/>
          </a:xfrm>
          <a:prstGeom prst="rect">
            <a:avLst/>
          </a:prstGeom>
          <a:solidFill>
            <a:srgbClr val="1D1D1D"/>
          </a:solidFill>
          <a:ln w="12700">
            <a:solidFill>
              <a:srgbClr val="F0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83863"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Semantic
understanding</a:t>
            </a:r>
          </a:p>
        </p:txBody>
      </p:sp>
      <p:sp>
        <p:nvSpPr>
          <p:cNvPr id="18" name="Rectangle 17"/>
          <p:cNvSpPr/>
          <p:nvPr/>
        </p:nvSpPr>
        <p:spPr>
          <a:xfrm>
            <a:off x="4809743" y="3474720"/>
            <a:ext cx="1298448" cy="777240"/>
          </a:xfrm>
          <a:prstGeom prst="rect">
            <a:avLst/>
          </a:prstGeom>
          <a:solidFill>
            <a:srgbClr val="1D1D1D"/>
          </a:solidFill>
          <a:ln w="12700">
            <a:solidFill>
              <a:srgbClr val="A99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19471"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Knowledge
representation</a:t>
            </a:r>
          </a:p>
        </p:txBody>
      </p:sp>
      <p:sp>
        <p:nvSpPr>
          <p:cNvPr id="21" name="Rectangle 20"/>
          <p:cNvSpPr/>
          <p:nvPr/>
        </p:nvSpPr>
        <p:spPr>
          <a:xfrm>
            <a:off x="6245351" y="2743200"/>
            <a:ext cx="1298448" cy="777240"/>
          </a:xfrm>
          <a:prstGeom prst="rect">
            <a:avLst/>
          </a:prstGeom>
          <a:solidFill>
            <a:srgbClr val="1D1D1D"/>
          </a:solidFill>
          <a:ln w="12700">
            <a:solidFill>
              <a:srgbClr val="ED84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79"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Hybrid
retrieval</a:t>
            </a:r>
          </a:p>
        </p:txBody>
      </p:sp>
      <p:sp>
        <p:nvSpPr>
          <p:cNvPr id="24" name="Rectangle 23"/>
          <p:cNvSpPr/>
          <p:nvPr/>
        </p:nvSpPr>
        <p:spPr>
          <a:xfrm>
            <a:off x="7680960" y="3474720"/>
            <a:ext cx="1298448" cy="777240"/>
          </a:xfrm>
          <a:prstGeom prst="rect">
            <a:avLst/>
          </a:prstGeom>
          <a:solidFill>
            <a:srgbClr val="1D1D1D"/>
          </a:solidFill>
          <a:ln w="12700">
            <a:solidFill>
              <a:srgbClr val="FFDC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0688"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Reranking</a:t>
            </a:r>
          </a:p>
        </p:txBody>
      </p:sp>
      <p:sp>
        <p:nvSpPr>
          <p:cNvPr id="27" name="Rectangle 26"/>
          <p:cNvSpPr/>
          <p:nvPr/>
        </p:nvSpPr>
        <p:spPr>
          <a:xfrm>
            <a:off x="9116567" y="2743200"/>
            <a:ext cx="1298448" cy="777240"/>
          </a:xfrm>
          <a:prstGeom prst="rect">
            <a:avLst/>
          </a:prstGeom>
          <a:solidFill>
            <a:srgbClr val="1D1D1D"/>
          </a:solidFill>
          <a:ln w="12700">
            <a:solidFill>
              <a:srgbClr val="78C4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26295" y="295351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Reasoning</a:t>
            </a:r>
          </a:p>
        </p:txBody>
      </p:sp>
      <p:sp>
        <p:nvSpPr>
          <p:cNvPr id="30" name="Rectangle 29"/>
          <p:cNvSpPr/>
          <p:nvPr/>
        </p:nvSpPr>
        <p:spPr>
          <a:xfrm>
            <a:off x="10552176" y="3474720"/>
            <a:ext cx="1298448" cy="777240"/>
          </a:xfrm>
          <a:prstGeom prst="rect">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661903" y="3685032"/>
            <a:ext cx="1078992" cy="347472"/>
          </a:xfrm>
          <a:prstGeom prst="rect">
            <a:avLst/>
          </a:prstGeom>
          <a:noFill/>
        </p:spPr>
        <p:txBody>
          <a:bodyPr wrap="square" lIns="0" tIns="0" rIns="0" bIns="0" anchor="ctr">
            <a:spAutoFit/>
          </a:bodyPr>
          <a:lstStyle/>
          <a:p>
            <a:pPr algn="ctr">
              <a:spcBef>
                <a:spcPts val="0"/>
              </a:spcBef>
              <a:spcAft>
                <a:spcPts val="0"/>
              </a:spcAft>
            </a:pPr>
            <a:r>
              <a:rPr sz="1100" b="1" i="0">
                <a:solidFill>
                  <a:srgbClr val="E4E4E4"/>
                </a:solidFill>
                <a:latin typeface="Inter"/>
              </a:rPr>
              <a:t>Learning
action</a:t>
            </a:r>
          </a:p>
        </p:txBody>
      </p:sp>
      <p:sp>
        <p:nvSpPr>
          <p:cNvPr id="32" name="TextBox 31"/>
          <p:cNvSpPr txBox="1"/>
          <p:nvPr/>
        </p:nvSpPr>
        <p:spPr>
          <a:xfrm>
            <a:off x="914400" y="5166360"/>
            <a:ext cx="10332720" cy="457200"/>
          </a:xfrm>
          <a:prstGeom prst="rect">
            <a:avLst/>
          </a:prstGeom>
          <a:noFill/>
        </p:spPr>
        <p:txBody>
          <a:bodyPr wrap="square" lIns="0" tIns="0" rIns="0" bIns="0" anchor="t">
            <a:spAutoFit/>
          </a:bodyPr>
          <a:lstStyle/>
          <a:p>
            <a:pPr algn="ctr">
              <a:spcBef>
                <a:spcPts val="0"/>
              </a:spcBef>
              <a:spcAft>
                <a:spcPts val="0"/>
              </a:spcAft>
            </a:pPr>
            <a:r>
              <a:rPr sz="1800" b="1" i="0">
                <a:solidFill>
                  <a:srgbClr val="ABC4FF"/>
                </a:solidFill>
                <a:latin typeface="Inter"/>
              </a:rPr>
              <a:t>Avenire turns scattered learning material and interactions into persistent, searchable, usable knowledge.</a:t>
            </a:r>
          </a:p>
        </p:txBody>
      </p:sp>
      <p:cxnSp>
        <p:nvCxnSpPr>
          <p:cNvPr id="33" name="Connector 3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technical deep dive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17</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B / RETRIEVAL EVALUATION</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Evidence across difficult query families.</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Small, honest evaluation slices — useful signals, not a claim of solved retrieval.</a:t>
            </a:r>
          </a:p>
        </p:txBody>
      </p:sp>
      <p:sp>
        <p:nvSpPr>
          <p:cNvPr id="9" name="TextBox 8"/>
          <p:cNvSpPr txBox="1"/>
          <p:nvPr/>
        </p:nvSpPr>
        <p:spPr>
          <a:xfrm>
            <a:off x="777240" y="2111604"/>
            <a:ext cx="1828800" cy="182880"/>
          </a:xfrm>
          <a:prstGeom prst="rect">
            <a:avLst/>
          </a:prstGeom>
          <a:noFill/>
        </p:spPr>
        <p:txBody>
          <a:bodyPr wrap="square" lIns="0" tIns="0" rIns="0" bIns="0" anchor="t">
            <a:spAutoFit/>
          </a:bodyPr>
          <a:lstStyle/>
          <a:p>
            <a:pPr algn="l">
              <a:spcBef>
                <a:spcPts val="0"/>
              </a:spcBef>
              <a:spcAft>
                <a:spcPts val="0"/>
              </a:spcAft>
            </a:pPr>
            <a:r>
              <a:rPr sz="900" b="0" i="0">
                <a:solidFill>
                  <a:srgbClr val="6E6E6E"/>
                </a:solidFill>
                <a:latin typeface="Cascadia Mono"/>
              </a:rPr>
              <a:t>FAMILY</a:t>
            </a:r>
          </a:p>
        </p:txBody>
      </p:sp>
      <p:sp>
        <p:nvSpPr>
          <p:cNvPr id="10" name="TextBox 9"/>
          <p:cNvSpPr txBox="1"/>
          <p:nvPr/>
        </p:nvSpPr>
        <p:spPr>
          <a:xfrm>
            <a:off x="3154680" y="2111604"/>
            <a:ext cx="914400" cy="182880"/>
          </a:xfrm>
          <a:prstGeom prst="rect">
            <a:avLst/>
          </a:prstGeom>
          <a:noFill/>
        </p:spPr>
        <p:txBody>
          <a:bodyPr wrap="square" lIns="0" tIns="0" rIns="0" bIns="0" anchor="t">
            <a:spAutoFit/>
          </a:bodyPr>
          <a:lstStyle/>
          <a:p>
            <a:pPr algn="l">
              <a:spcBef>
                <a:spcPts val="0"/>
              </a:spcBef>
              <a:spcAft>
                <a:spcPts val="0"/>
              </a:spcAft>
            </a:pPr>
            <a:r>
              <a:rPr sz="900" b="0" i="0">
                <a:solidFill>
                  <a:srgbClr val="ABC4FF"/>
                </a:solidFill>
                <a:latin typeface="Cascadia Mono"/>
              </a:rPr>
              <a:t>MRR@10</a:t>
            </a:r>
          </a:p>
        </p:txBody>
      </p:sp>
      <p:sp>
        <p:nvSpPr>
          <p:cNvPr id="11" name="TextBox 10"/>
          <p:cNvSpPr txBox="1"/>
          <p:nvPr/>
        </p:nvSpPr>
        <p:spPr>
          <a:xfrm>
            <a:off x="6537960" y="2111604"/>
            <a:ext cx="2468880" cy="182880"/>
          </a:xfrm>
          <a:prstGeom prst="rect">
            <a:avLst/>
          </a:prstGeom>
          <a:noFill/>
        </p:spPr>
        <p:txBody>
          <a:bodyPr wrap="square" lIns="0" tIns="0" rIns="0" bIns="0" anchor="t">
            <a:spAutoFit/>
          </a:bodyPr>
          <a:lstStyle/>
          <a:p>
            <a:pPr algn="l">
              <a:spcBef>
                <a:spcPts val="0"/>
              </a:spcBef>
              <a:spcAft>
                <a:spcPts val="0"/>
              </a:spcAft>
            </a:pPr>
            <a:r>
              <a:rPr sz="900" b="0" i="0">
                <a:solidFill>
                  <a:srgbClr val="78C4D5"/>
                </a:solidFill>
                <a:latin typeface="Cascadia Mono"/>
              </a:rPr>
              <a:t>ALL REQUIRED EVIDENCE @10</a:t>
            </a:r>
          </a:p>
        </p:txBody>
      </p:sp>
      <p:sp>
        <p:nvSpPr>
          <p:cNvPr id="12" name="TextBox 11"/>
          <p:cNvSpPr txBox="1"/>
          <p:nvPr/>
        </p:nvSpPr>
        <p:spPr>
          <a:xfrm>
            <a:off x="777240" y="2431644"/>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Cross-file</a:t>
            </a:r>
          </a:p>
        </p:txBody>
      </p:sp>
      <p:sp>
        <p:nvSpPr>
          <p:cNvPr id="13" name="Rounded Rectangle 12"/>
          <p:cNvSpPr/>
          <p:nvPr/>
        </p:nvSpPr>
        <p:spPr>
          <a:xfrm>
            <a:off x="3154680" y="246822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154680" y="2468220"/>
            <a:ext cx="1665122"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246822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37960" y="2468220"/>
            <a:ext cx="137160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64040" y="2422500"/>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60.7%</a:t>
            </a:r>
          </a:p>
        </p:txBody>
      </p:sp>
      <p:sp>
        <p:nvSpPr>
          <p:cNvPr id="18" name="TextBox 17"/>
          <p:cNvSpPr txBox="1"/>
          <p:nvPr/>
        </p:nvSpPr>
        <p:spPr>
          <a:xfrm>
            <a:off x="9464040" y="2614524"/>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50.0%</a:t>
            </a:r>
          </a:p>
        </p:txBody>
      </p:sp>
      <p:sp>
        <p:nvSpPr>
          <p:cNvPr id="19" name="TextBox 18"/>
          <p:cNvSpPr txBox="1"/>
          <p:nvPr/>
        </p:nvSpPr>
        <p:spPr>
          <a:xfrm>
            <a:off x="777240" y="2943708"/>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Multi-hop</a:t>
            </a:r>
          </a:p>
        </p:txBody>
      </p:sp>
      <p:sp>
        <p:nvSpPr>
          <p:cNvPr id="20" name="Rounded Rectangle 19"/>
          <p:cNvSpPr/>
          <p:nvPr/>
        </p:nvSpPr>
        <p:spPr>
          <a:xfrm>
            <a:off x="3154680" y="2980284"/>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154680" y="2980284"/>
            <a:ext cx="1623974"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537960" y="2980284"/>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980284"/>
            <a:ext cx="1645919"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64040" y="2934564"/>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59.2%</a:t>
            </a:r>
          </a:p>
        </p:txBody>
      </p:sp>
      <p:sp>
        <p:nvSpPr>
          <p:cNvPr id="25" name="TextBox 24"/>
          <p:cNvSpPr txBox="1"/>
          <p:nvPr/>
        </p:nvSpPr>
        <p:spPr>
          <a:xfrm>
            <a:off x="9464040" y="3126588"/>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60.0%</a:t>
            </a:r>
          </a:p>
        </p:txBody>
      </p:sp>
      <p:sp>
        <p:nvSpPr>
          <p:cNvPr id="26" name="TextBox 25"/>
          <p:cNvSpPr txBox="1"/>
          <p:nvPr/>
        </p:nvSpPr>
        <p:spPr>
          <a:xfrm>
            <a:off x="777240" y="3455772"/>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Formula / chart</a:t>
            </a:r>
          </a:p>
        </p:txBody>
      </p:sp>
      <p:sp>
        <p:nvSpPr>
          <p:cNvPr id="27" name="Rounded Rectangle 26"/>
          <p:cNvSpPr/>
          <p:nvPr/>
        </p:nvSpPr>
        <p:spPr>
          <a:xfrm>
            <a:off x="3154680" y="3492348"/>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154680" y="3492348"/>
            <a:ext cx="1410004"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537960" y="3492348"/>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537960" y="3492348"/>
            <a:ext cx="1920239"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64040" y="3446628"/>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51.4%</a:t>
            </a:r>
          </a:p>
        </p:txBody>
      </p:sp>
      <p:sp>
        <p:nvSpPr>
          <p:cNvPr id="32" name="TextBox 31"/>
          <p:cNvSpPr txBox="1"/>
          <p:nvPr/>
        </p:nvSpPr>
        <p:spPr>
          <a:xfrm>
            <a:off x="9464040" y="3638652"/>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70.0%</a:t>
            </a:r>
          </a:p>
        </p:txBody>
      </p:sp>
      <p:sp>
        <p:nvSpPr>
          <p:cNvPr id="33" name="TextBox 32"/>
          <p:cNvSpPr txBox="1"/>
          <p:nvPr/>
        </p:nvSpPr>
        <p:spPr>
          <a:xfrm>
            <a:off x="777240" y="3967836"/>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Timestamp</a:t>
            </a:r>
          </a:p>
        </p:txBody>
      </p:sp>
      <p:sp>
        <p:nvSpPr>
          <p:cNvPr id="34" name="Rounded Rectangle 33"/>
          <p:cNvSpPr/>
          <p:nvPr/>
        </p:nvSpPr>
        <p:spPr>
          <a:xfrm>
            <a:off x="3154680" y="4004412"/>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154680" y="4004412"/>
            <a:ext cx="1744675"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537960" y="4004412"/>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537960" y="4004412"/>
            <a:ext cx="1744675"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64040" y="3958692"/>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63.6%</a:t>
            </a:r>
          </a:p>
        </p:txBody>
      </p:sp>
      <p:sp>
        <p:nvSpPr>
          <p:cNvPr id="39" name="TextBox 38"/>
          <p:cNvSpPr txBox="1"/>
          <p:nvPr/>
        </p:nvSpPr>
        <p:spPr>
          <a:xfrm>
            <a:off x="9464040" y="4150716"/>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63.6%</a:t>
            </a:r>
          </a:p>
        </p:txBody>
      </p:sp>
      <p:sp>
        <p:nvSpPr>
          <p:cNvPr id="40" name="TextBox 39"/>
          <p:cNvSpPr txBox="1"/>
          <p:nvPr/>
        </p:nvSpPr>
        <p:spPr>
          <a:xfrm>
            <a:off x="777240" y="4479900"/>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Paraphrase</a:t>
            </a:r>
          </a:p>
        </p:txBody>
      </p:sp>
      <p:sp>
        <p:nvSpPr>
          <p:cNvPr id="41" name="Rounded Rectangle 40"/>
          <p:cNvSpPr/>
          <p:nvPr/>
        </p:nvSpPr>
        <p:spPr>
          <a:xfrm>
            <a:off x="3154680" y="4516476"/>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3154680" y="4516476"/>
            <a:ext cx="2263139"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537960" y="4516476"/>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537960" y="4516476"/>
            <a:ext cx="246888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64040" y="4470756"/>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MRR 82.5%</a:t>
            </a:r>
          </a:p>
        </p:txBody>
      </p:sp>
      <p:sp>
        <p:nvSpPr>
          <p:cNvPr id="46" name="TextBox 45"/>
          <p:cNvSpPr txBox="1"/>
          <p:nvPr/>
        </p:nvSpPr>
        <p:spPr>
          <a:xfrm>
            <a:off x="9464040" y="4662780"/>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evidence 90.0%</a:t>
            </a:r>
          </a:p>
        </p:txBody>
      </p:sp>
      <p:sp>
        <p:nvSpPr>
          <p:cNvPr id="47" name="TextBox 46"/>
          <p:cNvSpPr txBox="1"/>
          <p:nvPr/>
        </p:nvSpPr>
        <p:spPr>
          <a:xfrm>
            <a:off x="777240" y="4991964"/>
            <a:ext cx="1828800" cy="201168"/>
          </a:xfrm>
          <a:prstGeom prst="rect">
            <a:avLst/>
          </a:prstGeom>
          <a:noFill/>
        </p:spPr>
        <p:txBody>
          <a:bodyPr wrap="square" lIns="0" tIns="0" rIns="0" bIns="0" anchor="t">
            <a:spAutoFit/>
          </a:bodyPr>
          <a:lstStyle/>
          <a:p>
            <a:pPr algn="l">
              <a:spcBef>
                <a:spcPts val="0"/>
              </a:spcBef>
              <a:spcAft>
                <a:spcPts val="0"/>
              </a:spcAft>
            </a:pPr>
            <a:r>
              <a:rPr sz="1100" b="1" i="0">
                <a:solidFill>
                  <a:srgbClr val="E4E4E4"/>
                </a:solidFill>
                <a:latin typeface="Inter"/>
              </a:rPr>
              <a:t>Unanswerable</a:t>
            </a:r>
          </a:p>
        </p:txBody>
      </p:sp>
      <p:sp>
        <p:nvSpPr>
          <p:cNvPr id="48" name="Rounded Rectangle 47"/>
          <p:cNvSpPr/>
          <p:nvPr/>
        </p:nvSpPr>
        <p:spPr>
          <a:xfrm>
            <a:off x="3154680" y="502854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3154680" y="5028540"/>
            <a:ext cx="2194560" cy="137160"/>
          </a:xfrm>
          <a:prstGeom prst="roundRect">
            <a:avLst/>
          </a:prstGeom>
          <a:solidFill>
            <a:srgbClr val="ABC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537960" y="5028540"/>
            <a:ext cx="2743200" cy="137160"/>
          </a:xfrm>
          <a:prstGeom prst="round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537960" y="5028540"/>
            <a:ext cx="2194560" cy="137160"/>
          </a:xfrm>
          <a:prstGeom prst="roundRect">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64040" y="4982820"/>
            <a:ext cx="1234440" cy="182880"/>
          </a:xfrm>
          <a:prstGeom prst="rect">
            <a:avLst/>
          </a:prstGeom>
          <a:noFill/>
        </p:spPr>
        <p:txBody>
          <a:bodyPr wrap="square" lIns="0" tIns="0" rIns="0" bIns="0" anchor="t">
            <a:spAutoFit/>
          </a:bodyPr>
          <a:lstStyle/>
          <a:p>
            <a:pPr algn="r">
              <a:spcBef>
                <a:spcPts val="0"/>
              </a:spcBef>
              <a:spcAft>
                <a:spcPts val="0"/>
              </a:spcAft>
            </a:pPr>
            <a:r>
              <a:rPr sz="900" b="0" i="0">
                <a:solidFill>
                  <a:srgbClr val="ABC4FF"/>
                </a:solidFill>
                <a:latin typeface="Cascadia Mono"/>
              </a:rPr>
              <a:t>precision 80.0%</a:t>
            </a:r>
          </a:p>
        </p:txBody>
      </p:sp>
      <p:sp>
        <p:nvSpPr>
          <p:cNvPr id="53" name="TextBox 52"/>
          <p:cNvSpPr txBox="1"/>
          <p:nvPr/>
        </p:nvSpPr>
        <p:spPr>
          <a:xfrm>
            <a:off x="9464040" y="5174844"/>
            <a:ext cx="1234440" cy="182880"/>
          </a:xfrm>
          <a:prstGeom prst="rect">
            <a:avLst/>
          </a:prstGeom>
          <a:noFill/>
        </p:spPr>
        <p:txBody>
          <a:bodyPr wrap="square" lIns="0" tIns="0" rIns="0" bIns="0" anchor="t">
            <a:spAutoFit/>
          </a:bodyPr>
          <a:lstStyle/>
          <a:p>
            <a:pPr algn="r">
              <a:spcBef>
                <a:spcPts val="0"/>
              </a:spcBef>
              <a:spcAft>
                <a:spcPts val="0"/>
              </a:spcAft>
            </a:pPr>
            <a:r>
              <a:rPr sz="850" b="0" i="0">
                <a:solidFill>
                  <a:srgbClr val="78C4D5"/>
                </a:solidFill>
                <a:latin typeface="Cascadia Mono"/>
              </a:rPr>
              <a:t>false-positive rate</a:t>
            </a:r>
          </a:p>
        </p:txBody>
      </p:sp>
      <p:sp>
        <p:nvSpPr>
          <p:cNvPr id="54" name="Rectangle 53"/>
          <p:cNvSpPr/>
          <p:nvPr/>
        </p:nvSpPr>
        <p:spPr>
          <a:xfrm>
            <a:off x="777240" y="5696052"/>
            <a:ext cx="10698480" cy="512064"/>
          </a:xfrm>
          <a:prstGeom prst="rect">
            <a:avLst/>
          </a:prstGeom>
          <a:solidFill>
            <a:srgbClr val="1D1D1D"/>
          </a:solidFill>
          <a:ln w="1270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05840" y="5860644"/>
            <a:ext cx="10241280" cy="164592"/>
          </a:xfrm>
          <a:prstGeom prst="rect">
            <a:avLst/>
          </a:prstGeom>
          <a:noFill/>
        </p:spPr>
        <p:txBody>
          <a:bodyPr wrap="square" lIns="0" tIns="0" rIns="0" bIns="0" anchor="t">
            <a:spAutoFit/>
          </a:bodyPr>
          <a:lstStyle/>
          <a:p>
            <a:pPr algn="ctr">
              <a:spcBef>
                <a:spcPts val="0"/>
              </a:spcBef>
              <a:spcAft>
                <a:spcPts val="0"/>
              </a:spcAft>
            </a:pPr>
            <a:r>
              <a:rPr sz="1100" b="0" i="0">
                <a:solidFill>
                  <a:srgbClr val="9C9C9C"/>
                </a:solidFill>
                <a:latin typeface="Inter"/>
              </a:rPr>
              <a:t>The hard slices are visible: cross-file and multi-hop are the next engineering frontier.</a:t>
            </a:r>
          </a:p>
        </p:txBody>
      </p:sp>
      <p:cxnSp>
        <p:nvCxnSpPr>
          <p:cNvPr id="56" name="Connector 55"/>
          <p:cNvCxnSpPr/>
          <p:nvPr/>
        </p:nvCxnSpPr>
        <p:spPr>
          <a:xfrm>
            <a:off x="594360" y="6502515"/>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retrieval evaluation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18</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C / LEARNING MEMORY</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The goal is not only to store learning.</a:t>
            </a:r>
          </a:p>
        </p:txBody>
      </p:sp>
      <p:sp>
        <p:nvSpPr>
          <p:cNvPr id="8" name="TextBox 7"/>
          <p:cNvSpPr txBox="1"/>
          <p:nvPr/>
        </p:nvSpPr>
        <p:spPr>
          <a:xfrm>
            <a:off x="594360" y="1625651"/>
            <a:ext cx="9692640" cy="384048"/>
          </a:xfrm>
          <a:prstGeom prst="rect">
            <a:avLst/>
          </a:prstGeom>
          <a:noFill/>
        </p:spPr>
        <p:txBody>
          <a:bodyPr wrap="square" lIns="0" tIns="0" rIns="0" bIns="0" anchor="t">
            <a:spAutoFit/>
          </a:bodyPr>
          <a:lstStyle/>
          <a:p>
            <a:pPr algn="l">
              <a:spcBef>
                <a:spcPts val="0"/>
              </a:spcBef>
              <a:spcAft>
                <a:spcPts val="0"/>
              </a:spcAft>
            </a:pPr>
            <a:r>
              <a:rPr sz="1400" b="0" i="0" dirty="0">
                <a:solidFill>
                  <a:srgbClr val="9C9C9C"/>
                </a:solidFill>
                <a:latin typeface="Inter"/>
              </a:rPr>
              <a:t>It is to model what a student is likely to remember — and when to bring it back.</a:t>
            </a:r>
          </a:p>
        </p:txBody>
      </p:sp>
      <p:cxnSp>
        <p:nvCxnSpPr>
          <p:cNvPr id="9" name="Connector 8"/>
          <p:cNvCxnSpPr/>
          <p:nvPr/>
        </p:nvCxnSpPr>
        <p:spPr>
          <a:xfrm>
            <a:off x="1005840" y="5349240"/>
            <a:ext cx="7498079"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5840" y="1874519"/>
            <a:ext cx="0" cy="3474721"/>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05840" y="4654296"/>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5840" y="3959352"/>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 y="3264408"/>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05840" y="2569463"/>
            <a:ext cx="7498079"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5840" y="2256739"/>
            <a:ext cx="624840" cy="530062"/>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30680" y="2786801"/>
            <a:ext cx="624840" cy="41775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55520" y="3204557"/>
            <a:ext cx="624840" cy="32924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880360" y="3533803"/>
            <a:ext cx="624839" cy="25948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05199" y="3793290"/>
            <a:ext cx="624840" cy="204509"/>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130039" y="3997799"/>
            <a:ext cx="624840" cy="161180"/>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754879" y="4158979"/>
            <a:ext cx="624841" cy="127029"/>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79720" y="4286008"/>
            <a:ext cx="624840" cy="100116"/>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04560" y="4386124"/>
            <a:ext cx="624840" cy="78904"/>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629400" y="4465028"/>
            <a:ext cx="624839" cy="6218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254239" y="4527215"/>
            <a:ext cx="624840" cy="49010"/>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79079" y="4576225"/>
            <a:ext cx="624840" cy="38627"/>
          </a:xfrm>
          <a:prstGeom prst="line">
            <a:avLst/>
          </a:prstGeom>
          <a:ln w="30480">
            <a:solidFill>
              <a:srgbClr val="ABC4F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55548" y="2206447"/>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580388" y="2736509"/>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205228" y="3154265"/>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830068" y="3483511"/>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454907" y="3742998"/>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079747" y="3947507"/>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704588" y="4108687"/>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329428" y="4235716"/>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954268" y="4335832"/>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579108" y="4414736"/>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203947" y="4476923"/>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828787" y="4525933"/>
            <a:ext cx="100584" cy="100584"/>
          </a:xfrm>
          <a:prstGeom prst="ellipse">
            <a:avLst/>
          </a:prstGeom>
          <a:solidFill>
            <a:srgbClr val="1D1D1D"/>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453628" y="4564560"/>
            <a:ext cx="100584" cy="100584"/>
          </a:xfrm>
          <a:prstGeom prst="ellipse">
            <a:avLst/>
          </a:prstGeom>
          <a:solidFill>
            <a:srgbClr val="ABC4FF"/>
          </a:solidFill>
          <a:ln w="12700">
            <a:solidFill>
              <a:srgbClr val="ABC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0" y="5513832"/>
            <a:ext cx="365760" cy="182880"/>
          </a:xfrm>
          <a:prstGeom prst="rect">
            <a:avLst/>
          </a:prstGeom>
          <a:noFill/>
        </p:spPr>
        <p:txBody>
          <a:bodyPr wrap="square" lIns="0" tIns="0" rIns="0" bIns="0" anchor="t">
            <a:spAutoFit/>
          </a:bodyPr>
          <a:lstStyle/>
          <a:p>
            <a:pPr algn="r">
              <a:spcBef>
                <a:spcPts val="0"/>
              </a:spcBef>
              <a:spcAft>
                <a:spcPts val="0"/>
              </a:spcAft>
            </a:pPr>
            <a:r>
              <a:rPr sz="1000" b="0" i="0">
                <a:solidFill>
                  <a:srgbClr val="6E6E6E"/>
                </a:solidFill>
                <a:latin typeface="Cascadia Mono"/>
              </a:rPr>
              <a:t>time</a:t>
            </a:r>
          </a:p>
        </p:txBody>
      </p:sp>
      <p:cxnSp>
        <p:nvCxnSpPr>
          <p:cNvPr id="42" name="Connector 41"/>
          <p:cNvCxnSpPr/>
          <p:nvPr/>
        </p:nvCxnSpPr>
        <p:spPr>
          <a:xfrm>
            <a:off x="9006840" y="1920240"/>
            <a:ext cx="2468880"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281160" y="217627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78C4D5"/>
                </a:solidFill>
                <a:latin typeface="Inter"/>
              </a:rPr>
              <a:t>Spaced repetition</a:t>
            </a:r>
          </a:p>
        </p:txBody>
      </p:sp>
      <p:sp>
        <p:nvSpPr>
          <p:cNvPr id="44" name="TextBox 43"/>
          <p:cNvSpPr txBox="1"/>
          <p:nvPr/>
        </p:nvSpPr>
        <p:spPr>
          <a:xfrm>
            <a:off x="9281160" y="251460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Schedule the next useful review.</a:t>
            </a:r>
          </a:p>
        </p:txBody>
      </p:sp>
      <p:cxnSp>
        <p:nvCxnSpPr>
          <p:cNvPr id="45" name="Connector 44"/>
          <p:cNvCxnSpPr/>
          <p:nvPr/>
        </p:nvCxnSpPr>
        <p:spPr>
          <a:xfrm>
            <a:off x="9006840" y="3200400"/>
            <a:ext cx="2468880"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281160" y="345643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F0A873"/>
                </a:solidFill>
                <a:latin typeface="Inter"/>
              </a:rPr>
              <a:t>Misconception engine</a:t>
            </a:r>
          </a:p>
        </p:txBody>
      </p:sp>
      <p:sp>
        <p:nvSpPr>
          <p:cNvPr id="47" name="TextBox 46"/>
          <p:cNvSpPr txBox="1"/>
          <p:nvPr/>
        </p:nvSpPr>
        <p:spPr>
          <a:xfrm>
            <a:off x="9281160" y="379476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Diagnose patterns in wrong answers.</a:t>
            </a:r>
          </a:p>
        </p:txBody>
      </p:sp>
      <p:cxnSp>
        <p:nvCxnSpPr>
          <p:cNvPr id="48" name="Connector 47"/>
          <p:cNvCxnSpPr/>
          <p:nvPr/>
        </p:nvCxnSpPr>
        <p:spPr>
          <a:xfrm>
            <a:off x="9006840" y="4480560"/>
            <a:ext cx="2468880" cy="0"/>
          </a:xfrm>
          <a:prstGeom prst="line">
            <a:avLst/>
          </a:prstGeom>
          <a:ln w="19050">
            <a:solidFill>
              <a:srgbClr val="A99AD1"/>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281160" y="4736592"/>
            <a:ext cx="1920240" cy="210312"/>
          </a:xfrm>
          <a:prstGeom prst="rect">
            <a:avLst/>
          </a:prstGeom>
          <a:noFill/>
        </p:spPr>
        <p:txBody>
          <a:bodyPr wrap="square" lIns="0" tIns="0" rIns="0" bIns="0" anchor="t">
            <a:spAutoFit/>
          </a:bodyPr>
          <a:lstStyle/>
          <a:p>
            <a:pPr algn="l">
              <a:spcBef>
                <a:spcPts val="0"/>
              </a:spcBef>
              <a:spcAft>
                <a:spcPts val="0"/>
              </a:spcAft>
            </a:pPr>
            <a:r>
              <a:rPr sz="1600" b="1" i="0">
                <a:solidFill>
                  <a:srgbClr val="A99AD1"/>
                </a:solidFill>
                <a:latin typeface="Inter"/>
              </a:rPr>
              <a:t>Visualizations</a:t>
            </a:r>
          </a:p>
        </p:txBody>
      </p:sp>
      <p:sp>
        <p:nvSpPr>
          <p:cNvPr id="50" name="TextBox 49"/>
          <p:cNvSpPr txBox="1"/>
          <p:nvPr/>
        </p:nvSpPr>
        <p:spPr>
          <a:xfrm>
            <a:off x="9281160" y="5074920"/>
            <a:ext cx="1920240" cy="182880"/>
          </a:xfrm>
          <a:prstGeom prst="rect">
            <a:avLst/>
          </a:prstGeom>
          <a:noFill/>
        </p:spPr>
        <p:txBody>
          <a:bodyPr wrap="square" lIns="0" tIns="0" rIns="0" bIns="0" anchor="t">
            <a:spAutoFit/>
          </a:bodyPr>
          <a:lstStyle/>
          <a:p>
            <a:pPr algn="l">
              <a:spcBef>
                <a:spcPts val="0"/>
              </a:spcBef>
              <a:spcAft>
                <a:spcPts val="0"/>
              </a:spcAft>
            </a:pPr>
            <a:r>
              <a:rPr sz="1000" b="0" i="0">
                <a:solidFill>
                  <a:srgbClr val="9C9C9C"/>
                </a:solidFill>
                <a:latin typeface="Inter"/>
              </a:rPr>
              <a:t>Make abstract ideas manipulable.</a:t>
            </a:r>
          </a:p>
        </p:txBody>
      </p:sp>
      <p:cxnSp>
        <p:nvCxnSpPr>
          <p:cNvPr id="51" name="Connector 50"/>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learning memory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venire-logo-full.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19</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D / PRICING</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Current plan structure.</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Pricing is a live hypothesis; the next step is willingness-to-pay validation.</a:t>
            </a:r>
          </a:p>
        </p:txBody>
      </p:sp>
      <p:graphicFrame>
        <p:nvGraphicFramePr>
          <p:cNvPr id="9" name="Table 8"/>
          <p:cNvGraphicFramePr>
            <a:graphicFrameLocks noGrp="1"/>
          </p:cNvGraphicFramePr>
          <p:nvPr>
            <p:extLst>
              <p:ext uri="{D42A27DB-BD31-4B8C-83A1-F6EECF244321}">
                <p14:modId xmlns:p14="http://schemas.microsoft.com/office/powerpoint/2010/main" val="3989784343"/>
              </p:ext>
            </p:extLst>
          </p:nvPr>
        </p:nvGraphicFramePr>
        <p:xfrm>
          <a:off x="777240" y="2157323"/>
          <a:ext cx="10698480" cy="260604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5532120">
                  <a:extLst>
                    <a:ext uri="{9D8B030D-6E8A-4147-A177-3AD203B41FA5}">
                      <a16:colId xmlns:a16="http://schemas.microsoft.com/office/drawing/2014/main" val="20004"/>
                    </a:ext>
                  </a:extLst>
                </a:gridCol>
              </a:tblGrid>
              <a:tr h="521208">
                <a:tc>
                  <a:txBody>
                    <a:bodyPr/>
                    <a:lstStyle/>
                    <a:p>
                      <a:pPr algn="l"/>
                      <a:r>
                        <a:rPr sz="1050" b="1">
                          <a:solidFill>
                            <a:srgbClr val="ABC4FF"/>
                          </a:solidFill>
                          <a:latin typeface="Inter"/>
                        </a:rPr>
                        <a:t>Plan</a:t>
                      </a:r>
                    </a:p>
                  </a:txBody>
                  <a:tcPr marL="73152" marR="73152" marT="27432" marB="27432">
                    <a:solidFill>
                      <a:srgbClr val="222222"/>
                    </a:solidFill>
                  </a:tcPr>
                </a:tc>
                <a:tc>
                  <a:txBody>
                    <a:bodyPr/>
                    <a:lstStyle/>
                    <a:p>
                      <a:pPr algn="ctr"/>
                      <a:r>
                        <a:rPr sz="1050" b="1">
                          <a:solidFill>
                            <a:srgbClr val="ABC4FF"/>
                          </a:solidFill>
                          <a:latin typeface="Inter"/>
                        </a:rPr>
                        <a:t>Price / month</a:t>
                      </a:r>
                    </a:p>
                  </a:txBody>
                  <a:tcPr marL="73152" marR="73152" marT="27432" marB="27432">
                    <a:solidFill>
                      <a:srgbClr val="222222"/>
                    </a:solidFill>
                  </a:tcPr>
                </a:tc>
                <a:tc>
                  <a:txBody>
                    <a:bodyPr/>
                    <a:lstStyle/>
                    <a:p>
                      <a:pPr algn="ctr"/>
                      <a:r>
                        <a:rPr sz="1050" b="1">
                          <a:solidFill>
                            <a:srgbClr val="ABC4FF"/>
                          </a:solidFill>
                          <a:latin typeface="Inter"/>
                        </a:rPr>
                        <a:t>Credits</a:t>
                      </a:r>
                    </a:p>
                  </a:txBody>
                  <a:tcPr marL="73152" marR="73152" marT="27432" marB="27432">
                    <a:solidFill>
                      <a:srgbClr val="222222"/>
                    </a:solidFill>
                  </a:tcPr>
                </a:tc>
                <a:tc>
                  <a:txBody>
                    <a:bodyPr/>
                    <a:lstStyle/>
                    <a:p>
                      <a:pPr algn="ctr"/>
                      <a:r>
                        <a:rPr sz="1050" b="1">
                          <a:solidFill>
                            <a:srgbClr val="ABC4FF"/>
                          </a:solidFill>
                          <a:latin typeface="Inter"/>
                        </a:rPr>
                        <a:t>Storage</a:t>
                      </a:r>
                    </a:p>
                  </a:txBody>
                  <a:tcPr marL="73152" marR="73152" marT="27432" marB="27432">
                    <a:solidFill>
                      <a:srgbClr val="222222"/>
                    </a:solidFill>
                  </a:tcPr>
                </a:tc>
                <a:tc>
                  <a:txBody>
                    <a:bodyPr/>
                    <a:lstStyle/>
                    <a:p>
                      <a:pPr algn="ctr"/>
                      <a:r>
                        <a:rPr sz="1050" b="1">
                          <a:solidFill>
                            <a:srgbClr val="ABC4FF"/>
                          </a:solidFill>
                          <a:latin typeface="Inter"/>
                        </a:rPr>
                        <a:t>Learning capabilities</a:t>
                      </a:r>
                    </a:p>
                  </a:txBody>
                  <a:tcPr marL="73152" marR="73152" marT="27432" marB="27432">
                    <a:solidFill>
                      <a:srgbClr val="222222"/>
                    </a:solidFill>
                  </a:tcPr>
                </a:tc>
                <a:extLst>
                  <a:ext uri="{0D108BD9-81ED-4DB2-BD59-A6C34878D82A}">
                    <a16:rowId xmlns:a16="http://schemas.microsoft.com/office/drawing/2014/main" val="10000"/>
                  </a:ext>
                </a:extLst>
              </a:tr>
              <a:tr h="521208">
                <a:tc>
                  <a:txBody>
                    <a:bodyPr/>
                    <a:lstStyle/>
                    <a:p>
                      <a:pPr algn="l"/>
                      <a:r>
                        <a:rPr sz="1100" b="0">
                          <a:solidFill>
                            <a:srgbClr val="E4E4E4"/>
                          </a:solidFill>
                          <a:latin typeface="Inter"/>
                        </a:rPr>
                        <a:t>Access</a:t>
                      </a:r>
                    </a:p>
                  </a:txBody>
                  <a:tcPr marL="73152" marR="73152" marT="27432" marB="27432">
                    <a:solidFill>
                      <a:srgbClr val="1D1D1D"/>
                    </a:solidFill>
                  </a:tcPr>
                </a:tc>
                <a:tc>
                  <a:txBody>
                    <a:bodyPr/>
                    <a:lstStyle/>
                    <a:p>
                      <a:pPr algn="ctr"/>
                      <a:r>
                        <a:rPr sz="1100" b="0">
                          <a:solidFill>
                            <a:srgbClr val="E4E4E4"/>
                          </a:solidFill>
                          <a:latin typeface="Inter"/>
                        </a:rPr>
                        <a:t>₹0</a:t>
                      </a:r>
                    </a:p>
                  </a:txBody>
                  <a:tcPr marL="73152" marR="73152" marT="27432" marB="27432">
                    <a:solidFill>
                      <a:srgbClr val="1D1D1D"/>
                    </a:solidFill>
                  </a:tcPr>
                </a:tc>
                <a:tc>
                  <a:txBody>
                    <a:bodyPr/>
                    <a:lstStyle/>
                    <a:p>
                      <a:pPr algn="ctr"/>
                      <a:r>
                        <a:rPr sz="1100" b="0">
                          <a:solidFill>
                            <a:srgbClr val="E4E4E4"/>
                          </a:solidFill>
                          <a:latin typeface="Inter"/>
                        </a:rPr>
                        <a:t>330</a:t>
                      </a:r>
                    </a:p>
                  </a:txBody>
                  <a:tcPr marL="73152" marR="73152" marT="27432" marB="27432">
                    <a:solidFill>
                      <a:srgbClr val="1D1D1D"/>
                    </a:solidFill>
                  </a:tcPr>
                </a:tc>
                <a:tc>
                  <a:txBody>
                    <a:bodyPr/>
                    <a:lstStyle/>
                    <a:p>
                      <a:pPr algn="ctr"/>
                      <a:r>
                        <a:rPr sz="1100" b="0">
                          <a:solidFill>
                            <a:srgbClr val="E4E4E4"/>
                          </a:solidFill>
                          <a:latin typeface="Inter"/>
                        </a:rPr>
                        <a:t>2 GB</a:t>
                      </a:r>
                    </a:p>
                  </a:txBody>
                  <a:tcPr marL="73152" marR="73152" marT="27432" marB="27432">
                    <a:solidFill>
                      <a:srgbClr val="1D1D1D"/>
                    </a:solidFill>
                  </a:tcPr>
                </a:tc>
                <a:tc>
                  <a:txBody>
                    <a:bodyPr/>
                    <a:lstStyle/>
                    <a:p>
                      <a:pPr algn="ctr"/>
                      <a:r>
                        <a:rPr sz="1100" b="0">
                          <a:solidFill>
                            <a:srgbClr val="E4E4E4"/>
                          </a:solidFill>
                          <a:latin typeface="Inter"/>
                        </a:rPr>
                        <a:t>AI tutor; interactive concepts; flashcards; misconception detection</a:t>
                      </a:r>
                    </a:p>
                  </a:txBody>
                  <a:tcPr marL="73152" marR="73152" marT="27432" marB="27432">
                    <a:solidFill>
                      <a:srgbClr val="1D1D1D"/>
                    </a:solidFill>
                  </a:tcPr>
                </a:tc>
                <a:extLst>
                  <a:ext uri="{0D108BD9-81ED-4DB2-BD59-A6C34878D82A}">
                    <a16:rowId xmlns:a16="http://schemas.microsoft.com/office/drawing/2014/main" val="10001"/>
                  </a:ext>
                </a:extLst>
              </a:tr>
              <a:tr h="521208">
                <a:tc>
                  <a:txBody>
                    <a:bodyPr/>
                    <a:lstStyle/>
                    <a:p>
                      <a:pPr algn="l"/>
                      <a:r>
                        <a:rPr sz="1100" b="0">
                          <a:solidFill>
                            <a:srgbClr val="E4E4E4"/>
                          </a:solidFill>
                          <a:latin typeface="Inter"/>
                        </a:rPr>
                        <a:t>Core</a:t>
                      </a:r>
                    </a:p>
                  </a:txBody>
                  <a:tcPr marL="73152" marR="73152" marT="27432" marB="27432">
                    <a:solidFill>
                      <a:srgbClr val="181818"/>
                    </a:solidFill>
                  </a:tcPr>
                </a:tc>
                <a:tc>
                  <a:txBody>
                    <a:bodyPr/>
                    <a:lstStyle/>
                    <a:p>
                      <a:pPr algn="ctr"/>
                      <a:r>
                        <a:rPr sz="1100" b="0">
                          <a:solidFill>
                            <a:srgbClr val="E4E4E4"/>
                          </a:solidFill>
                          <a:latin typeface="Inter"/>
                        </a:rPr>
                        <a:t>₹450</a:t>
                      </a:r>
                    </a:p>
                  </a:txBody>
                  <a:tcPr marL="73152" marR="73152" marT="27432" marB="27432">
                    <a:solidFill>
                      <a:srgbClr val="181818"/>
                    </a:solidFill>
                  </a:tcPr>
                </a:tc>
                <a:tc>
                  <a:txBody>
                    <a:bodyPr/>
                    <a:lstStyle/>
                    <a:p>
                      <a:pPr algn="ctr"/>
                      <a:r>
                        <a:rPr sz="1100" b="0">
                          <a:solidFill>
                            <a:srgbClr val="E4E4E4"/>
                          </a:solidFill>
                          <a:latin typeface="Inter"/>
                        </a:rPr>
                        <a:t>1,880</a:t>
                      </a:r>
                    </a:p>
                  </a:txBody>
                  <a:tcPr marL="73152" marR="73152" marT="27432" marB="27432">
                    <a:solidFill>
                      <a:srgbClr val="181818"/>
                    </a:solidFill>
                  </a:tcPr>
                </a:tc>
                <a:tc>
                  <a:txBody>
                    <a:bodyPr/>
                    <a:lstStyle/>
                    <a:p>
                      <a:pPr algn="ctr"/>
                      <a:r>
                        <a:rPr sz="1100" b="0">
                          <a:solidFill>
                            <a:srgbClr val="E4E4E4"/>
                          </a:solidFill>
                          <a:latin typeface="Inter"/>
                        </a:rPr>
                        <a:t>15 GB</a:t>
                      </a:r>
                    </a:p>
                  </a:txBody>
                  <a:tcPr marL="73152" marR="73152" marT="27432" marB="27432">
                    <a:solidFill>
                      <a:srgbClr val="181818"/>
                    </a:solidFill>
                  </a:tcPr>
                </a:tc>
                <a:tc>
                  <a:txBody>
                    <a:bodyPr/>
                    <a:lstStyle/>
                    <a:p>
                      <a:pPr algn="ctr"/>
                      <a:r>
                        <a:rPr sz="1100" b="0">
                          <a:solidFill>
                            <a:srgbClr val="E4E4E4"/>
                          </a:solidFill>
                          <a:latin typeface="Inter"/>
                        </a:rPr>
                        <a:t>Everything in Access; priority response</a:t>
                      </a:r>
                    </a:p>
                  </a:txBody>
                  <a:tcPr marL="73152" marR="73152" marT="27432" marB="27432">
                    <a:solidFill>
                      <a:srgbClr val="181818"/>
                    </a:solidFill>
                  </a:tcPr>
                </a:tc>
                <a:extLst>
                  <a:ext uri="{0D108BD9-81ED-4DB2-BD59-A6C34878D82A}">
                    <a16:rowId xmlns:a16="http://schemas.microsoft.com/office/drawing/2014/main" val="10002"/>
                  </a:ext>
                </a:extLst>
              </a:tr>
              <a:tr h="521208">
                <a:tc>
                  <a:txBody>
                    <a:bodyPr/>
                    <a:lstStyle/>
                    <a:p>
                      <a:pPr algn="l"/>
                      <a:r>
                        <a:rPr sz="1100" b="0">
                          <a:solidFill>
                            <a:srgbClr val="E4E4E4"/>
                          </a:solidFill>
                          <a:latin typeface="Inter"/>
                        </a:rPr>
                        <a:t>Scholar</a:t>
                      </a:r>
                    </a:p>
                  </a:txBody>
                  <a:tcPr marL="73152" marR="73152" marT="27432" marB="27432">
                    <a:solidFill>
                      <a:srgbClr val="1D1D1D"/>
                    </a:solidFill>
                  </a:tcPr>
                </a:tc>
                <a:tc>
                  <a:txBody>
                    <a:bodyPr/>
                    <a:lstStyle/>
                    <a:p>
                      <a:pPr algn="ctr"/>
                      <a:r>
                        <a:rPr sz="1100" b="0">
                          <a:solidFill>
                            <a:srgbClr val="E4E4E4"/>
                          </a:solidFill>
                          <a:latin typeface="Inter"/>
                        </a:rPr>
                        <a:t>₹1,350</a:t>
                      </a:r>
                    </a:p>
                  </a:txBody>
                  <a:tcPr marL="73152" marR="73152" marT="27432" marB="27432">
                    <a:solidFill>
                      <a:srgbClr val="1D1D1D"/>
                    </a:solidFill>
                  </a:tcPr>
                </a:tc>
                <a:tc>
                  <a:txBody>
                    <a:bodyPr/>
                    <a:lstStyle/>
                    <a:p>
                      <a:pPr algn="ctr"/>
                      <a:r>
                        <a:rPr sz="1100" b="0">
                          <a:solidFill>
                            <a:srgbClr val="E4E4E4"/>
                          </a:solidFill>
                          <a:latin typeface="Inter"/>
                        </a:rPr>
                        <a:t>6,680</a:t>
                      </a:r>
                    </a:p>
                  </a:txBody>
                  <a:tcPr marL="73152" marR="73152" marT="27432" marB="27432">
                    <a:solidFill>
                      <a:srgbClr val="1D1D1D"/>
                    </a:solidFill>
                  </a:tcPr>
                </a:tc>
                <a:tc>
                  <a:txBody>
                    <a:bodyPr/>
                    <a:lstStyle/>
                    <a:p>
                      <a:pPr algn="ctr"/>
                      <a:r>
                        <a:rPr sz="1100" b="0">
                          <a:solidFill>
                            <a:srgbClr val="E4E4E4"/>
                          </a:solidFill>
                          <a:latin typeface="Inter"/>
                        </a:rPr>
                        <a:t>50 GB</a:t>
                      </a:r>
                    </a:p>
                  </a:txBody>
                  <a:tcPr marL="73152" marR="73152" marT="27432" marB="27432">
                    <a:solidFill>
                      <a:srgbClr val="1D1D1D"/>
                    </a:solidFill>
                  </a:tcPr>
                </a:tc>
                <a:tc>
                  <a:txBody>
                    <a:bodyPr/>
                    <a:lstStyle/>
                    <a:p>
                      <a:pPr algn="ctr"/>
                      <a:r>
                        <a:rPr sz="1100" b="0">
                          <a:solidFill>
                            <a:srgbClr val="E4E4E4"/>
                          </a:solidFill>
                          <a:latin typeface="Inter"/>
                        </a:rPr>
                        <a:t>Everything in Core; mastery tracking; custom study plans; experimental features</a:t>
                      </a:r>
                    </a:p>
                  </a:txBody>
                  <a:tcPr marL="73152" marR="73152" marT="27432" marB="27432">
                    <a:solidFill>
                      <a:srgbClr val="1D1D1D"/>
                    </a:solidFill>
                  </a:tcPr>
                </a:tc>
                <a:extLst>
                  <a:ext uri="{0D108BD9-81ED-4DB2-BD59-A6C34878D82A}">
                    <a16:rowId xmlns:a16="http://schemas.microsoft.com/office/drawing/2014/main" val="10003"/>
                  </a:ext>
                </a:extLst>
              </a:tr>
              <a:tr h="521208">
                <a:tc>
                  <a:txBody>
                    <a:bodyPr/>
                    <a:lstStyle/>
                    <a:p>
                      <a:pPr algn="l"/>
                      <a:r>
                        <a:rPr sz="1100" b="0">
                          <a:solidFill>
                            <a:srgbClr val="E4E4E4"/>
                          </a:solidFill>
                          <a:latin typeface="Inter"/>
                        </a:rPr>
                        <a:t>Coming next</a:t>
                      </a:r>
                    </a:p>
                  </a:txBody>
                  <a:tcPr marL="73152" marR="73152" marT="27432" marB="27432">
                    <a:solidFill>
                      <a:srgbClr val="181818"/>
                    </a:solidFill>
                  </a:tcPr>
                </a:tc>
                <a:tc>
                  <a:txBody>
                    <a:bodyPr/>
                    <a:lstStyle/>
                    <a:p>
                      <a:pPr algn="ctr"/>
                      <a:r>
                        <a:rPr sz="1100" b="0">
                          <a:solidFill>
                            <a:srgbClr val="E4E4E4"/>
                          </a:solidFill>
                          <a:latin typeface="Inter"/>
                        </a:rPr>
                        <a:t>Institutional / Enterprise</a:t>
                      </a:r>
                    </a:p>
                  </a:txBody>
                  <a:tcPr marL="73152" marR="73152" marT="27432" marB="27432">
                    <a:solidFill>
                      <a:srgbClr val="181818"/>
                    </a:solidFill>
                  </a:tcPr>
                </a:tc>
                <a:tc>
                  <a:txBody>
                    <a:bodyPr/>
                    <a:lstStyle/>
                    <a:p>
                      <a:pPr algn="ctr"/>
                      <a:r>
                        <a:rPr sz="1100" b="0">
                          <a:solidFill>
                            <a:srgbClr val="E4E4E4"/>
                          </a:solidFill>
                          <a:latin typeface="Inter"/>
                        </a:rPr>
                        <a:t>—</a:t>
                      </a:r>
                    </a:p>
                  </a:txBody>
                  <a:tcPr marL="73152" marR="73152" marT="27432" marB="27432">
                    <a:solidFill>
                      <a:srgbClr val="181818"/>
                    </a:solidFill>
                  </a:tcPr>
                </a:tc>
                <a:tc>
                  <a:txBody>
                    <a:bodyPr/>
                    <a:lstStyle/>
                    <a:p>
                      <a:pPr algn="ctr"/>
                      <a:r>
                        <a:rPr sz="1100" b="0">
                          <a:solidFill>
                            <a:srgbClr val="E4E4E4"/>
                          </a:solidFill>
                          <a:latin typeface="Inter"/>
                        </a:rPr>
                        <a:t>—</a:t>
                      </a:r>
                    </a:p>
                  </a:txBody>
                  <a:tcPr marL="73152" marR="73152" marT="27432" marB="27432">
                    <a:solidFill>
                      <a:srgbClr val="181818"/>
                    </a:solidFill>
                  </a:tcPr>
                </a:tc>
                <a:tc>
                  <a:txBody>
                    <a:bodyPr/>
                    <a:lstStyle/>
                    <a:p>
                      <a:pPr algn="ctr"/>
                      <a:r>
                        <a:rPr sz="1100" b="0">
                          <a:solidFill>
                            <a:srgbClr val="E4E4E4"/>
                          </a:solidFill>
                          <a:latin typeface="Inter"/>
                        </a:rPr>
                        <a:t>University workspaces; institutional knowledge; admin and educator tools</a:t>
                      </a:r>
                    </a:p>
                  </a:txBody>
                  <a:tcPr marL="73152" marR="73152" marT="27432" marB="27432">
                    <a:solidFill>
                      <a:srgbClr val="181818"/>
                    </a:solidFill>
                  </a:tcPr>
                </a:tc>
                <a:extLst>
                  <a:ext uri="{0D108BD9-81ED-4DB2-BD59-A6C34878D82A}">
                    <a16:rowId xmlns:a16="http://schemas.microsoft.com/office/drawing/2014/main" val="10004"/>
                  </a:ext>
                </a:extLst>
              </a:tr>
            </a:tbl>
          </a:graphicData>
        </a:graphic>
      </p:graphicFrame>
      <p:cxnSp>
        <p:nvCxnSpPr>
          <p:cNvPr id="10" name="Connector 9"/>
          <p:cNvCxnSpPr/>
          <p:nvPr/>
        </p:nvCxnSpPr>
        <p:spPr>
          <a:xfrm>
            <a:off x="777240" y="5174844"/>
            <a:ext cx="1069848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5376012"/>
            <a:ext cx="1645920" cy="182880"/>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Validation question</a:t>
            </a:r>
          </a:p>
        </p:txBody>
      </p:sp>
      <p:sp>
        <p:nvSpPr>
          <p:cNvPr id="12" name="TextBox 11"/>
          <p:cNvSpPr txBox="1"/>
          <p:nvPr/>
        </p:nvSpPr>
        <p:spPr>
          <a:xfrm>
            <a:off x="2926080" y="5330292"/>
            <a:ext cx="8138160" cy="274320"/>
          </a:xfrm>
          <a:prstGeom prst="rect">
            <a:avLst/>
          </a:prstGeom>
          <a:noFill/>
        </p:spPr>
        <p:txBody>
          <a:bodyPr wrap="square" lIns="0" tIns="0" rIns="0" bIns="0" anchor="t">
            <a:spAutoFit/>
          </a:bodyPr>
          <a:lstStyle/>
          <a:p>
            <a:pPr algn="l">
              <a:spcBef>
                <a:spcPts val="0"/>
              </a:spcBef>
              <a:spcAft>
                <a:spcPts val="0"/>
              </a:spcAft>
            </a:pPr>
            <a:r>
              <a:rPr sz="1500" b="1" i="0">
                <a:solidFill>
                  <a:srgbClr val="E4E4E4"/>
                </a:solidFill>
                <a:latin typeface="Inter"/>
              </a:rPr>
              <a:t>Which workflow creates enough repeated value for students to pay — and for institutions to pilot?</a:t>
            </a:r>
          </a:p>
        </p:txBody>
      </p:sp>
      <p:cxnSp>
        <p:nvCxnSpPr>
          <p:cNvPr id="13" name="Connector 12"/>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pricing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594360" y="256032"/>
            <a:ext cx="210312" cy="210312"/>
          </a:xfrm>
          <a:prstGeom prst="rect">
            <a:avLst/>
          </a:prstGeom>
        </p:spPr>
      </p:pic>
      <p:sp>
        <p:nvSpPr>
          <p:cNvPr id="4" name="TextBox 3"/>
          <p:cNvSpPr txBox="1"/>
          <p:nvPr/>
        </p:nvSpPr>
        <p:spPr>
          <a:xfrm>
            <a:off x="877824" y="237744"/>
            <a:ext cx="822960" cy="237744"/>
          </a:xfrm>
          <a:prstGeom prst="rect">
            <a:avLst/>
          </a:prstGeom>
          <a:noFill/>
        </p:spPr>
        <p:txBody>
          <a:bodyPr wrap="square" lIns="0" tIns="0" rIns="0" bIns="0" anchor="ctr">
            <a:spAutoFit/>
          </a:bodyPr>
          <a:lstStyle/>
          <a:p>
            <a:pPr algn="l">
              <a:spcBef>
                <a:spcPts val="0"/>
              </a:spcBef>
              <a:spcAft>
                <a:spcPts val="0"/>
              </a:spcAft>
            </a:pPr>
            <a:r>
              <a:rPr sz="1100" b="1" i="0">
                <a:solidFill>
                  <a:srgbClr val="E4E4E4"/>
                </a:solidFill>
                <a:latin typeface="Inter"/>
              </a:rPr>
              <a:t>Avenire</a:t>
            </a:r>
          </a:p>
        </p:txBody>
      </p:sp>
      <p:sp>
        <p:nvSpPr>
          <p:cNvPr id="5" name="TextBox 4"/>
          <p:cNvSpPr txBox="1"/>
          <p:nvPr/>
        </p:nvSpPr>
        <p:spPr>
          <a:xfrm>
            <a:off x="11277295" y="265176"/>
            <a:ext cx="320040" cy="182880"/>
          </a:xfrm>
          <a:prstGeom prst="rect">
            <a:avLst/>
          </a:prstGeom>
          <a:noFill/>
        </p:spPr>
        <p:txBody>
          <a:bodyPr wrap="square" lIns="0" tIns="0" rIns="0" bIns="0" anchor="t">
            <a:spAutoFit/>
          </a:bodyPr>
          <a:lstStyle/>
          <a:p>
            <a:pPr algn="r">
              <a:spcBef>
                <a:spcPts val="0"/>
              </a:spcBef>
              <a:spcAft>
                <a:spcPts val="0"/>
              </a:spcAft>
            </a:pPr>
            <a:r>
              <a:rPr sz="900" b="0" i="0">
                <a:solidFill>
                  <a:srgbClr val="6E6E6E"/>
                </a:solidFill>
                <a:latin typeface="Cascadia Mono"/>
              </a:rPr>
              <a:t>20</a:t>
            </a:r>
          </a:p>
        </p:txBody>
      </p:sp>
      <p:sp>
        <p:nvSpPr>
          <p:cNvPr id="6" name="TextBox 5"/>
          <p:cNvSpPr txBox="1"/>
          <p:nvPr/>
        </p:nvSpPr>
        <p:spPr>
          <a:xfrm>
            <a:off x="594360" y="749808"/>
            <a:ext cx="5303520" cy="201168"/>
          </a:xfrm>
          <a:prstGeom prst="rect">
            <a:avLst/>
          </a:prstGeom>
          <a:noFill/>
        </p:spPr>
        <p:txBody>
          <a:bodyPr wrap="square" lIns="0" tIns="0" rIns="0" bIns="0" anchor="t">
            <a:spAutoFit/>
          </a:bodyPr>
          <a:lstStyle/>
          <a:p>
            <a:pPr algn="l">
              <a:spcBef>
                <a:spcPts val="0"/>
              </a:spcBef>
              <a:spcAft>
                <a:spcPts val="0"/>
              </a:spcAft>
            </a:pPr>
            <a:r>
              <a:rPr sz="1000" b="1" i="0">
                <a:solidFill>
                  <a:srgbClr val="ABC4FF"/>
                </a:solidFill>
                <a:latin typeface="Cascadia Mono"/>
              </a:rPr>
              <a:t>APPENDIX E / RESEARCH</a:t>
            </a:r>
          </a:p>
        </p:txBody>
      </p:sp>
      <p:sp>
        <p:nvSpPr>
          <p:cNvPr id="7" name="TextBox 6"/>
          <p:cNvSpPr txBox="1"/>
          <p:nvPr/>
        </p:nvSpPr>
        <p:spPr>
          <a:xfrm>
            <a:off x="594360" y="1005840"/>
            <a:ext cx="10789920" cy="640080"/>
          </a:xfrm>
          <a:prstGeom prst="rect">
            <a:avLst/>
          </a:prstGeom>
          <a:noFill/>
        </p:spPr>
        <p:txBody>
          <a:bodyPr wrap="square" lIns="0" tIns="0" rIns="0" bIns="0" anchor="t">
            <a:spAutoFit/>
          </a:bodyPr>
          <a:lstStyle/>
          <a:p>
            <a:pPr algn="l">
              <a:spcBef>
                <a:spcPts val="0"/>
              </a:spcBef>
              <a:spcAft>
                <a:spcPts val="0"/>
              </a:spcAft>
            </a:pPr>
            <a:r>
              <a:rPr sz="3000" b="1" i="0">
                <a:solidFill>
                  <a:srgbClr val="E4E4E4"/>
                </a:solidFill>
                <a:latin typeface="Inter"/>
              </a:rPr>
              <a:t>Separating topic overlap from misconception.</a:t>
            </a:r>
          </a:p>
        </p:txBody>
      </p:sp>
      <p:sp>
        <p:nvSpPr>
          <p:cNvPr id="8" name="TextBox 7"/>
          <p:cNvSpPr txBox="1"/>
          <p:nvPr/>
        </p:nvSpPr>
        <p:spPr>
          <a:xfrm>
            <a:off x="594360" y="1691640"/>
            <a:ext cx="9692640" cy="384048"/>
          </a:xfrm>
          <a:prstGeom prst="rect">
            <a:avLst/>
          </a:prstGeom>
          <a:noFill/>
        </p:spPr>
        <p:txBody>
          <a:bodyPr wrap="square" lIns="0" tIns="0" rIns="0" bIns="0" anchor="t">
            <a:spAutoFit/>
          </a:bodyPr>
          <a:lstStyle/>
          <a:p>
            <a:pPr algn="l">
              <a:spcBef>
                <a:spcPts val="0"/>
              </a:spcBef>
              <a:spcAft>
                <a:spcPts val="0"/>
              </a:spcAft>
            </a:pPr>
            <a:r>
              <a:rPr sz="1400" b="0" i="0">
                <a:solidFill>
                  <a:srgbClr val="9C9C9C"/>
                </a:solidFill>
                <a:latin typeface="Inter"/>
              </a:rPr>
              <a:t>A proposed direction for the misconception engine — research in progress, not a shipped claim.</a:t>
            </a:r>
          </a:p>
        </p:txBody>
      </p:sp>
      <p:cxnSp>
        <p:nvCxnSpPr>
          <p:cNvPr id="9" name="Connector 8"/>
          <p:cNvCxnSpPr/>
          <p:nvPr/>
        </p:nvCxnSpPr>
        <p:spPr>
          <a:xfrm>
            <a:off x="1143000" y="5166360"/>
            <a:ext cx="4937760" cy="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43000" y="2423160"/>
            <a:ext cx="0" cy="274320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34840" y="5321808"/>
            <a:ext cx="1554480" cy="182880"/>
          </a:xfrm>
          <a:prstGeom prst="rect">
            <a:avLst/>
          </a:prstGeom>
          <a:noFill/>
        </p:spPr>
        <p:txBody>
          <a:bodyPr wrap="square" lIns="0" tIns="0" rIns="0" bIns="0" anchor="t">
            <a:spAutoFit/>
          </a:bodyPr>
          <a:lstStyle/>
          <a:p>
            <a:pPr algn="r">
              <a:spcBef>
                <a:spcPts val="0"/>
              </a:spcBef>
              <a:spcAft>
                <a:spcPts val="0"/>
              </a:spcAft>
            </a:pPr>
            <a:r>
              <a:rPr sz="950" b="0" i="0">
                <a:solidFill>
                  <a:srgbClr val="6E6E6E"/>
                </a:solidFill>
                <a:latin typeface="Cascadia Mono"/>
              </a:rPr>
              <a:t>topic familiarity</a:t>
            </a:r>
          </a:p>
        </p:txBody>
      </p:sp>
      <p:sp>
        <p:nvSpPr>
          <p:cNvPr id="12" name="TextBox 11"/>
          <p:cNvSpPr txBox="1"/>
          <p:nvPr/>
        </p:nvSpPr>
        <p:spPr>
          <a:xfrm>
            <a:off x="731520" y="2331720"/>
            <a:ext cx="1280160" cy="182880"/>
          </a:xfrm>
          <a:prstGeom prst="rect">
            <a:avLst/>
          </a:prstGeom>
          <a:noFill/>
        </p:spPr>
        <p:txBody>
          <a:bodyPr wrap="square" lIns="0" tIns="0" rIns="0" bIns="0" anchor="t">
            <a:spAutoFit/>
          </a:bodyPr>
          <a:lstStyle/>
          <a:p>
            <a:pPr algn="l">
              <a:spcBef>
                <a:spcPts val="0"/>
              </a:spcBef>
              <a:spcAft>
                <a:spcPts val="0"/>
              </a:spcAft>
            </a:pPr>
            <a:r>
              <a:rPr sz="950" b="0" i="0">
                <a:solidFill>
                  <a:srgbClr val="6E6E6E"/>
                </a:solidFill>
                <a:latin typeface="Cascadia Mono"/>
              </a:rPr>
              <a:t>belief signal</a:t>
            </a:r>
          </a:p>
        </p:txBody>
      </p:sp>
      <p:cxnSp>
        <p:nvCxnSpPr>
          <p:cNvPr id="13" name="Connector 12"/>
          <p:cNvCxnSpPr/>
          <p:nvPr/>
        </p:nvCxnSpPr>
        <p:spPr>
          <a:xfrm flipV="1">
            <a:off x="1143000" y="4297680"/>
            <a:ext cx="3429000" cy="868680"/>
          </a:xfrm>
          <a:prstGeom prst="line">
            <a:avLst/>
          </a:prstGeom>
          <a:ln w="20320">
            <a:solidFill>
              <a:srgbClr val="78C4D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43000" y="3063240"/>
            <a:ext cx="3017520" cy="2103120"/>
          </a:xfrm>
          <a:prstGeom prst="line">
            <a:avLst/>
          </a:prstGeom>
          <a:ln w="25400">
            <a:solidFill>
              <a:srgbClr val="F0A8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143000" y="2743200"/>
            <a:ext cx="4343400" cy="2423160"/>
          </a:xfrm>
          <a:prstGeom prst="line">
            <a:avLst/>
          </a:prstGeom>
          <a:ln w="25400">
            <a:solidFill>
              <a:srgbClr val="ED84BD"/>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453128" y="4221938"/>
            <a:ext cx="164592" cy="164592"/>
          </a:xfrm>
          <a:prstGeom prst="ellipse">
            <a:avLst/>
          </a:prstGeom>
          <a:solidFill>
            <a:srgbClr val="78C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Oval 16"/>
          <p:cNvSpPr/>
          <p:nvPr/>
        </p:nvSpPr>
        <p:spPr>
          <a:xfrm>
            <a:off x="4049758" y="3012948"/>
            <a:ext cx="164592" cy="164592"/>
          </a:xfrm>
          <a:prstGeom prst="ellipse">
            <a:avLst/>
          </a:prstGeom>
          <a:solidFill>
            <a:srgbClr val="F0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326380" y="2718270"/>
            <a:ext cx="164592" cy="164592"/>
          </a:xfrm>
          <a:prstGeom prst="ellipse">
            <a:avLst/>
          </a:prstGeom>
          <a:solidFill>
            <a:srgbClr val="ED84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4663440" y="4096512"/>
            <a:ext cx="1325880" cy="182880"/>
          </a:xfrm>
          <a:prstGeom prst="rect">
            <a:avLst/>
          </a:prstGeom>
          <a:noFill/>
        </p:spPr>
        <p:txBody>
          <a:bodyPr wrap="square" lIns="0" tIns="0" rIns="0" bIns="0" anchor="t">
            <a:spAutoFit/>
          </a:bodyPr>
          <a:lstStyle/>
          <a:p>
            <a:pPr algn="l">
              <a:spcBef>
                <a:spcPts val="0"/>
              </a:spcBef>
              <a:spcAft>
                <a:spcPts val="0"/>
              </a:spcAft>
            </a:pPr>
            <a:r>
              <a:rPr sz="1050" b="0" i="0">
                <a:solidFill>
                  <a:srgbClr val="78C4D5"/>
                </a:solidFill>
                <a:latin typeface="Inter"/>
              </a:rPr>
              <a:t>topic-only question</a:t>
            </a:r>
          </a:p>
        </p:txBody>
      </p:sp>
      <p:sp>
        <p:nvSpPr>
          <p:cNvPr id="20" name="TextBox 19"/>
          <p:cNvSpPr txBox="1"/>
          <p:nvPr/>
        </p:nvSpPr>
        <p:spPr>
          <a:xfrm>
            <a:off x="3749039" y="2743200"/>
            <a:ext cx="1417320" cy="182880"/>
          </a:xfrm>
          <a:prstGeom prst="rect">
            <a:avLst/>
          </a:prstGeom>
          <a:noFill/>
        </p:spPr>
        <p:txBody>
          <a:bodyPr wrap="square" lIns="0" tIns="0" rIns="0" bIns="0" anchor="t">
            <a:spAutoFit/>
          </a:bodyPr>
          <a:lstStyle/>
          <a:p>
            <a:pPr algn="r">
              <a:spcBef>
                <a:spcPts val="0"/>
              </a:spcBef>
              <a:spcAft>
                <a:spcPts val="0"/>
              </a:spcAft>
            </a:pPr>
            <a:r>
              <a:rPr sz="1050" b="0" i="0">
                <a:solidFill>
                  <a:srgbClr val="F0A873"/>
                </a:solidFill>
                <a:latin typeface="Inter"/>
              </a:rPr>
              <a:t>known wrong belief</a:t>
            </a:r>
          </a:p>
        </p:txBody>
      </p:sp>
      <p:sp>
        <p:nvSpPr>
          <p:cNvPr id="21" name="TextBox 20"/>
          <p:cNvSpPr txBox="1"/>
          <p:nvPr/>
        </p:nvSpPr>
        <p:spPr>
          <a:xfrm>
            <a:off x="5468112" y="2423160"/>
            <a:ext cx="1188720" cy="182880"/>
          </a:xfrm>
          <a:prstGeom prst="rect">
            <a:avLst/>
          </a:prstGeom>
          <a:noFill/>
        </p:spPr>
        <p:txBody>
          <a:bodyPr wrap="square" lIns="0" tIns="0" rIns="0" bIns="0" anchor="t">
            <a:spAutoFit/>
          </a:bodyPr>
          <a:lstStyle/>
          <a:p>
            <a:pPr algn="l">
              <a:spcBef>
                <a:spcPts val="0"/>
              </a:spcBef>
              <a:spcAft>
                <a:spcPts val="0"/>
              </a:spcAft>
            </a:pPr>
            <a:r>
              <a:rPr sz="1050" b="0" i="0">
                <a:solidFill>
                  <a:srgbClr val="ED84BD"/>
                </a:solidFill>
                <a:latin typeface="Inter"/>
              </a:rPr>
              <a:t>novel confusion</a:t>
            </a:r>
          </a:p>
        </p:txBody>
      </p:sp>
      <p:sp>
        <p:nvSpPr>
          <p:cNvPr id="22" name="TextBox 21"/>
          <p:cNvSpPr txBox="1"/>
          <p:nvPr/>
        </p:nvSpPr>
        <p:spPr>
          <a:xfrm>
            <a:off x="1143000" y="5623560"/>
            <a:ext cx="2926080" cy="182880"/>
          </a:xfrm>
          <a:prstGeom prst="rect">
            <a:avLst/>
          </a:prstGeom>
          <a:noFill/>
        </p:spPr>
        <p:txBody>
          <a:bodyPr wrap="square" lIns="0" tIns="0" rIns="0" bIns="0" anchor="t">
            <a:spAutoFit/>
          </a:bodyPr>
          <a:lstStyle/>
          <a:p>
            <a:pPr algn="l">
              <a:spcBef>
                <a:spcPts val="0"/>
              </a:spcBef>
              <a:spcAft>
                <a:spcPts val="0"/>
              </a:spcAft>
            </a:pPr>
            <a:r>
              <a:rPr sz="1100" b="0" i="0">
                <a:solidFill>
                  <a:srgbClr val="F0A873"/>
                </a:solidFill>
                <a:latin typeface="Cascadia Mono"/>
              </a:rPr>
              <a:t>δmis = full_emb − topic_emb</a:t>
            </a:r>
          </a:p>
        </p:txBody>
      </p:sp>
      <p:cxnSp>
        <p:nvCxnSpPr>
          <p:cNvPr id="23" name="Connector 22"/>
          <p:cNvCxnSpPr/>
          <p:nvPr/>
        </p:nvCxnSpPr>
        <p:spPr>
          <a:xfrm>
            <a:off x="7360920" y="2011680"/>
            <a:ext cx="0" cy="3703320"/>
          </a:xfrm>
          <a:prstGeom prst="line">
            <a:avLst/>
          </a:prstGeom>
          <a:ln w="12700">
            <a:solidFill>
              <a:srgbClr val="3434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26679" y="2148840"/>
            <a:ext cx="3200401" cy="0"/>
          </a:xfrm>
          <a:prstGeom prst="line">
            <a:avLst/>
          </a:prstGeom>
          <a:ln w="19050">
            <a:solidFill>
              <a:srgbClr val="ABC4F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26679" y="2304288"/>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ABC4FF"/>
                </a:solidFill>
                <a:latin typeface="Inter"/>
              </a:rPr>
              <a:t>Current system</a:t>
            </a:r>
          </a:p>
        </p:txBody>
      </p:sp>
      <p:sp>
        <p:nvSpPr>
          <p:cNvPr id="26" name="TextBox 25"/>
          <p:cNvSpPr txBox="1"/>
          <p:nvPr/>
        </p:nvSpPr>
        <p:spPr>
          <a:xfrm>
            <a:off x="7726679" y="2587752"/>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Cosine prefilter over full records, then an online LLM classifier on borderline hits.</a:t>
            </a:r>
          </a:p>
        </p:txBody>
      </p:sp>
      <p:cxnSp>
        <p:nvCxnSpPr>
          <p:cNvPr id="27" name="Connector 26"/>
          <p:cNvCxnSpPr/>
          <p:nvPr/>
        </p:nvCxnSpPr>
        <p:spPr>
          <a:xfrm>
            <a:off x="7726679" y="3044952"/>
            <a:ext cx="3200401" cy="0"/>
          </a:xfrm>
          <a:prstGeom prst="line">
            <a:avLst/>
          </a:prstGeom>
          <a:ln w="19050">
            <a:solidFill>
              <a:srgbClr val="F0A87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26679" y="3200400"/>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F0A873"/>
                </a:solidFill>
                <a:latin typeface="Inter"/>
              </a:rPr>
              <a:t>Research direction</a:t>
            </a:r>
          </a:p>
        </p:txBody>
      </p:sp>
      <p:sp>
        <p:nvSpPr>
          <p:cNvPr id="29" name="TextBox 28"/>
          <p:cNvSpPr txBox="1"/>
          <p:nvPr/>
        </p:nvSpPr>
        <p:spPr>
          <a:xfrm>
            <a:off x="7726679" y="3483864"/>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Store topic_emb and full_emb; cancel topic overlap and score the misconception delta.</a:t>
            </a:r>
          </a:p>
        </p:txBody>
      </p:sp>
      <p:cxnSp>
        <p:nvCxnSpPr>
          <p:cNvPr id="30" name="Connector 29"/>
          <p:cNvCxnSpPr/>
          <p:nvPr/>
        </p:nvCxnSpPr>
        <p:spPr>
          <a:xfrm>
            <a:off x="7726679" y="3941064"/>
            <a:ext cx="3200401" cy="0"/>
          </a:xfrm>
          <a:prstGeom prst="line">
            <a:avLst/>
          </a:prstGeom>
          <a:ln w="19050">
            <a:solidFill>
              <a:srgbClr val="ED84B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26679" y="4096512"/>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ED84BD"/>
                </a:solidFill>
                <a:latin typeface="Inter"/>
              </a:rPr>
              <a:t>Novelty signal</a:t>
            </a:r>
          </a:p>
        </p:txBody>
      </p:sp>
      <p:sp>
        <p:nvSpPr>
          <p:cNvPr id="32" name="TextBox 31"/>
          <p:cNvSpPr txBox="1"/>
          <p:nvPr/>
        </p:nvSpPr>
        <p:spPr>
          <a:xfrm>
            <a:off x="7726679" y="4379976"/>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Residual magnitude surfaces confusion that no known misconception explains.</a:t>
            </a:r>
          </a:p>
        </p:txBody>
      </p:sp>
      <p:cxnSp>
        <p:nvCxnSpPr>
          <p:cNvPr id="33" name="Connector 32"/>
          <p:cNvCxnSpPr/>
          <p:nvPr/>
        </p:nvCxnSpPr>
        <p:spPr>
          <a:xfrm>
            <a:off x="7726679" y="4837176"/>
            <a:ext cx="3200401" cy="0"/>
          </a:xfrm>
          <a:prstGeom prst="line">
            <a:avLst/>
          </a:prstGeom>
          <a:ln w="19050">
            <a:solidFill>
              <a:srgbClr val="78C4D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26679" y="4992624"/>
            <a:ext cx="2743200" cy="210312"/>
          </a:xfrm>
          <a:prstGeom prst="rect">
            <a:avLst/>
          </a:prstGeom>
          <a:noFill/>
        </p:spPr>
        <p:txBody>
          <a:bodyPr wrap="square" lIns="0" tIns="0" rIns="0" bIns="0" anchor="t">
            <a:spAutoFit/>
          </a:bodyPr>
          <a:lstStyle/>
          <a:p>
            <a:pPr algn="l">
              <a:spcBef>
                <a:spcPts val="0"/>
              </a:spcBef>
              <a:spcAft>
                <a:spcPts val="0"/>
              </a:spcAft>
            </a:pPr>
            <a:r>
              <a:rPr sz="1400" b="1" i="0">
                <a:solidFill>
                  <a:srgbClr val="78C4D5"/>
                </a:solidFill>
                <a:latin typeface="Inter"/>
              </a:rPr>
              <a:t>Why it matters</a:t>
            </a:r>
          </a:p>
        </p:txBody>
      </p:sp>
      <p:sp>
        <p:nvSpPr>
          <p:cNvPr id="35" name="TextBox 34"/>
          <p:cNvSpPr txBox="1"/>
          <p:nvPr/>
        </p:nvSpPr>
        <p:spPr>
          <a:xfrm>
            <a:off x="7726679" y="5276088"/>
            <a:ext cx="3337560" cy="365760"/>
          </a:xfrm>
          <a:prstGeom prst="rect">
            <a:avLst/>
          </a:prstGeom>
          <a:noFill/>
        </p:spPr>
        <p:txBody>
          <a:bodyPr wrap="square" lIns="0" tIns="0" rIns="0" bIns="0" anchor="t">
            <a:spAutoFit/>
          </a:bodyPr>
          <a:lstStyle/>
          <a:p>
            <a:pPr algn="l">
              <a:spcBef>
                <a:spcPts val="0"/>
              </a:spcBef>
              <a:spcAft>
                <a:spcPts val="0"/>
              </a:spcAft>
            </a:pPr>
            <a:r>
              <a:rPr sz="1050" b="0" i="0">
                <a:solidFill>
                  <a:srgbClr val="9C9C9C"/>
                </a:solidFill>
                <a:latin typeface="Inter"/>
              </a:rPr>
              <a:t>Reject topic bleed, reduce online classifier work, and send novel cases to post-hoc review instead of hallucinating mid-turn.</a:t>
            </a:r>
          </a:p>
        </p:txBody>
      </p:sp>
      <p:cxnSp>
        <p:nvCxnSpPr>
          <p:cNvPr id="36" name="Connector 35"/>
          <p:cNvCxnSpPr/>
          <p:nvPr/>
        </p:nvCxnSpPr>
        <p:spPr>
          <a:xfrm>
            <a:off x="594360" y="6464808"/>
            <a:ext cx="11002975" cy="0"/>
          </a:xfrm>
          <a:prstGeom prst="line">
            <a:avLst/>
          </a:prstGeom>
          <a:ln w="7620">
            <a:solidFill>
              <a:srgbClr val="343434"/>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6574536"/>
            <a:ext cx="3474720" cy="146304"/>
          </a:xfrm>
          <a:prstGeom prst="rect">
            <a:avLst/>
          </a:prstGeom>
          <a:noFill/>
        </p:spPr>
        <p:txBody>
          <a:bodyPr wrap="square" lIns="0" tIns="0" rIns="0" bIns="0" anchor="t">
            <a:spAutoFit/>
          </a:bodyPr>
          <a:lstStyle/>
          <a:p>
            <a:pPr algn="l">
              <a:spcBef>
                <a:spcPts val="0"/>
              </a:spcBef>
              <a:spcAft>
                <a:spcPts val="0"/>
              </a:spcAft>
            </a:pPr>
            <a:r>
              <a:rPr sz="850" b="0" i="0">
                <a:solidFill>
                  <a:srgbClr val="6E6E6E"/>
                </a:solidFill>
                <a:latin typeface="Cascadia Mono"/>
              </a:rPr>
              <a:t>Appendix / misconception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3000</Words>
  <Application>Microsoft Office PowerPoint</Application>
  <PresentationFormat>Widescreen</PresentationFormat>
  <Paragraphs>481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Cascadia Mono</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Avenire — Learning that remembers</dc:title>
  <dc:subject>TBI incubation pitch deck</dc:subject>
  <dc:creator>Abhiram</dc:creator>
  <cp:keywords/>
  <dc:description>Editable PowerPoint deck. Charts are native shapes and the pricing appendix uses a real PowerPoint table.</dc:description>
  <cp:lastModifiedBy>damodara.abhiram@gmail.com</cp:lastModifiedBy>
  <cp:revision>8</cp:revision>
  <dcterms:created xsi:type="dcterms:W3CDTF">2013-01-27T09:14:16Z</dcterms:created>
  <dcterms:modified xsi:type="dcterms:W3CDTF">2026-08-09T11:19:20Z</dcterms:modified>
  <cp:category/>
</cp:coreProperties>
</file>